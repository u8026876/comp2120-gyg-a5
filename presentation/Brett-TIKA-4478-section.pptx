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02a34af1d40f7" /><Relationship Type="http://schemas.openxmlformats.org/officeDocument/2006/relationships/extended-properties" Target="/docProps/app.xml" Id="R3accc79545df4a88" /><Relationship Type="http://schemas.openxmlformats.org/officeDocument/2006/relationships/officeDocument" Target="/ppt/presentation.xml" Id="Rcb480a0580924ec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10fb56589a143bc"/>
    <p:sldMasterId xmlns:r="http://schemas.openxmlformats.org/officeDocument/2006/relationships" id="2147483650" r:id="R3f741b90d4ac4729"/>
  </p:sldMasterIdLst>
  <p:notesMasterIdLst>
    <p:notesMasterId xmlns:r="http://schemas.openxmlformats.org/officeDocument/2006/relationships" r:id="Rfb88f00c60ee457e"/>
  </p:notesMasterIdLst>
  <p:sldIdLst>
    <p:sldId xmlns:r="http://schemas.openxmlformats.org/officeDocument/2006/relationships" id="256" r:id="R267824f7ebc044da"/>
    <p:sldId xmlns:r="http://schemas.openxmlformats.org/officeDocument/2006/relationships" id="257" r:id="Rda6aad8feee04e35"/>
    <p:sldId xmlns:r="http://schemas.openxmlformats.org/officeDocument/2006/relationships" id="258" r:id="R37d6e154382f4bc5"/>
    <p:sldId xmlns:r="http://schemas.openxmlformats.org/officeDocument/2006/relationships" id="259" r:id="R076a4b33f39548ac"/>
  </p:sldIdLst>
  <p:sldSz cx="12192000" cy="6858000"/>
  <p:notesSz cx="6858000" cy="9144000"/>
  <p:embeddedFontLst>
    <p:embeddedFont>
      <p:font typeface="Manrope"/>
      <p:regular xmlns:r="http://schemas.openxmlformats.org/officeDocument/2006/relationships" r:id="Rc799b100ab9345a9"/>
      <p:bold xmlns:r="http://schemas.openxmlformats.org/officeDocument/2006/relationships" r:id="R918875aa844b4dbb"/>
    </p:embeddedFont>
    <p:embeddedFont>
      <p:font typeface="Roboto Mono"/>
      <p:regular xmlns:r="http://schemas.openxmlformats.org/officeDocument/2006/relationships" r:id="R2e26dc9e83574ef1"/>
      <p:bold xmlns:r="http://schemas.openxmlformats.org/officeDocument/2006/relationships" r:id="R58d605afc67f49e2"/>
      <p:italic xmlns:r="http://schemas.openxmlformats.org/officeDocument/2006/relationships" r:id="R2b5f5c52f8cd457e"/>
      <p:boldItalic xmlns:r="http://schemas.openxmlformats.org/officeDocument/2006/relationships" r:id="Re780e0516be04db3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6aae18b3cf41c9" /><Relationship Type="http://schemas.openxmlformats.org/officeDocument/2006/relationships/slideMaster" Target="/ppt/slideMasters/slideMaster1.xml" Id="R210fb56589a143bc" /><Relationship Type="http://schemas.openxmlformats.org/officeDocument/2006/relationships/slideMaster" Target="/ppt/slideMasters/slideMaster2.xml" Id="R3f741b90d4ac4729" /><Relationship Type="http://schemas.openxmlformats.org/officeDocument/2006/relationships/notesMaster" Target="/ppt/notesMasters/notesMaster1.xml" Id="Rfb88f00c60ee457e" /><Relationship Type="http://schemas.openxmlformats.org/officeDocument/2006/relationships/presProps" Target="/ppt/presProps.xml" Id="R04c5dd81eb2a4ae0" /><Relationship Type="http://schemas.openxmlformats.org/officeDocument/2006/relationships/tableStyles" Target="/ppt/tableStyles.xml" Id="R61ad0b288e28451e" /><Relationship Type="http://schemas.openxmlformats.org/officeDocument/2006/relationships/font" Target="/ppt/fonts/font.dat" Id="Rc799b100ab9345a9" /><Relationship Type="http://schemas.openxmlformats.org/officeDocument/2006/relationships/font" Target="/ppt/fonts/font2.dat" Id="R918875aa844b4dbb" /><Relationship Type="http://schemas.openxmlformats.org/officeDocument/2006/relationships/font" Target="/ppt/fonts/font3.dat" Id="R2e26dc9e83574ef1" /><Relationship Type="http://schemas.openxmlformats.org/officeDocument/2006/relationships/font" Target="/ppt/fonts/font4.dat" Id="R58d605afc67f49e2" /><Relationship Type="http://schemas.openxmlformats.org/officeDocument/2006/relationships/font" Target="/ppt/fonts/font5.dat" Id="R2b5f5c52f8cd457e" /><Relationship Type="http://schemas.openxmlformats.org/officeDocument/2006/relationships/font" Target="/ppt/fonts/font6.dat" Id="Re780e0516be04db3" /><Relationship Type="http://schemas.openxmlformats.org/officeDocument/2006/relationships/slide" Target="/ppt/slides/slide1.xml" Id="R267824f7ebc044da" /><Relationship Type="http://schemas.openxmlformats.org/officeDocument/2006/relationships/slide" Target="/ppt/slides/slide2.xml" Id="Rda6aad8feee04e35" /><Relationship Type="http://schemas.openxmlformats.org/officeDocument/2006/relationships/slide" Target="/ppt/slides/slide3.xml" Id="R37d6e154382f4bc5" /><Relationship Type="http://schemas.openxmlformats.org/officeDocument/2006/relationships/slide" Target="/ppt/slides/slide4.xml" Id="R076a4b33f395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1791c1d94a441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9bb3196a7453e" /><Relationship Type="http://schemas.openxmlformats.org/officeDocument/2006/relationships/notesMaster" Target="/ppt/notesMasters/notesMaster1.xml" Id="Rddac47621c094f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24db9ecb4b47cb" /><Relationship Type="http://schemas.openxmlformats.org/officeDocument/2006/relationships/notesMaster" Target="/ppt/notesMasters/notesMaster1.xml" Id="Rcddc5a4ef7c242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5d65661e0240ac" /><Relationship Type="http://schemas.openxmlformats.org/officeDocument/2006/relationships/notesMaster" Target="/ppt/notesMasters/notesMaster1.xml" Id="R6af96b35569b46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e52ac52da3489e" /><Relationship Type="http://schemas.openxmlformats.org/officeDocument/2006/relationships/notesMaster" Target="/ppt/notesMasters/notesMaster1.xml" Id="Rc950f6c1482e49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Presenter: Brett (@ragingvegetable). Suggested duration: 11–13 seconds.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Script: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Apache Tika stood out as an active Java project with clear contribution guidance. TIKA-4478 had a precise trigger, an observable result and a manageable test scope.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Apache Tika: https://tika.apache.org/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Contributor guidance: https://github.com/apache/tika/blob/main/CONTRIBUTING.md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TIKA-4478: https://issues.apache.org/jira/browse/TIKA-4478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 and attribution: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selection rationale uses the documented project purpose, language, workflow and issue characteristics. Codex assisted research and slide preparation; Brett is the accountable human owner.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Presenter: Brett (@ragingvegetable). Suggested duration: 13–15 seconds.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Script: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 recorded ownership in issue 9, used a dedicated branch, added the filename rule and regression tests, then compared the failing and passing runs. After the core suite passed, I opened group PR 10, which awaits human 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Work claim: https://github.com/u8026876/comp2120-gyg-a5/issues/9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Group PR: https://github.com/u8026876/comp2120-gyg-a5/pull/10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Commit: 5b6d999269e2a45c2ff27e703a2ea5a7a62da91d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Group review policy: https://github.com/u8026876/comp2120-gyg-a5/blob/main/A5_REVIEW_POLICY.md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Apache process: https://github.com/apache/tika/blob/main/CONTRIBUTING.md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Limit: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group PR is open. No human approval, upstream Apache PR, remote CI result or merge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Presenter: Brett (@ragingvegetable). Suggested duration: 14–16 seconds.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Script: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main challenge was confirming that tests actually ran because the fast profile skipped them. I corrected the command and kept a failing-before control. I learned that exact filename globs can classify conventional extensionless files. Next time I would organise review earlier.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and lesson: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The first valid regression run failed with expected text/x-groovy but actual application/octet-stream.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The corrected targeted run passed after the production rule was restored.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The exact-name rule leaves lowercase jenkinsfile and Jenkinsfile.txt outside the new mapping.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Establishing a clean baseline before implementation would make the evidence easier to collect.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Assistance disclosure: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Codex assisted the Maven investigation, implementation, testing and presentation preparation. Brett owns the contribution and must verify the account before presenting.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Presenter: Brett (@ragingvegetable). Suggested duration: 15–17 seconds.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Script: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Before the change, Jenkinsfile returned application/octet-stream. The exact glob reuses text/x-groovy without matching lowercase jenkinsfile or Jenkinsfile dot txt. The targeted regression and all 1,360 core tests passed locally. PR 10 remains open and unmerged.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evidence (local, 25 October 2026):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Branch: a5/4478-jenkinsfile-support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Commit: 5b6d999269e2a45c2ff27e703a2ea5a7a62da91d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Targeted result: 1 test, 0 failures, 0 errors, 0 skipped.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Full tika-core result: 1,360 tests, 0 failures, 0 errors, 11 skipped. Checkstyle: 0 violations.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Additional XML-provider suite: 12 tests, 0 failures, 0 errors, 2 skipped.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Command: .\mvnw.cmd clean test -pl tika-core -am -Dmaven.repo.local=&lt;in-repo-cache&gt;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https://issues.apache.org/jira/browse/TIKA-4478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https://github.com/u8026876/comp2120-gyg-a5/issues/9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https://github.com/u8026876/comp2120-gyg-a5/pull/10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https://www.jenkins.io/doc/book/pipeline/jenkinsfile/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Limit: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local results. No remote CI or upstream acceptance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46228de3843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8eb105b47341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06aa1807a845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8f9a4944e84b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f722a8565647b9" /></Relationships>
</file>

<file path=ppt/slideLayouts/slideLayout1.xml><?xml version="1.0" encoding="utf-8"?>
<p:sldLayout xmlns:p="http://schemas.openxmlformats.org/presentationml/2006/main" matchingName="A4 - Title">
  <p:cSld name="A4 -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0C2EF94-5052-4A7B-8BED-984F2394FA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428750"/>
            <a:ext cx="10477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06DADA41-F947-4608-9223-CCC89DA238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A4 - Explanation and visual">
  <p:cSld name="A4 - Explanation and visu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313BE4B7-ECC9-4C6B-A4CD-5A06203DC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6" name="Google Shape;16;p4">
            <a:extLst xmlns:a="http://schemas.openxmlformats.org/drawingml/2006/main">
              <a:ext uri="{FF2B5EF4-FFF2-40B4-BE49-F238E27FC236}">
                <a16:creationId xmlns:a16="http://schemas.microsoft.com/office/drawing/2014/main" id="{D0C9DFCF-5DA7-4E74-91C7-47AC1ACF49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000250"/>
            <a:ext cx="4476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00930577-A170-4E0E-B454-81A59FD235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581650" y="2000250"/>
            <a:ext cx="6000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A4 - Two columns">
  <p:cSld name="A4 -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5">
            <a:extLst xmlns:a="http://schemas.openxmlformats.org/drawingml/2006/main">
              <a:ext uri="{FF2B5EF4-FFF2-40B4-BE49-F238E27FC236}">
                <a16:creationId xmlns:a16="http://schemas.microsoft.com/office/drawing/2014/main" id="{C3C7BE82-945B-43E4-8526-3BB850107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0" name="Google Shape;20;p5">
            <a:extLst xmlns:a="http://schemas.openxmlformats.org/drawingml/2006/main">
              <a:ext uri="{FF2B5EF4-FFF2-40B4-BE49-F238E27FC236}">
                <a16:creationId xmlns:a16="http://schemas.microsoft.com/office/drawing/2014/main" id="{A4308FF5-833C-4EC3-BC1A-366F2D06F1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0002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D16CB475-191E-4039-A21B-2C5923EB4A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43650" y="20002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A4 - Title and content">
  <p:cSld name="A4 -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6">
            <a:extLst xmlns:a="http://schemas.openxmlformats.org/drawingml/2006/main">
              <a:ext uri="{FF2B5EF4-FFF2-40B4-BE49-F238E27FC236}">
                <a16:creationId xmlns:a16="http://schemas.microsoft.com/office/drawing/2014/main" id="{C78F1BF1-1E3C-4D3C-A802-770C31288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4" name="Google Shape;24;p6">
            <a:extLst xmlns:a="http://schemas.openxmlformats.org/drawingml/2006/main">
              <a:ext uri="{FF2B5EF4-FFF2-40B4-BE49-F238E27FC236}">
                <a16:creationId xmlns:a16="http://schemas.microsoft.com/office/drawing/2014/main" id="{91BFE54D-479C-4F22-816F-E852A1E549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952625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A4 - Large visual">
  <p:cSld name="A4 - Large visu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7">
            <a:extLst xmlns:a="http://schemas.openxmlformats.org/drawingml/2006/main">
              <a:ext uri="{FF2B5EF4-FFF2-40B4-BE49-F238E27FC236}">
                <a16:creationId xmlns:a16="http://schemas.microsoft.com/office/drawing/2014/main" id="{4F4B2267-2E67-46FC-84F2-AB94F7210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7" name="Google Shape;27;p7">
            <a:extLst xmlns:a="http://schemas.openxmlformats.org/drawingml/2006/main">
              <a:ext uri="{FF2B5EF4-FFF2-40B4-BE49-F238E27FC236}">
                <a16:creationId xmlns:a16="http://schemas.microsoft.com/office/drawing/2014/main" id="{C4FC1079-43A5-4976-8DAB-D00162BFB7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00025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40399e84eb4b5e" /><Relationship Type="http://schemas.openxmlformats.org/officeDocument/2006/relationships/slideLayout" Target="/ppt/slideLayouts/slideLayout1.xml" Id="R59c7bfe9b0e74a5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631bd1c797c4168" /><Relationship Type="http://schemas.openxmlformats.org/officeDocument/2006/relationships/slideLayout" Target="/ppt/slideLayouts/slideLayout2.xml" Id="Rb25c9b8894aa4e56" /><Relationship Type="http://schemas.openxmlformats.org/officeDocument/2006/relationships/slideLayout" Target="/ppt/slideLayouts/slideLayout3.xml" Id="R7180fb38f76f4e1c" /><Relationship Type="http://schemas.openxmlformats.org/officeDocument/2006/relationships/slideLayout" Target="/ppt/slideLayouts/slideLayout4.xml" Id="R240a63e1d2f04709" /><Relationship Type="http://schemas.openxmlformats.org/officeDocument/2006/relationships/slideLayout" Target="/ppt/slideLayouts/slideLayout5.xml" Id="R506d3088b8e94ae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c7bfe9b0e74a5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b25c9b8894aa4e56"/>
    <p:sldLayoutId xmlns:r="http://schemas.openxmlformats.org/officeDocument/2006/relationships" id="2147483652" r:id="R7180fb38f76f4e1c"/>
    <p:sldLayoutId xmlns:r="http://schemas.openxmlformats.org/officeDocument/2006/relationships" id="2147483653" r:id="R240a63e1d2f04709"/>
    <p:sldLayoutId xmlns:r="http://schemas.openxmlformats.org/officeDocument/2006/relationships" id="2147483654" r:id="R506d3088b8e94ae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acda599eeb4579" /><Relationship Type="http://schemas.openxmlformats.org/officeDocument/2006/relationships/notesSlide" Target="/ppt/notesSlides/notesSlide1.xml" Id="R56aca150aaa545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96ead46e22d4602" /><Relationship Type="http://schemas.openxmlformats.org/officeDocument/2006/relationships/notesSlide" Target="/ppt/notesSlides/notesSlide2.xml" Id="R85a142c7f64e4f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b0b4c489cc478d" /><Relationship Type="http://schemas.openxmlformats.org/officeDocument/2006/relationships/notesSlide" Target="/ppt/notesSlides/notesSlide3.xml" Id="R958155c2cd6d43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6df80143c349cd" /><Relationship Type="http://schemas.openxmlformats.org/officeDocument/2006/relationships/notesSlide" Target="/ppt/notesSlides/notesSlide4.xml" Id="R1687ee376f3246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E8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0">
            <a:extLst xmlns:a="http://schemas.openxmlformats.org/drawingml/2006/main">
              <a:ext uri="{FF2B5EF4-FFF2-40B4-BE49-F238E27FC236}">
                <a16:creationId xmlns:a16="http://schemas.microsoft.com/office/drawing/2014/main" id="{389B9650-7F05-439F-94E9-111360CB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TIKA-4478 / PROJECT AND ISSUE CHOICE</a:t>
            </a:r>
            <a:endParaRPr sz="105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1" name="Google Shape;61;p10">
            <a:extLst xmlns:a="http://schemas.openxmlformats.org/drawingml/2006/main">
              <a:ext uri="{FF2B5EF4-FFF2-40B4-BE49-F238E27FC236}">
                <a16:creationId xmlns:a16="http://schemas.microsoft.com/office/drawing/2014/main" id="{89002C2D-9DA4-4A0C-B124-ED2766E8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05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52665B"/>
                </a:solidFill>
                <a:latin typeface="Manrope"/>
                <a:ea typeface="Manrope"/>
                <a:cs typeface="Manrope"/>
              </a:rPr>
              <a:t>01</a:t>
            </a:r>
            <a:endParaRPr sz="1000">
              <a:solidFill>
                <a:srgbClr val="52665B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B0ED926F-32FD-49D7-9C2E-7FB1C9FF1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25500"/>
            <a:ext cx="10972800" cy="10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Why Apache Tika and Jenkinsfile?</a:t>
            </a:r>
            <a:endParaRPr sz="32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4B44714A-A112-4594-B127-3A065062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86525"/>
            <a:ext cx="634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52665B"/>
                </a:solidFill>
                <a:latin typeface="Manrope"/>
                <a:ea typeface="Manrope"/>
                <a:cs typeface="Manrope"/>
              </a:rPr>
              <a:t>Brett / @ragingvegetable</a:t>
            </a:r>
            <a:endParaRPr sz="1000">
              <a:solidFill>
                <a:srgbClr val="52665B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56D3C627-9DFB-40DD-B5D1-C9F1A1E0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2000"/>
            <a:ext cx="353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A14F37"/>
                </a:solidFill>
                <a:latin typeface="Manrope"/>
                <a:ea typeface="Manrope"/>
                <a:cs typeface="Manrope"/>
              </a:rPr>
              <a:t>Course fit</a:t>
            </a:r>
            <a:endParaRPr sz="1600" b="1">
              <a:solidFill>
                <a:srgbClr val="A14F37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39696B90-4C1A-4A13-BD17-965B6E41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6600"/>
            <a:ext cx="701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Java codebase matched the course.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Clear build and contribution guidance.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FC54E69F-0A4C-4F49-B1EF-779BC2BD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3400"/>
            <a:ext cx="353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Clear purpose</a:t>
            </a:r>
            <a:endParaRPr sz="16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C67188F0-9A57-40DB-B5F3-85C8C2E6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701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Detect file types and extract text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and metadata from documents.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2BAD889F-D3BE-4418-B3FF-59F0369B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53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Issue fit</a:t>
            </a:r>
            <a:endParaRPr sz="16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E40F354B-BB5C-4863-9F05-598A83CE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89400"/>
            <a:ext cx="701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Extensionless Jenkinsfile had an exact trigger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and an observable expected type.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A352E309-D931-449E-ACD9-3CD68A10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6200"/>
            <a:ext cx="353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Manageable scope</a:t>
            </a:r>
            <a:endParaRPr sz="16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0F0EADF6-F58D-44D1-8869-E86961B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30800"/>
            <a:ext cx="701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One registry rule plus regression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and boundary tests.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465700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3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C5AB5CC8-99C4-4658-B05C-A71B66CF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F0E8D9"/>
                </a:solidFill>
                <a:latin typeface="Manrope"/>
                <a:ea typeface="Manrope"/>
                <a:cs typeface="Manrope"/>
              </a:rPr>
              <a:t>TIKA-4478 / CONTRIBUTION PROCESS</a:t>
            </a:r>
            <a:endParaRPr sz="1050" b="1">
              <a:solidFill>
                <a:srgbClr val="F0E8D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03CB4D3A-690A-4810-B5D8-6DBC7FE2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05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B8C7AB"/>
                </a:solidFill>
                <a:latin typeface="Manrope"/>
                <a:ea typeface="Manrope"/>
                <a:cs typeface="Manrope"/>
              </a:rPr>
              <a:t>02</a:t>
            </a:r>
            <a:endParaRPr sz="1000">
              <a:solidFill>
                <a:srgbClr val="B8C7AB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09EA33E5-B48A-4351-84E8-CA79564DB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25500"/>
            <a:ext cx="10972800" cy="10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F0E8D9"/>
                </a:solidFill>
                <a:latin typeface="Manrope"/>
                <a:ea typeface="Manrope"/>
                <a:cs typeface="Manrope"/>
              </a:rPr>
              <a:t>From work claim to group PR</a:t>
            </a:r>
            <a:endParaRPr sz="3200" b="1">
              <a:solidFill>
                <a:srgbClr val="F0E8D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0" name="Google Shape;80;p11">
            <a:extLst xmlns:a="http://schemas.openxmlformats.org/drawingml/2006/main">
              <a:ext uri="{FF2B5EF4-FFF2-40B4-BE49-F238E27FC236}">
                <a16:creationId xmlns:a16="http://schemas.microsoft.com/office/drawing/2014/main" id="{9D47B05F-99B7-4049-A827-4B3C759A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86525"/>
            <a:ext cx="634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B8C7AB"/>
                </a:solidFill>
                <a:latin typeface="Manrope"/>
                <a:ea typeface="Manrope"/>
                <a:cs typeface="Manrope"/>
              </a:rPr>
              <a:t>Brett / Group PR #10 open</a:t>
            </a:r>
            <a:endParaRPr sz="1000">
              <a:solidFill>
                <a:srgbClr val="B8C7AB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1" name="Google Shape;81;p11">
            <a:extLst xmlns:a="http://schemas.openxmlformats.org/drawingml/2006/main">
              <a:ext uri="{FF2B5EF4-FFF2-40B4-BE49-F238E27FC236}">
                <a16:creationId xmlns:a16="http://schemas.microsoft.com/office/drawing/2014/main" id="{1E6D1A92-AE68-4C15-AF29-EF411A29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2000"/>
            <a:ext cx="73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F0E8D9"/>
                </a:solidFill>
                <a:latin typeface="Roboto Mono"/>
                <a:ea typeface="Roboto Mono"/>
                <a:cs typeface="Roboto Mono"/>
              </a:rPr>
              <a:t>01</a:t>
            </a:r>
            <a:endParaRPr sz="3000" b="1">
              <a:solidFill>
                <a:srgbClr val="F0E8D9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82" name="Google Shape;82;p11">
            <a:extLst xmlns:a="http://schemas.openxmlformats.org/drawingml/2006/main">
              <a:ext uri="{FF2B5EF4-FFF2-40B4-BE49-F238E27FC236}">
                <a16:creationId xmlns:a16="http://schemas.microsoft.com/office/drawing/2014/main" id="{4C63F83A-E3B0-40AE-B188-3233474C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032000"/>
            <a:ext cx="999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0E8D9"/>
                </a:solidFill>
                <a:latin typeface="Manrope"/>
                <a:ea typeface="Manrope"/>
                <a:cs typeface="Manrope"/>
              </a:rPr>
              <a:t>Claim and reproduce</a:t>
            </a:r>
            <a:endParaRPr sz="2400" b="1">
              <a:solidFill>
                <a:srgbClr val="F0E8D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3" name="Google Shape;83;p11">
            <a:extLst xmlns:a="http://schemas.openxmlformats.org/drawingml/2006/main">
              <a:ext uri="{FF2B5EF4-FFF2-40B4-BE49-F238E27FC236}">
                <a16:creationId xmlns:a16="http://schemas.microsoft.com/office/drawing/2014/main" id="{784A2364-87AD-4906-8C9C-79E9DF9C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590800"/>
            <a:ext cx="9994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B8C7AB"/>
                </a:solidFill>
                <a:latin typeface="Manrope"/>
                <a:ea typeface="Manrope"/>
                <a:cs typeface="Manrope"/>
              </a:rPr>
              <a:t>Issue #9 recorded the owner, scope and branch.</a:t>
            </a:r>
            <a:endParaRPr sz="1900">
              <a:solidFill>
                <a:srgbClr val="B8C7AB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B8C7AB"/>
                </a:solidFill>
                <a:latin typeface="Manrope"/>
                <a:ea typeface="Manrope"/>
                <a:cs typeface="Manrope"/>
              </a:rPr>
              <a:t>Jenkinsfile returned application/octet-stream.</a:t>
            </a:r>
            <a:endParaRPr sz="1900">
              <a:solidFill>
                <a:srgbClr val="B8C7AB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4" name="Google Shape;84;p11">
            <a:extLst xmlns:a="http://schemas.openxmlformats.org/drawingml/2006/main">
              <a:ext uri="{FF2B5EF4-FFF2-40B4-BE49-F238E27FC236}">
                <a16:creationId xmlns:a16="http://schemas.microsoft.com/office/drawing/2014/main" id="{FEB79DC4-F0B8-4F74-B2B0-FEB2C8AC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3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F0E8D9"/>
                </a:solidFill>
                <a:latin typeface="Roboto Mono"/>
                <a:ea typeface="Roboto Mono"/>
                <a:cs typeface="Roboto Mono"/>
              </a:rPr>
              <a:t>02</a:t>
            </a:r>
            <a:endParaRPr sz="3000" b="1">
              <a:solidFill>
                <a:srgbClr val="F0E8D9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85" name="Google Shape;85;p11">
            <a:extLst xmlns:a="http://schemas.openxmlformats.org/drawingml/2006/main">
              <a:ext uri="{FF2B5EF4-FFF2-40B4-BE49-F238E27FC236}">
                <a16:creationId xmlns:a16="http://schemas.microsoft.com/office/drawing/2014/main" id="{C1945D3D-3A5D-4952-9C2F-3EED95DF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429000"/>
            <a:ext cx="999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0E8D9"/>
                </a:solidFill>
                <a:latin typeface="Manrope"/>
                <a:ea typeface="Manrope"/>
                <a:cs typeface="Manrope"/>
              </a:rPr>
              <a:t>Implement and validate</a:t>
            </a:r>
            <a:endParaRPr sz="2400" b="1">
              <a:solidFill>
                <a:srgbClr val="F0E8D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6" name="Google Shape;86;p11">
            <a:extLst xmlns:a="http://schemas.openxmlformats.org/drawingml/2006/main">
              <a:ext uri="{FF2B5EF4-FFF2-40B4-BE49-F238E27FC236}">
                <a16:creationId xmlns:a16="http://schemas.microsoft.com/office/drawing/2014/main" id="{6B1ACA92-008C-4880-9329-2E5C0A13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987800"/>
            <a:ext cx="9994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B8C7AB"/>
                </a:solidFill>
                <a:latin typeface="Manrope"/>
                <a:ea typeface="Manrope"/>
                <a:cs typeface="Manrope"/>
              </a:rPr>
              <a:t>Exact glob plus regression boundaries.</a:t>
            </a:r>
            <a:endParaRPr sz="1900">
              <a:solidFill>
                <a:srgbClr val="B8C7AB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B8C7AB"/>
                </a:solidFill>
                <a:latin typeface="Manrope"/>
                <a:ea typeface="Manrope"/>
                <a:cs typeface="Manrope"/>
              </a:rPr>
              <a:t>Failing-before test, then 1,360 core tests passed.</a:t>
            </a:r>
            <a:endParaRPr sz="1900">
              <a:solidFill>
                <a:srgbClr val="B8C7AB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7" name="Google Shape;87;p11">
            <a:extLst xmlns:a="http://schemas.openxmlformats.org/drawingml/2006/main">
              <a:ext uri="{FF2B5EF4-FFF2-40B4-BE49-F238E27FC236}">
                <a16:creationId xmlns:a16="http://schemas.microsoft.com/office/drawing/2014/main" id="{67F047EF-1B31-4033-840A-847CB185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0"/>
            <a:ext cx="73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D99575"/>
                </a:solidFill>
                <a:latin typeface="Roboto Mono"/>
                <a:ea typeface="Roboto Mono"/>
                <a:cs typeface="Roboto Mono"/>
              </a:rPr>
              <a:t>03</a:t>
            </a:r>
            <a:endParaRPr sz="3000" b="1">
              <a:solidFill>
                <a:srgbClr val="D99575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88" name="Google Shape;88;p11">
            <a:extLst xmlns:a="http://schemas.openxmlformats.org/drawingml/2006/main">
              <a:ext uri="{FF2B5EF4-FFF2-40B4-BE49-F238E27FC236}">
                <a16:creationId xmlns:a16="http://schemas.microsoft.com/office/drawing/2014/main" id="{51682F71-C0FF-479B-BADD-33051935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826000"/>
            <a:ext cx="999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0E8D9"/>
                </a:solidFill>
                <a:latin typeface="Manrope"/>
                <a:ea typeface="Manrope"/>
                <a:cs typeface="Manrope"/>
              </a:rPr>
              <a:t>Review before upstream</a:t>
            </a:r>
            <a:endParaRPr sz="2400" b="1">
              <a:solidFill>
                <a:srgbClr val="F0E8D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9" name="Google Shape;89;p11">
            <a:extLst xmlns:a="http://schemas.openxmlformats.org/drawingml/2006/main">
              <a:ext uri="{FF2B5EF4-FFF2-40B4-BE49-F238E27FC236}">
                <a16:creationId xmlns:a16="http://schemas.microsoft.com/office/drawing/2014/main" id="{5D86162A-E8C3-45DD-81BE-4AFC65B7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384800"/>
            <a:ext cx="9994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B8C7AB"/>
                </a:solidFill>
                <a:latin typeface="Manrope"/>
                <a:ea typeface="Manrope"/>
                <a:cs typeface="Manrope"/>
              </a:rPr>
              <a:t>Group PR #10 awaits human approval.</a:t>
            </a:r>
            <a:endParaRPr sz="1900">
              <a:solidFill>
                <a:srgbClr val="B8C7AB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B8C7AB"/>
                </a:solidFill>
                <a:latin typeface="Manrope"/>
                <a:ea typeface="Manrope"/>
                <a:cs typeface="Manrope"/>
              </a:rPr>
              <a:t>An Apache PR would be a separate step.</a:t>
            </a:r>
            <a:endParaRPr sz="1900">
              <a:solidFill>
                <a:srgbClr val="B8C7AB"/>
              </a:solidFill>
              <a:latin typeface="Manrope"/>
              <a:ea typeface="Manrope"/>
              <a:cs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820065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8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0">
            <a:extLst xmlns:a="http://schemas.openxmlformats.org/drawingml/2006/main">
              <a:ext uri="{FF2B5EF4-FFF2-40B4-BE49-F238E27FC236}">
                <a16:creationId xmlns:a16="http://schemas.microsoft.com/office/drawing/2014/main" id="{389B9650-7F05-439F-94E9-111360CB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TIKA-4478 / REFLECTION</a:t>
            </a:r>
            <a:endParaRPr sz="105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1" name="Google Shape;61;p10">
            <a:extLst xmlns:a="http://schemas.openxmlformats.org/drawingml/2006/main">
              <a:ext uri="{FF2B5EF4-FFF2-40B4-BE49-F238E27FC236}">
                <a16:creationId xmlns:a16="http://schemas.microsoft.com/office/drawing/2014/main" id="{89002C2D-9DA4-4A0C-B124-ED2766E8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05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52665B"/>
                </a:solidFill>
                <a:latin typeface="Manrope"/>
                <a:ea typeface="Manrope"/>
                <a:cs typeface="Manrope"/>
              </a:rPr>
              <a:t>03</a:t>
            </a:r>
            <a:endParaRPr sz="1000">
              <a:solidFill>
                <a:srgbClr val="52665B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B0ED926F-32FD-49D7-9C2E-7FB1C9FF1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25500"/>
            <a:ext cx="10972800" cy="10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Challenges, discovery and next time</a:t>
            </a:r>
            <a:endParaRPr sz="32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4B44714A-A112-4594-B127-3A065062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86525"/>
            <a:ext cx="634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52665B"/>
                </a:solidFill>
                <a:latin typeface="Manrope"/>
                <a:ea typeface="Manrope"/>
                <a:cs typeface="Manrope"/>
              </a:rPr>
              <a:t>Brett / @ragingvegetable</a:t>
            </a:r>
            <a:endParaRPr sz="1000">
              <a:solidFill>
                <a:srgbClr val="52665B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56D3C627-9DFB-40DD-B5D1-C9F1A1E0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2000"/>
            <a:ext cx="353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A14F37"/>
                </a:solidFill>
                <a:latin typeface="Manrope"/>
                <a:ea typeface="Manrope"/>
                <a:cs typeface="Manrope"/>
              </a:rPr>
              <a:t>Development challenge</a:t>
            </a:r>
            <a:endParaRPr sz="1600" b="1">
              <a:solidFill>
                <a:srgbClr val="A14F37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39696B90-4C1A-4A13-BD17-965B6E41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6600"/>
            <a:ext cx="701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A fast-profile run skipped tests.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I corrected the command and proved the regression.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FC54E69F-0A4C-4F49-B1EF-779BC2BD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3400"/>
            <a:ext cx="353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Interesting discovery</a:t>
            </a:r>
            <a:endParaRPr sz="16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C67188F0-9A57-40DB-B5F3-85C8C2E6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701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An exact filename glob can classify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a conventional file with no extension.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2BAD889F-D3BE-4418-B3FF-59F0369B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53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Compatibility boundary</a:t>
            </a:r>
            <a:endParaRPr sz="16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E40F354B-BB5C-4863-9F05-598A83CE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89400"/>
            <a:ext cx="701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Only Jenkinsfile changes. Lowercase jenkinsfile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and Jenkinsfile.txt keep their previous results.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A352E309-D931-449E-ACD9-3CD68A10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6200"/>
            <a:ext cx="353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If I repeated the work</a:t>
            </a:r>
            <a:endParaRPr sz="16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0F0EADF6-F58D-44D1-8869-E86961B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30800"/>
            <a:ext cx="701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Establish the failing baseline and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reviewer availability earlier.</a:t>
            </a:r>
            <a:endParaRPr sz="20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465700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3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9">
            <a:extLst xmlns:a="http://schemas.openxmlformats.org/drawingml/2006/main">
              <a:ext uri="{FF2B5EF4-FFF2-40B4-BE49-F238E27FC236}">
                <a16:creationId xmlns:a16="http://schemas.microsoft.com/office/drawing/2014/main" id="{1858584B-AB6F-4899-97E0-486915E9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35400"/>
            <a:ext cx="12192000" cy="302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>
            <a:extLst xmlns:a="http://schemas.openxmlformats.org/drawingml/2006/main">
              <a:ext uri="{FF2B5EF4-FFF2-40B4-BE49-F238E27FC236}">
                <a16:creationId xmlns:a16="http://schemas.microsoft.com/office/drawing/2014/main" id="{7F93159C-81DB-4351-A698-B57EC0D0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9651900" cy="27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rPr>
              <a:t>TIKA-4478 / DEMONSTRATION</a:t>
            </a:r>
            <a:endParaRPr sz="1100">
              <a:solidFill>
                <a:srgbClr val="B8C7AB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44" name="Google Shape;44;p9">
            <a:extLst xmlns:a="http://schemas.openxmlformats.org/drawingml/2006/main">
              <a:ext uri="{FF2B5EF4-FFF2-40B4-BE49-F238E27FC236}">
                <a16:creationId xmlns:a16="http://schemas.microsoft.com/office/drawing/2014/main" id="{833B6A43-5B9A-45C7-BCB5-BF4E5849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330200"/>
            <a:ext cx="711300" cy="27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rPr>
              <a:t>04</a:t>
            </a:r>
            <a:endParaRPr sz="1100">
              <a:solidFill>
                <a:srgbClr val="B8C7AB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45" name="Google Shape;45;p9">
            <a:extLst xmlns:a="http://schemas.openxmlformats.org/drawingml/2006/main">
              <a:ext uri="{FF2B5EF4-FFF2-40B4-BE49-F238E27FC236}">
                <a16:creationId xmlns:a16="http://schemas.microsoft.com/office/drawing/2014/main" id="{CF6834EF-6E7C-4091-8EA4-4A321384C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52500"/>
            <a:ext cx="109728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rgbClr val="F0E8D9"/>
                </a:solidFill>
                <a:latin typeface="Manrope"/>
                <a:ea typeface="Manrope"/>
                <a:cs typeface="Manrope"/>
              </a:rPr>
              <a:t>Jenkinsfile looked like generic binary</a:t>
            </a:r>
            <a:endParaRPr sz="3500" b="1">
              <a:solidFill>
                <a:srgbClr val="F0E8D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C34D7EC9-8BB3-4A53-B196-DBA1B046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8600"/>
            <a:ext cx="3962400" cy="20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Brett / Group PR #10 open</a:t>
            </a:r>
            <a:endParaRPr sz="9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1B7D5B5C-EA9B-4785-A776-A50EEB17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079900" cy="3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A14F37"/>
                </a:solidFill>
                <a:latin typeface="Manrope"/>
                <a:ea typeface="Manrope"/>
                <a:cs typeface="Manrope"/>
              </a:rPr>
              <a:t>BEFORE / NO-NAME-GLOB</a:t>
            </a:r>
            <a:endParaRPr sz="1200" b="1">
              <a:solidFill>
                <a:srgbClr val="A14F37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8" name="Google Shape;48;p9">
            <a:extLst xmlns:a="http://schemas.openxmlformats.org/drawingml/2006/main">
              <a:ext uri="{FF2B5EF4-FFF2-40B4-BE49-F238E27FC236}">
                <a16:creationId xmlns:a16="http://schemas.microsoft.com/office/drawing/2014/main" id="{B67ACBD0-31C0-4F10-A229-2E2B40C6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152900"/>
            <a:ext cx="4978500" cy="3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AFTER / EXACT-NAME-GLOB</a:t>
            </a:r>
            <a:endParaRPr sz="12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6D8D1AF3-2EFA-4A9E-92DC-9EB431A8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10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>
                <a:solidFill>
                  <a:srgbClr val="F0E8D9"/>
                </a:solidFill>
                <a:latin typeface="Roboto Mono"/>
                <a:ea typeface="Roboto Mono"/>
                <a:cs typeface="Roboto Mono"/>
              </a:rPr>
              <a:t>Jenkinsfile</a:t>
            </a:r>
            <a:endParaRPr sz="4800">
              <a:solidFill>
                <a:srgbClr val="F0E8D9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0" name="Google Shape;50;p9">
            <a:extLst xmlns:a="http://schemas.openxmlformats.org/drawingml/2006/main">
              <a:ext uri="{FF2B5EF4-FFF2-40B4-BE49-F238E27FC236}">
                <a16:creationId xmlns:a16="http://schemas.microsoft.com/office/drawing/2014/main" id="{FEB8C74F-B3D2-4B2C-A48C-416384D4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extension: [none]</a:t>
            </a:r>
            <a:endParaRPr sz="19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filename:  unrecognised</a:t>
            </a:r>
            <a:endParaRPr sz="19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1" name="Google Shape;51;p9">
            <a:extLst xmlns:a="http://schemas.openxmlformats.org/drawingml/2006/main">
              <a:ext uri="{FF2B5EF4-FFF2-40B4-BE49-F238E27FC236}">
                <a16:creationId xmlns:a16="http://schemas.microsoft.com/office/drawing/2014/main" id="{EA0BF7DC-E3D0-48EA-8C02-488A9200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673600"/>
            <a:ext cx="497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&lt;glob</a:t>
            </a:r>
            <a:endParaRPr sz="22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 pattern="Jenkinsfile"/&gt;</a:t>
            </a:r>
            <a:endParaRPr sz="22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2" name="Google Shape;52;p9">
            <a:extLst xmlns:a="http://schemas.openxmlformats.org/drawingml/2006/main">
              <a:ext uri="{FF2B5EF4-FFF2-40B4-BE49-F238E27FC236}">
                <a16:creationId xmlns:a16="http://schemas.microsoft.com/office/drawing/2014/main" id="{373D2DA5-A63A-4515-9EE6-F0602C9E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62600"/>
            <a:ext cx="49785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875"/>
            </a:defPPr>
            <a:lvl1pPr>
              <a:buNone/>
              <a:defRPr sz="1875"/>
            </a:lvl1pPr>
            <a:lvl2pPr>
              <a:buNone/>
              <a:defRPr sz="1875"/>
            </a:lvl2pPr>
            <a:lvl3pPr>
              <a:buNone/>
              <a:defRPr sz="1875"/>
            </a:lvl3pPr>
            <a:lvl4pPr>
              <a:buNone/>
              <a:defRPr sz="1875"/>
            </a:lvl4pPr>
            <a:lvl5pPr>
              <a:buNone/>
              <a:defRPr sz="1875"/>
            </a:lvl5pPr>
            <a:lvl6pPr>
              <a:buNone/>
              <a:defRPr sz="1875"/>
            </a:lvl6pPr>
            <a:lvl7pPr>
              <a:buNone/>
              <a:defRPr sz="1875"/>
            </a:lvl7pPr>
            <a:lvl8pPr>
              <a:buNone/>
              <a:defRPr sz="1875"/>
            </a:lvl8pPr>
            <a:lvl9pPr>
              <a:buNone/>
              <a:defRPr sz="1875"/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/>
            </a:pPr>
            <a:r>
              <a:rPr sz="1875" b="1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→ text/x-groovy</a:t>
            </a:r>
            <a:endParaRPr sz="2600" b="1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3" name="Google Shape;53;p9">
            <a:extLst xmlns:a="http://schemas.openxmlformats.org/drawingml/2006/main">
              <a:ext uri="{FF2B5EF4-FFF2-40B4-BE49-F238E27FC236}">
                <a16:creationId xmlns:a16="http://schemas.microsoft.com/office/drawing/2014/main" id="{BE7A74CB-E8FF-46A8-9E8B-A191E107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3340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575"/>
            </a:defPPr>
            <a:lvl1pPr>
              <a:buNone/>
              <a:defRPr sz="1575"/>
            </a:lvl1pPr>
            <a:lvl2pPr>
              <a:buNone/>
              <a:defRPr sz="1575"/>
            </a:lvl2pPr>
            <a:lvl3pPr>
              <a:buNone/>
              <a:defRPr sz="1575"/>
            </a:lvl3pPr>
            <a:lvl4pPr>
              <a:buNone/>
              <a:defRPr sz="1575"/>
            </a:lvl4pPr>
            <a:lvl5pPr>
              <a:buNone/>
              <a:defRPr sz="1575"/>
            </a:lvl5pPr>
            <a:lvl6pPr>
              <a:buNone/>
              <a:defRPr sz="1575"/>
            </a:lvl6pPr>
            <a:lvl7pPr>
              <a:buNone/>
              <a:defRPr sz="1575"/>
            </a:lvl7pPr>
            <a:lvl8pPr>
              <a:buNone/>
              <a:defRPr sz="1575"/>
            </a:lvl8pPr>
            <a:lvl9pPr>
              <a:buNone/>
              <a:defRPr sz="1575"/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575"/>
            </a:pPr>
            <a:r>
              <a:rPr sz="1575" b="1">
                <a:solidFill>
                  <a:srgbClr val="A14F37"/>
                </a:solidFill>
                <a:latin typeface="Roboto Mono"/>
                <a:ea typeface="Roboto Mono"/>
                <a:cs typeface="Roboto Mono"/>
              </a:rPr>
              <a:t>→ application/octet-stream</a:t>
            </a:r>
            <a:endParaRPr sz="2600" b="1">
              <a:solidFill>
                <a:srgbClr val="A14F37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4" name="Google Shape;54;p9">
            <a:extLst xmlns:a="http://schemas.openxmlformats.org/drawingml/2006/main">
              <a:ext uri="{FF2B5EF4-FFF2-40B4-BE49-F238E27FC236}">
                <a16:creationId xmlns:a16="http://schemas.microsoft.com/office/drawing/2014/main" id="{D5B0BF9D-0A7C-44D5-9574-FE3B6F75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7600"/>
            <a:ext cx="10972800" cy="35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Exact match only: lowercase jenkinsfile stays binary; Jenkinsfile.txt stays text/plain.</a:t>
            </a:r>
            <a:endParaRPr sz="125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297955437"/>
      </p:ext>
    </p:extLst>
  </p:cSld>
</p:sld>
</file>

<file path=ppt/theme/theme1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2026-10-25T10:32:58.9080000Z</dcterms:created>
  <dcterms:modified xsi:type="dcterms:W3CDTF">2026-10-25T10:32:58.9080000Z</dcterms:modified>
</coreProperties>
</file>