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0" r:id="rId3"/>
  </p:sldMasterIdLst>
  <p:notesMasterIdLst>
    <p:notesMasterId r:id="rId5"/>
  </p:notesMasterIdLst>
  <p:sldIdLst>
    <p:sldId id="259" r:id="rId4"/>
    <p:sldId id="260" r:id="rId6"/>
  </p:sldIdLst>
  <p:sldSz cx="12192000" cy="6858000"/>
  <p:notesSz cx="6858000" cy="9144000"/>
  <p:embeddedFontLst>
    <p:embeddedFont>
      <p:font typeface="Manrope"/>
      <p:regular r:id="rId10"/>
      <p:bold r:id="rId11"/>
    </p:embeddedFont>
    <p:embeddedFont>
      <p:font typeface="Roboto Mono" panose="0000000900000000000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5" Type="http://schemas.openxmlformats.org/officeDocument/2006/relationships/font" Target="fonts/font6.fntdata"/><Relationship Id="rId14" Type="http://schemas.openxmlformats.org/officeDocument/2006/relationships/font" Target="fonts/font5.fntdata"/><Relationship Id="rId13" Type="http://schemas.openxmlformats.org/officeDocument/2006/relationships/font" Target="fonts/font4.fntdata"/><Relationship Id="rId12" Type="http://schemas.openxmlformats.org/officeDocument/2006/relationships/font" Target="fonts/font3.fntdata"/><Relationship Id="rId11" Type="http://schemas.openxmlformats.org/officeDocument/2006/relationships/font" Target="fonts/font2.fntdata"/><Relationship Id="rId10" Type="http://schemas.openxmlformats.org/officeDocument/2006/relationships/font" Target="fonts/font1.fntdata"/><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4" name="Google Shape;4;n"/>
          <p:cNvSpPr txBox="1"/>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5" name="Google Shape;5;n"/>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p:txBody>
      </p:sp>
      <p:sp>
        <p:nvSpPr>
          <p:cNvPr id="7" name="Google Shape;7;n"/>
          <p:cNvSpPr txBox="1"/>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8" name="Google Shape;8;n"/>
          <p:cNvSpPr txBox="1"/>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p9:notes"/>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4" name="Google Shape;74;p9:notes"/>
          <p:cNvSpPr txBox="1"/>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Speaker notes (around 55 seconds):</a:t>
            </a:r>
          </a:p>
          <a:p>
            <a:r>
              <a:t>Apache Tika has more specific contribution rules than simply opening a GitHub PR. First, a contributor needs a related TIKA Jira issue; the project says it cannot accept a PR without one. We should reproduce the original problem and include a test that fails without our change. Second, we work on a focused branch, run the Maven build, and check things like the changelog, license header and source quality. We also disclose AI-assisted work according to Apache rules. Third, the official PR targets apache/tika main. The title needs the Jira ID, the commits should be squashed, and there should be no merge conflicts. Maintainers can request more changes. Only they decide whether to merge. Our assessment does not require a successful upstream merge.</a:t>
            </a:r>
          </a:p>
          <a:p/>
          <a:p>
            <a:r>
              <a:t>Source: https://github.com/apache/tika/blob/main/CONTRIBUTING.md</a:t>
            </a:r>
          </a:p>
          <a:p>
            <a:r>
              <a:t>Full guide: https://tika.apache.org/contribute.html</a:t>
            </a:r>
          </a:p>
          <a:p>
            <a:r>
              <a:t>Scope: official upstream process, not proof of any group code already merged.</a:t>
            </a:r>
          </a:p>
        </p:txBody>
      </p:sp>
      <p:sp>
        <p:nvSpPr>
          <p:cNvPr id="75" name="Google Shape;75;p9:notes"/>
          <p:cNvSpPr txBox="1"/>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0" name="Shape 90"/>
        <p:cNvGrpSpPr/>
        <p:nvPr/>
      </p:nvGrpSpPr>
      <p:grpSpPr>
        <a:xfrm>
          <a:off x="0" y="0"/>
          <a:ext cx="0" cy="0"/>
          <a:chOff x="0" y="0"/>
          <a:chExt cx="0" cy="0"/>
        </a:xfrm>
      </p:grpSpPr>
      <p:sp>
        <p:nvSpPr>
          <p:cNvPr id="91" name="Google Shape;91;p5:notes"/>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5:notes"/>
          <p:cNvSpPr txBox="1"/>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Speaker notes (around 55 seconds):</a:t>
            </a:r>
          </a:p>
          <a:p>
            <a:r>
              <a:t>Our own work follows a similar pattern, but we distinguish the shared group fork from the official Apache repository. We tracked four Jira-linked tasks: CDiff identification, Python shebang detection, CSV filenames containing a hash, and Word document line and paragraph counts. The screenshot shows three pull requests in our shared group fork at the time of capture: #4 for Python detection, #6 for Word counts, and #7 for CSV filenames. These are NOT three PRs merged upstream. Our own group review policy requires one approving review from another human member; agent-only checks cannot count as that approval. For example, I examined the TIKA-4408 change and left a GitHub review comment about a false-positive regression check and a shebang variant. The reviews and local tests help prepare the patches for eventual upstream submission; acceptance remains Apache's decision.</a:t>
            </a:r>
          </a:p>
          <a:p/>
          <a:p>
            <a:r>
              <a:t>GitHub issues: https://github.com/u8026876/comp2120-gyg-a5/issues</a:t>
            </a:r>
          </a:p>
          <a:p>
            <a:r>
              <a:t>Group PRs: https://github.com/u8026876/comp2120-gyg-a5/pulls</a:t>
            </a:r>
          </a:p>
          <a:p>
            <a:r>
              <a:t>Review issue: https://github.com/u8026876/comp2120-gyg-a5/issues/2</a:t>
            </a:r>
          </a:p>
          <a:p>
            <a:r>
              <a:t>Group review policy: https://github.com/u8026876/comp2120-gyg-a5/blob/main/A5_REVIEW_POLICY.md</a:t>
            </a:r>
          </a:p>
          <a:p>
            <a:r>
              <a:t>Screenshot provided by team, 23 October 2026.</a:t>
            </a:r>
          </a:p>
          <a:p>
            <a:r>
              <a:t>Limitations: PR counts reflect that screenshot; my code review was AI-assisted, not an independently rerun Tika suite.</a:t>
            </a:r>
          </a:p>
        </p:txBody>
      </p:sp>
      <p:sp>
        <p:nvSpPr>
          <p:cNvPr id="93" name="Google Shape;93;p5:notes"/>
          <p:cNvSpPr txBox="1"/>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A4 - Title">
  <p:cSld name="A4 - Title">
    <p:spTree>
      <p:nvGrpSpPr>
        <p:cNvPr id="10" name="Shape 10"/>
        <p:cNvGrpSpPr/>
        <p:nvPr/>
      </p:nvGrpSpPr>
      <p:grpSpPr>
        <a:xfrm>
          <a:off x="0" y="0"/>
          <a:ext cx="0" cy="0"/>
          <a:chOff x="0" y="0"/>
          <a:chExt cx="0" cy="0"/>
        </a:xfrm>
      </p:grpSpPr>
      <p:sp>
        <p:nvSpPr>
          <p:cNvPr id="11" name="Google Shape;11;p2"/>
          <p:cNvSpPr txBox="1"/>
          <p:nvPr>
            <p:ph type="title"/>
          </p:nvPr>
        </p:nvSpPr>
        <p:spPr>
          <a:xfrm>
            <a:off x="609600" y="1428750"/>
            <a:ext cx="10477500" cy="154305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2" name="Google Shape;12;p2"/>
          <p:cNvSpPr txBox="1"/>
          <p:nvPr>
            <p:ph type="subTitle" idx="1"/>
          </p:nvPr>
        </p:nvSpPr>
        <p:spPr>
          <a:xfrm>
            <a:off x="609600" y="3333750"/>
            <a:ext cx="10477500" cy="85725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4 - Explanation and visual">
  <p:cSld name="A4 - Explanation and visual">
    <p:spTree>
      <p:nvGrpSpPr>
        <p:cNvPr id="14" name="Shape 14"/>
        <p:cNvGrpSpPr/>
        <p:nvPr/>
      </p:nvGrpSpPr>
      <p:grpSpPr>
        <a:xfrm>
          <a:off x="0" y="0"/>
          <a:ext cx="0" cy="0"/>
          <a:chOff x="0" y="0"/>
          <a:chExt cx="0" cy="0"/>
        </a:xfrm>
      </p:grpSpPr>
      <p:sp>
        <p:nvSpPr>
          <p:cNvPr id="15" name="Google Shape;15;p4"/>
          <p:cNvSpPr txBox="1"/>
          <p:nvPr>
            <p:ph type="title"/>
          </p:nvPr>
        </p:nvSpPr>
        <p:spPr>
          <a:xfrm>
            <a:off x="609600" y="971550"/>
            <a:ext cx="10972800" cy="8382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16" name="Google Shape;16;p4"/>
          <p:cNvSpPr txBox="1"/>
          <p:nvPr>
            <p:ph type="body" idx="1"/>
          </p:nvPr>
        </p:nvSpPr>
        <p:spPr>
          <a:xfrm>
            <a:off x="609600" y="2000250"/>
            <a:ext cx="4476750" cy="40005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
        <p:nvSpPr>
          <p:cNvPr id="17" name="Google Shape;17;p4"/>
          <p:cNvSpPr txBox="1"/>
          <p:nvPr>
            <p:ph type="body" idx="2"/>
          </p:nvPr>
        </p:nvSpPr>
        <p:spPr>
          <a:xfrm>
            <a:off x="5581650" y="2000250"/>
            <a:ext cx="6000750" cy="40005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A4 - Two columns">
  <p:cSld name="A4 - Two columns">
    <p:spTree>
      <p:nvGrpSpPr>
        <p:cNvPr id="18" name="Shape 18"/>
        <p:cNvGrpSpPr/>
        <p:nvPr/>
      </p:nvGrpSpPr>
      <p:grpSpPr>
        <a:xfrm>
          <a:off x="0" y="0"/>
          <a:ext cx="0" cy="0"/>
          <a:chOff x="0" y="0"/>
          <a:chExt cx="0" cy="0"/>
        </a:xfrm>
      </p:grpSpPr>
      <p:sp>
        <p:nvSpPr>
          <p:cNvPr id="19" name="Google Shape;19;p5"/>
          <p:cNvSpPr txBox="1"/>
          <p:nvPr>
            <p:ph type="title"/>
          </p:nvPr>
        </p:nvSpPr>
        <p:spPr>
          <a:xfrm>
            <a:off x="609600" y="971550"/>
            <a:ext cx="10972800" cy="8382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20" name="Google Shape;20;p5"/>
          <p:cNvSpPr txBox="1"/>
          <p:nvPr>
            <p:ph type="body" idx="1"/>
          </p:nvPr>
        </p:nvSpPr>
        <p:spPr>
          <a:xfrm>
            <a:off x="609600" y="2000250"/>
            <a:ext cx="5238750" cy="40005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
        <p:nvSpPr>
          <p:cNvPr id="21" name="Google Shape;21;p5"/>
          <p:cNvSpPr txBox="1"/>
          <p:nvPr>
            <p:ph type="body" idx="2"/>
          </p:nvPr>
        </p:nvSpPr>
        <p:spPr>
          <a:xfrm>
            <a:off x="6343650" y="2000250"/>
            <a:ext cx="5238750" cy="40005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4 - Title and content">
  <p:cSld name="A4 - Title and content">
    <p:spTree>
      <p:nvGrpSpPr>
        <p:cNvPr id="22" name="Shape 22"/>
        <p:cNvGrpSpPr/>
        <p:nvPr/>
      </p:nvGrpSpPr>
      <p:grpSpPr>
        <a:xfrm>
          <a:off x="0" y="0"/>
          <a:ext cx="0" cy="0"/>
          <a:chOff x="0" y="0"/>
          <a:chExt cx="0" cy="0"/>
        </a:xfrm>
      </p:grpSpPr>
      <p:sp>
        <p:nvSpPr>
          <p:cNvPr id="23" name="Google Shape;23;p6"/>
          <p:cNvSpPr txBox="1"/>
          <p:nvPr>
            <p:ph type="title"/>
          </p:nvPr>
        </p:nvSpPr>
        <p:spPr>
          <a:xfrm>
            <a:off x="609600" y="971550"/>
            <a:ext cx="10972800" cy="8382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24" name="Google Shape;24;p6"/>
          <p:cNvSpPr txBox="1"/>
          <p:nvPr>
            <p:ph type="body" idx="1"/>
          </p:nvPr>
        </p:nvSpPr>
        <p:spPr>
          <a:xfrm>
            <a:off x="609600" y="1952625"/>
            <a:ext cx="10972800" cy="409575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A4 - Large visual">
  <p:cSld name="A4 - Large visual">
    <p:spTree>
      <p:nvGrpSpPr>
        <p:cNvPr id="25" name="Shape 25"/>
        <p:cNvGrpSpPr/>
        <p:nvPr/>
      </p:nvGrpSpPr>
      <p:grpSpPr>
        <a:xfrm>
          <a:off x="0" y="0"/>
          <a:ext cx="0" cy="0"/>
          <a:chOff x="0" y="0"/>
          <a:chExt cx="0" cy="0"/>
        </a:xfrm>
      </p:grpSpPr>
      <p:sp>
        <p:nvSpPr>
          <p:cNvPr id="26" name="Google Shape;26;p7"/>
          <p:cNvSpPr txBox="1"/>
          <p:nvPr>
            <p:ph type="title"/>
          </p:nvPr>
        </p:nvSpPr>
        <p:spPr>
          <a:xfrm>
            <a:off x="609600" y="971550"/>
            <a:ext cx="10972800" cy="838200"/>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SzPts val="1400"/>
              <a:buNone/>
              <a:defRPr sz="1800" b="0" i="0" u="none" strike="noStrike" cap="none"/>
            </a:lvl1pPr>
            <a:lvl2pPr marR="0" lvl="1" algn="l" rtl="0">
              <a:spcBef>
                <a:spcPts val="0"/>
              </a:spcBef>
              <a:spcAft>
                <a:spcPts val="0"/>
              </a:spcAft>
              <a:buSzPts val="1400"/>
              <a:buNone/>
              <a:defRPr sz="1800" b="0" i="0" u="none" strike="noStrike" cap="none"/>
            </a:lvl2pPr>
            <a:lvl3pPr marR="0" lvl="2" algn="l" rtl="0">
              <a:spcBef>
                <a:spcPts val="0"/>
              </a:spcBef>
              <a:spcAft>
                <a:spcPts val="0"/>
              </a:spcAft>
              <a:buSzPts val="1400"/>
              <a:buNone/>
              <a:defRPr sz="1800" b="0" i="0" u="none" strike="noStrike" cap="none"/>
            </a:lvl3pPr>
            <a:lvl4pPr marR="0" lvl="3" algn="l" rtl="0">
              <a:spcBef>
                <a:spcPts val="0"/>
              </a:spcBef>
              <a:spcAft>
                <a:spcPts val="0"/>
              </a:spcAft>
              <a:buSzPts val="1400"/>
              <a:buNone/>
              <a:defRPr sz="1800" b="0" i="0" u="none" strike="noStrike" cap="none"/>
            </a:lvl4pPr>
            <a:lvl5pPr marR="0" lvl="4" algn="l" rtl="0">
              <a:spcBef>
                <a:spcPts val="0"/>
              </a:spcBef>
              <a:spcAft>
                <a:spcPts val="0"/>
              </a:spcAft>
              <a:buSzPts val="1400"/>
              <a:buNone/>
              <a:defRPr sz="1800" b="0" i="0" u="none" strike="noStrike" cap="none"/>
            </a:lvl5pPr>
            <a:lvl6pPr marR="0" lvl="5" algn="l" rtl="0">
              <a:spcBef>
                <a:spcPts val="0"/>
              </a:spcBef>
              <a:spcAft>
                <a:spcPts val="0"/>
              </a:spcAft>
              <a:buSzPts val="1400"/>
              <a:buNone/>
              <a:defRPr sz="1800" b="0" i="0" u="none" strike="noStrike" cap="none"/>
            </a:lvl6pPr>
            <a:lvl7pPr marR="0" lvl="6" algn="l" rtl="0">
              <a:spcBef>
                <a:spcPts val="0"/>
              </a:spcBef>
              <a:spcAft>
                <a:spcPts val="0"/>
              </a:spcAft>
              <a:buSzPts val="1400"/>
              <a:buNone/>
              <a:defRPr sz="1800" b="0" i="0" u="none" strike="noStrike" cap="none"/>
            </a:lvl7pPr>
            <a:lvl8pPr marR="0" lvl="7" algn="l" rtl="0">
              <a:spcBef>
                <a:spcPts val="0"/>
              </a:spcBef>
              <a:spcAft>
                <a:spcPts val="0"/>
              </a:spcAft>
              <a:buSzPts val="1400"/>
              <a:buNone/>
              <a:defRPr sz="1800" b="0" i="0" u="none" strike="noStrike" cap="none"/>
            </a:lvl8pPr>
            <a:lvl9pPr marR="0" lvl="8" algn="l" rtl="0">
              <a:spcBef>
                <a:spcPts val="0"/>
              </a:spcBef>
              <a:spcAft>
                <a:spcPts val="0"/>
              </a:spcAft>
              <a:buSzPts val="1400"/>
              <a:buNone/>
              <a:defRPr sz="1800" b="0" i="0" u="none" strike="noStrike" cap="none"/>
            </a:lvl9pPr>
          </a:lstStyle>
          <a:p/>
        </p:txBody>
      </p:sp>
      <p:sp>
        <p:nvSpPr>
          <p:cNvPr id="27" name="Google Shape;27;p7"/>
          <p:cNvSpPr txBox="1"/>
          <p:nvPr>
            <p:ph type="body" idx="1"/>
          </p:nvPr>
        </p:nvSpPr>
        <p:spPr>
          <a:xfrm>
            <a:off x="609600" y="2000250"/>
            <a:ext cx="10972800" cy="40005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SzPts val="1400"/>
              <a:buNone/>
              <a:defRPr sz="1800" b="0" i="0" u="none" strike="noStrike" cap="none"/>
            </a:lvl1pPr>
            <a:lvl2pPr marL="914400" marR="0" lvl="1" indent="-228600" algn="l" rtl="0">
              <a:spcBef>
                <a:spcPts val="0"/>
              </a:spcBef>
              <a:spcAft>
                <a:spcPts val="0"/>
              </a:spcAft>
              <a:buSzPts val="1400"/>
              <a:buNone/>
              <a:defRPr sz="1800" b="0" i="0" u="none" strike="noStrike" cap="none"/>
            </a:lvl2pPr>
            <a:lvl3pPr marL="1371600" marR="0" lvl="2" indent="-228600" algn="l" rtl="0">
              <a:spcBef>
                <a:spcPts val="0"/>
              </a:spcBef>
              <a:spcAft>
                <a:spcPts val="0"/>
              </a:spcAft>
              <a:buSzPts val="1400"/>
              <a:buNone/>
              <a:defRPr sz="1800" b="0" i="0" u="none" strike="noStrike" cap="none"/>
            </a:lvl3pPr>
            <a:lvl4pPr marL="1828800" marR="0" lvl="3" indent="-228600" algn="l" rtl="0">
              <a:spcBef>
                <a:spcPts val="0"/>
              </a:spcBef>
              <a:spcAft>
                <a:spcPts val="0"/>
              </a:spcAft>
              <a:buSzPts val="1400"/>
              <a:buNone/>
              <a:defRPr sz="1800" b="0" i="0" u="none" strike="noStrike" cap="none"/>
            </a:lvl4pPr>
            <a:lvl5pPr marL="2286000" marR="0" lvl="4" indent="-228600" algn="l" rtl="0">
              <a:spcBef>
                <a:spcPts val="0"/>
              </a:spcBef>
              <a:spcAft>
                <a:spcPts val="0"/>
              </a:spcAft>
              <a:buSzPts val="1400"/>
              <a:buNone/>
              <a:defRPr sz="1800" b="0" i="0" u="none" strike="noStrike" cap="none"/>
            </a:lvl5pPr>
            <a:lvl6pPr marL="2743200" marR="0" lvl="5" indent="-228600" algn="l" rtl="0">
              <a:spcBef>
                <a:spcPts val="0"/>
              </a:spcBef>
              <a:spcAft>
                <a:spcPts val="0"/>
              </a:spcAft>
              <a:buSzPts val="1400"/>
              <a:buNone/>
              <a:defRPr sz="1800" b="0" i="0" u="none" strike="noStrike" cap="none"/>
            </a:lvl6pPr>
            <a:lvl7pPr marL="3200400" marR="0" lvl="6" indent="-228600" algn="l" rtl="0">
              <a:spcBef>
                <a:spcPts val="0"/>
              </a:spcBef>
              <a:spcAft>
                <a:spcPts val="0"/>
              </a:spcAft>
              <a:buSzPts val="1400"/>
              <a:buNone/>
              <a:defRPr sz="1800" b="0" i="0" u="none" strike="noStrike" cap="none"/>
            </a:lvl7pPr>
            <a:lvl8pPr marL="3657600" marR="0" lvl="7" indent="-228600" algn="l" rtl="0">
              <a:spcBef>
                <a:spcPts val="0"/>
              </a:spcBef>
              <a:spcAft>
                <a:spcPts val="0"/>
              </a:spcAft>
              <a:buSzPts val="1400"/>
              <a:buNone/>
              <a:defRPr sz="1800" b="0" i="0" u="none" strike="noStrike" cap="none"/>
            </a:lvl8pPr>
            <a:lvl9pPr marL="4114800" marR="0" lvl="8" indent="-228600" algn="l" rtl="0">
              <a:spcBef>
                <a:spcPts val="0"/>
              </a:spcBef>
              <a:spcAft>
                <a:spcPts val="0"/>
              </a:spcAft>
              <a:buSzPts val="1400"/>
              <a:buNone/>
              <a:defRPr sz="1800" b="0" i="0" u="none" strike="noStrike" cap="none"/>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5.xml"/><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9"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3" name="Shape 13"/>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spc="0">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03B34"/>
        </a:solidFill>
        <a:effectLst/>
      </p:bgPr>
    </p:bg>
    <p:spTree>
      <p:nvGrpSpPr>
        <p:cNvPr id="76" name="Shape 76"/>
        <p:cNvGrpSpPr/>
        <p:nvPr/>
      </p:nvGrpSpPr>
      <p:grpSpPr>
        <a:xfrm>
          <a:off x="0" y="0"/>
          <a:ext cx="0" cy="0"/>
          <a:chOff x="0" y="0"/>
          <a:chExt cx="0" cy="0"/>
        </a:xfrm>
      </p:grpSpPr>
      <p:sp>
        <p:nvSpPr>
          <p:cNvPr id="77" name="Google Shape;77;p11"/>
          <p:cNvSpPr/>
          <p:nvPr/>
        </p:nvSpPr>
        <p:spPr>
          <a:xfrm>
            <a:off x="609600" y="390525"/>
            <a:ext cx="9048750" cy="190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F0E8D9"/>
                </a:solidFill>
                <a:latin typeface="Manrope"/>
                <a:ea typeface="Manrope"/>
                <a:cs typeface="Manrope"/>
                <a:sym typeface="Manrope"/>
              </a:rPr>
              <a:t>APACHE TIKA / OFFICIAL CONTRIBUTION REQUIREMENTS</a:t>
            </a:r>
            <a:endParaRPr sz="1050" b="1">
              <a:solidFill>
                <a:srgbClr val="F0E8D9"/>
              </a:solidFill>
              <a:latin typeface="Manrope"/>
              <a:ea typeface="Manrope"/>
              <a:cs typeface="Manrope"/>
              <a:sym typeface="Manrope"/>
            </a:endParaRPr>
          </a:p>
        </p:txBody>
      </p:sp>
      <p:sp>
        <p:nvSpPr>
          <p:cNvPr id="78" name="Google Shape;78;p11"/>
          <p:cNvSpPr/>
          <p:nvPr/>
        </p:nvSpPr>
        <p:spPr>
          <a:xfrm>
            <a:off x="10953750" y="390525"/>
            <a:ext cx="628650" cy="1905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a:solidFill>
                  <a:srgbClr val="B8C7AB"/>
                </a:solidFill>
                <a:latin typeface="Manrope"/>
                <a:ea typeface="Manrope"/>
                <a:cs typeface="Manrope"/>
                <a:sym typeface="Manrope"/>
              </a:rPr>
              <a:t>01</a:t>
            </a:r>
            <a:endParaRPr sz="1000">
              <a:solidFill>
                <a:srgbClr val="B8C7AB"/>
              </a:solidFill>
              <a:latin typeface="Manrope"/>
              <a:ea typeface="Manrope"/>
              <a:cs typeface="Manrope"/>
              <a:sym typeface="Manrope"/>
            </a:endParaRPr>
          </a:p>
        </p:txBody>
      </p:sp>
      <p:sp>
        <p:nvSpPr>
          <p:cNvPr id="79" name="Google Shape;79;p11"/>
          <p:cNvSpPr txBox="1"/>
          <p:nvPr>
            <p:ph type="title"/>
          </p:nvPr>
        </p:nvSpPr>
        <p:spPr>
          <a:xfrm>
            <a:off x="609600" y="825500"/>
            <a:ext cx="10972800" cy="1016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200" b="1">
                <a:solidFill>
                  <a:srgbClr val="F0E8D9"/>
                </a:solidFill>
                <a:latin typeface="Manrope"/>
                <a:ea typeface="Manrope"/>
                <a:cs typeface="Manrope"/>
                <a:sym typeface="Manrope"/>
              </a:rPr>
              <a:t>From a Jira ticket to an upstream PR</a:t>
            </a:r>
            <a:endParaRPr sz="3200" b="1">
              <a:solidFill>
                <a:srgbClr val="F0E8D9"/>
              </a:solidFill>
              <a:latin typeface="Manrope"/>
              <a:ea typeface="Manrope"/>
              <a:cs typeface="Manrope"/>
              <a:sym typeface="Manrope"/>
            </a:endParaRPr>
          </a:p>
        </p:txBody>
      </p:sp>
      <p:sp>
        <p:nvSpPr>
          <p:cNvPr id="80" name="Google Shape;80;p11"/>
          <p:cNvSpPr/>
          <p:nvPr/>
        </p:nvSpPr>
        <p:spPr>
          <a:xfrm>
            <a:off x="5238750" y="6486525"/>
            <a:ext cx="6343650" cy="1714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a:solidFill>
                  <a:srgbClr val="B8C7AB"/>
                </a:solidFill>
                <a:latin typeface="Manrope"/>
                <a:ea typeface="Manrope"/>
                <a:cs typeface="Manrope"/>
                <a:sym typeface="Manrope"/>
              </a:rPr>
              <a:t>JinTianZhang / @zit060523terry</a:t>
            </a:r>
            <a:endParaRPr sz="1000">
              <a:solidFill>
                <a:srgbClr val="B8C7AB"/>
              </a:solidFill>
              <a:latin typeface="Manrope"/>
              <a:ea typeface="Manrope"/>
              <a:cs typeface="Manrope"/>
              <a:sym typeface="Manrope"/>
            </a:endParaRPr>
          </a:p>
        </p:txBody>
      </p:sp>
      <p:sp>
        <p:nvSpPr>
          <p:cNvPr id="81" name="Google Shape;81;p11"/>
          <p:cNvSpPr/>
          <p:nvPr/>
        </p:nvSpPr>
        <p:spPr>
          <a:xfrm>
            <a:off x="609600" y="2032000"/>
            <a:ext cx="736500" cy="60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0E8D9"/>
                </a:solidFill>
                <a:latin typeface="Roboto Mono" panose="00000009000000000000"/>
                <a:ea typeface="Roboto Mono" panose="00000009000000000000"/>
                <a:cs typeface="Roboto Mono" panose="00000009000000000000"/>
                <a:sym typeface="Roboto Mono" panose="00000009000000000000"/>
              </a:rPr>
              <a:t>01</a:t>
            </a:r>
            <a:endParaRPr sz="3000" b="1">
              <a:solidFill>
                <a:srgbClr val="F0E8D9"/>
              </a:solidFill>
              <a:latin typeface="Roboto Mono" panose="00000009000000000000"/>
              <a:ea typeface="Roboto Mono" panose="00000009000000000000"/>
              <a:cs typeface="Roboto Mono" panose="00000009000000000000"/>
              <a:sym typeface="Roboto Mono" panose="00000009000000000000"/>
            </a:endParaRPr>
          </a:p>
        </p:txBody>
      </p:sp>
      <p:sp>
        <p:nvSpPr>
          <p:cNvPr id="82" name="Google Shape;82;p11"/>
          <p:cNvSpPr/>
          <p:nvPr/>
        </p:nvSpPr>
        <p:spPr>
          <a:xfrm>
            <a:off x="1587500" y="2032000"/>
            <a:ext cx="9994800"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F0E8D9"/>
                </a:solidFill>
                <a:latin typeface="Manrope"/>
                <a:ea typeface="Manrope"/>
                <a:cs typeface="Manrope"/>
                <a:sym typeface="Manrope"/>
              </a:rPr>
              <a:t>Jira issue + reproducible failure</a:t>
            </a:r>
            <a:endParaRPr sz="2400" b="1">
              <a:solidFill>
                <a:srgbClr val="F0E8D9"/>
              </a:solidFill>
              <a:latin typeface="Manrope"/>
              <a:ea typeface="Manrope"/>
              <a:cs typeface="Manrope"/>
              <a:sym typeface="Manrope"/>
            </a:endParaRPr>
          </a:p>
        </p:txBody>
      </p:sp>
      <p:sp>
        <p:nvSpPr>
          <p:cNvPr id="83" name="Google Shape;83;p11"/>
          <p:cNvSpPr/>
          <p:nvPr/>
        </p:nvSpPr>
        <p:spPr>
          <a:xfrm>
            <a:off x="1587500" y="2590800"/>
            <a:ext cx="9994800" cy="76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00">
                <a:solidFill>
                  <a:srgbClr val="B8C7AB"/>
                </a:solidFill>
                <a:latin typeface="Manrope"/>
                <a:ea typeface="Manrope"/>
                <a:cs typeface="Manrope"/>
                <a:sym typeface="Manrope"/>
              </a:rPr>
              <a:t>Every upstream PR needs a TIKA Jira ID. Reproduce the bug, then write a test that fails without the fix.</a:t>
            </a:r>
            <a:endParaRPr sz="1900">
              <a:solidFill>
                <a:srgbClr val="B8C7AB"/>
              </a:solidFill>
              <a:latin typeface="Manrope"/>
              <a:ea typeface="Manrope"/>
              <a:cs typeface="Manrope"/>
              <a:sym typeface="Manrope"/>
            </a:endParaRPr>
          </a:p>
        </p:txBody>
      </p:sp>
      <p:sp>
        <p:nvSpPr>
          <p:cNvPr id="84" name="Google Shape;84;p11"/>
          <p:cNvSpPr/>
          <p:nvPr/>
        </p:nvSpPr>
        <p:spPr>
          <a:xfrm>
            <a:off x="609600" y="3429000"/>
            <a:ext cx="736500" cy="60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F0E8D9"/>
                </a:solidFill>
                <a:latin typeface="Roboto Mono" panose="00000009000000000000"/>
                <a:ea typeface="Roboto Mono" panose="00000009000000000000"/>
                <a:cs typeface="Roboto Mono" panose="00000009000000000000"/>
                <a:sym typeface="Roboto Mono" panose="00000009000000000000"/>
              </a:rPr>
              <a:t>02</a:t>
            </a:r>
            <a:endParaRPr sz="3000" b="1">
              <a:solidFill>
                <a:srgbClr val="F0E8D9"/>
              </a:solidFill>
              <a:latin typeface="Roboto Mono" panose="00000009000000000000"/>
              <a:ea typeface="Roboto Mono" panose="00000009000000000000"/>
              <a:cs typeface="Roboto Mono" panose="00000009000000000000"/>
              <a:sym typeface="Roboto Mono" panose="00000009000000000000"/>
            </a:endParaRPr>
          </a:p>
        </p:txBody>
      </p:sp>
      <p:sp>
        <p:nvSpPr>
          <p:cNvPr id="85" name="Google Shape;85;p11"/>
          <p:cNvSpPr/>
          <p:nvPr/>
        </p:nvSpPr>
        <p:spPr>
          <a:xfrm>
            <a:off x="1587500" y="3429000"/>
            <a:ext cx="9994800"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F0E8D9"/>
                </a:solidFill>
                <a:latin typeface="Manrope"/>
                <a:ea typeface="Manrope"/>
                <a:cs typeface="Manrope"/>
                <a:sym typeface="Manrope"/>
              </a:rPr>
              <a:t>Focused patch + quality checks</a:t>
            </a:r>
            <a:endParaRPr sz="2400" b="1">
              <a:solidFill>
                <a:srgbClr val="F0E8D9"/>
              </a:solidFill>
              <a:latin typeface="Manrope"/>
              <a:ea typeface="Manrope"/>
              <a:cs typeface="Manrope"/>
              <a:sym typeface="Manrope"/>
            </a:endParaRPr>
          </a:p>
        </p:txBody>
      </p:sp>
      <p:sp>
        <p:nvSpPr>
          <p:cNvPr id="86" name="Google Shape;86;p11"/>
          <p:cNvSpPr/>
          <p:nvPr/>
        </p:nvSpPr>
        <p:spPr>
          <a:xfrm>
            <a:off x="1587500" y="3987800"/>
            <a:ext cx="9994800" cy="76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00">
                <a:solidFill>
                  <a:srgbClr val="B8C7AB"/>
                </a:solidFill>
                <a:latin typeface="Manrope"/>
                <a:ea typeface="Manrope"/>
                <a:cs typeface="Manrope"/>
                <a:sym typeface="Manrope"/>
              </a:rPr>
              <a:t>Use a fork/branch; run ./mvnw clean install. Check tests, CHANGES.txt, license headers and AI disclosure.</a:t>
            </a:r>
            <a:endParaRPr sz="1900">
              <a:solidFill>
                <a:srgbClr val="B8C7AB"/>
              </a:solidFill>
              <a:latin typeface="Manrope"/>
              <a:ea typeface="Manrope"/>
              <a:cs typeface="Manrope"/>
              <a:sym typeface="Manrope"/>
            </a:endParaRPr>
          </a:p>
        </p:txBody>
      </p:sp>
      <p:sp>
        <p:nvSpPr>
          <p:cNvPr id="87" name="Google Shape;87;p11"/>
          <p:cNvSpPr/>
          <p:nvPr/>
        </p:nvSpPr>
        <p:spPr>
          <a:xfrm>
            <a:off x="609600" y="4826000"/>
            <a:ext cx="736500" cy="609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000" b="1">
                <a:solidFill>
                  <a:srgbClr val="D99575"/>
                </a:solidFill>
                <a:latin typeface="Roboto Mono" panose="00000009000000000000"/>
                <a:ea typeface="Roboto Mono" panose="00000009000000000000"/>
                <a:cs typeface="Roboto Mono" panose="00000009000000000000"/>
                <a:sym typeface="Roboto Mono" panose="00000009000000000000"/>
              </a:rPr>
              <a:t>03</a:t>
            </a:r>
            <a:endParaRPr sz="3000" b="1">
              <a:solidFill>
                <a:srgbClr val="D99575"/>
              </a:solidFill>
              <a:latin typeface="Roboto Mono" panose="00000009000000000000"/>
              <a:ea typeface="Roboto Mono" panose="00000009000000000000"/>
              <a:cs typeface="Roboto Mono" panose="00000009000000000000"/>
              <a:sym typeface="Roboto Mono" panose="00000009000000000000"/>
            </a:endParaRPr>
          </a:p>
        </p:txBody>
      </p:sp>
      <p:sp>
        <p:nvSpPr>
          <p:cNvPr id="88" name="Google Shape;88;p11"/>
          <p:cNvSpPr/>
          <p:nvPr/>
        </p:nvSpPr>
        <p:spPr>
          <a:xfrm>
            <a:off x="1587500" y="4826000"/>
            <a:ext cx="9994800"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400" b="1">
                <a:solidFill>
                  <a:srgbClr val="F0E8D9"/>
                </a:solidFill>
                <a:latin typeface="Manrope"/>
                <a:ea typeface="Manrope"/>
                <a:cs typeface="Manrope"/>
                <a:sym typeface="Manrope"/>
              </a:rPr>
              <a:t>Submit, respond, and possibly merge</a:t>
            </a:r>
            <a:endParaRPr sz="2400" b="1">
              <a:solidFill>
                <a:srgbClr val="F0E8D9"/>
              </a:solidFill>
              <a:latin typeface="Manrope"/>
              <a:ea typeface="Manrope"/>
              <a:cs typeface="Manrope"/>
              <a:sym typeface="Manrope"/>
            </a:endParaRPr>
          </a:p>
        </p:txBody>
      </p:sp>
      <p:sp>
        <p:nvSpPr>
          <p:cNvPr id="89" name="Google Shape;89;p11"/>
          <p:cNvSpPr/>
          <p:nvPr/>
        </p:nvSpPr>
        <p:spPr>
          <a:xfrm>
            <a:off x="1587500" y="5384800"/>
            <a:ext cx="9994800" cy="76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00">
                <a:solidFill>
                  <a:srgbClr val="B8C7AB"/>
                </a:solidFill>
                <a:latin typeface="Manrope"/>
                <a:ea typeface="Manrope"/>
                <a:cs typeface="Manrope"/>
                <a:sym typeface="Manrope"/>
              </a:rPr>
              <a:t>Target apache/tika:main with [TIKA-XXXX] in the title, squashed commits and no conflicts. Maintainers decide.</a:t>
            </a:r>
            <a:endParaRPr sz="1900">
              <a:solidFill>
                <a:srgbClr val="B8C7AB"/>
              </a:solidFill>
              <a:latin typeface="Manrope"/>
              <a:ea typeface="Manrope"/>
              <a:cs typeface="Manrope"/>
              <a:sym typeface="Manrope"/>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E8D9"/>
        </a:solidFill>
        <a:effectLst/>
      </p:bgPr>
    </p:bg>
    <p:spTree>
      <p:nvGrpSpPr>
        <p:cNvPr id="94" name="Shape 94"/>
        <p:cNvGrpSpPr/>
        <p:nvPr/>
      </p:nvGrpSpPr>
      <p:grpSpPr>
        <a:xfrm>
          <a:off x="0" y="0"/>
          <a:ext cx="0" cy="0"/>
          <a:chOff x="0" y="0"/>
          <a:chExt cx="0" cy="0"/>
        </a:xfrm>
      </p:grpSpPr>
      <p:sp>
        <p:nvSpPr>
          <p:cNvPr id="95" name="Google Shape;95;p12"/>
          <p:cNvSpPr/>
          <p:nvPr/>
        </p:nvSpPr>
        <p:spPr>
          <a:xfrm>
            <a:off x="609600" y="390525"/>
            <a:ext cx="9048750" cy="190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50" b="1">
                <a:solidFill>
                  <a:srgbClr val="203B34"/>
                </a:solidFill>
                <a:latin typeface="Manrope"/>
                <a:ea typeface="Manrope"/>
                <a:cs typeface="Manrope"/>
                <a:sym typeface="Manrope"/>
              </a:rPr>
              <a:t>OUR GROUP / HOW WE FOLLOWED THE PROCESS</a:t>
            </a:r>
            <a:endParaRPr sz="1050" b="1">
              <a:solidFill>
                <a:srgbClr val="203B34"/>
              </a:solidFill>
              <a:latin typeface="Manrope"/>
              <a:ea typeface="Manrope"/>
              <a:cs typeface="Manrope"/>
              <a:sym typeface="Manrope"/>
            </a:endParaRPr>
          </a:p>
        </p:txBody>
      </p:sp>
      <p:sp>
        <p:nvSpPr>
          <p:cNvPr id="96" name="Google Shape;96;p12"/>
          <p:cNvSpPr/>
          <p:nvPr/>
        </p:nvSpPr>
        <p:spPr>
          <a:xfrm>
            <a:off x="10953750" y="390525"/>
            <a:ext cx="628650" cy="1905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a:solidFill>
                  <a:srgbClr val="52665B"/>
                </a:solidFill>
                <a:latin typeface="Manrope"/>
                <a:ea typeface="Manrope"/>
                <a:cs typeface="Manrope"/>
                <a:sym typeface="Manrope"/>
              </a:rPr>
              <a:t>03</a:t>
            </a:r>
            <a:endParaRPr sz="1000">
              <a:solidFill>
                <a:srgbClr val="52665B"/>
              </a:solidFill>
              <a:latin typeface="Manrope"/>
              <a:ea typeface="Manrope"/>
              <a:cs typeface="Manrope"/>
              <a:sym typeface="Manrope"/>
            </a:endParaRPr>
          </a:p>
        </p:txBody>
      </p:sp>
      <p:sp>
        <p:nvSpPr>
          <p:cNvPr id="97" name="Google Shape;97;p12"/>
          <p:cNvSpPr txBox="1"/>
          <p:nvPr>
            <p:ph type="title"/>
          </p:nvPr>
        </p:nvSpPr>
        <p:spPr>
          <a:xfrm>
            <a:off x="609600" y="825500"/>
            <a:ext cx="10972800" cy="1016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200" b="1">
                <a:solidFill>
                  <a:srgbClr val="203B34"/>
                </a:solidFill>
                <a:latin typeface="Manrope"/>
                <a:ea typeface="Manrope"/>
                <a:cs typeface="Manrope"/>
                <a:sym typeface="Manrope"/>
              </a:rPr>
              <a:t>T</a:t>
            </a:r>
            <a:r>
              <a:rPr lang="en-US" sz="3200" b="1">
                <a:solidFill>
                  <a:srgbClr val="203B34"/>
                </a:solidFill>
                <a:latin typeface="Manrope"/>
                <a:ea typeface="Manrope"/>
                <a:cs typeface="Manrope"/>
                <a:sym typeface="Manrope"/>
              </a:rPr>
              <a:t>hree tracked issues, three review PRs</a:t>
            </a:r>
            <a:endParaRPr sz="3200" b="1">
              <a:solidFill>
                <a:srgbClr val="203B34"/>
              </a:solidFill>
              <a:latin typeface="Manrope"/>
              <a:ea typeface="Manrope"/>
              <a:cs typeface="Manrope"/>
              <a:sym typeface="Manrope"/>
            </a:endParaRPr>
          </a:p>
        </p:txBody>
      </p:sp>
      <p:sp>
        <p:nvSpPr>
          <p:cNvPr id="98" name="Google Shape;98;p12"/>
          <p:cNvSpPr/>
          <p:nvPr/>
        </p:nvSpPr>
        <p:spPr>
          <a:xfrm>
            <a:off x="5238750" y="6486525"/>
            <a:ext cx="6343650" cy="1714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1000">
                <a:solidFill>
                  <a:srgbClr val="52665B"/>
                </a:solidFill>
                <a:latin typeface="Manrope"/>
                <a:ea typeface="Manrope"/>
                <a:cs typeface="Manrope"/>
                <a:sym typeface="Manrope"/>
              </a:rPr>
              <a:t>J</a:t>
            </a:r>
            <a:r>
              <a:rPr lang="en-US" sz="1000">
                <a:solidFill>
                  <a:srgbClr val="52665B"/>
                </a:solidFill>
                <a:latin typeface="Manrope"/>
                <a:ea typeface="Manrope"/>
                <a:cs typeface="Manrope"/>
                <a:sym typeface="Manrope"/>
              </a:rPr>
              <a:t>inTianZhang / @zit060523terry</a:t>
            </a:r>
            <a:endParaRPr sz="1000">
              <a:solidFill>
                <a:srgbClr val="52665B"/>
              </a:solidFill>
              <a:latin typeface="Manrope"/>
              <a:ea typeface="Manrope"/>
              <a:cs typeface="Manrope"/>
              <a:sym typeface="Manrope"/>
            </a:endParaRPr>
          </a:p>
        </p:txBody>
      </p:sp>
      <p:sp>
        <p:nvSpPr>
          <p:cNvPr id="99" name="Google Shape;99;p12"/>
          <p:cNvSpPr/>
          <p:nvPr/>
        </p:nvSpPr>
        <p:spPr>
          <a:xfrm>
            <a:off x="609600" y="2028825"/>
            <a:ext cx="4381500" cy="285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203B34"/>
                </a:solidFill>
                <a:latin typeface="Manrope"/>
                <a:ea typeface="Manrope"/>
                <a:cs typeface="Manrope"/>
                <a:sym typeface="Manrope"/>
              </a:rPr>
              <a:t>Issue tracking in our fork</a:t>
            </a:r>
            <a:endParaRPr sz="1600" b="1">
              <a:solidFill>
                <a:srgbClr val="203B34"/>
              </a:solidFill>
              <a:latin typeface="Manrope"/>
              <a:ea typeface="Manrope"/>
              <a:cs typeface="Manrope"/>
              <a:sym typeface="Manrope"/>
            </a:endParaRPr>
          </a:p>
        </p:txBody>
      </p:sp>
      <p:sp>
        <p:nvSpPr>
          <p:cNvPr id="100" name="Google Shape;100;p12"/>
          <p:cNvSpPr/>
          <p:nvPr/>
        </p:nvSpPr>
        <p:spPr>
          <a:xfrm>
            <a:off x="609600" y="2428875"/>
            <a:ext cx="4741545" cy="77089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000">
                <a:solidFill>
                  <a:srgbClr val="203B34"/>
                </a:solidFill>
                <a:latin typeface="Manrope"/>
                <a:ea typeface="Manrope"/>
                <a:cs typeface="Manrope"/>
                <a:sym typeface="Manrope"/>
              </a:rPr>
              <a:t>Four Jira-linked tasks:
 4408 Python</a:t>
            </a:r>
            <a:r>
              <a:rPr lang="en-US" sz="2000">
                <a:solidFill>
                  <a:srgbClr val="203B34"/>
                </a:solidFill>
                <a:latin typeface="Manrope"/>
                <a:ea typeface="Manrope"/>
                <a:cs typeface="Manrope"/>
                <a:sym typeface="Manrope"/>
              </a:rPr>
              <a:t>· </a:t>
            </a:r>
            <a:r>
              <a:rPr lang="en-US" sz="2000">
                <a:solidFill>
                  <a:srgbClr val="203B34"/>
                </a:solidFill>
                <a:latin typeface="Manrope"/>
                <a:ea typeface="Manrope"/>
                <a:cs typeface="Manrope"/>
                <a:sym typeface="Manrope"/>
              </a:rPr>
              <a:t>4431 CSV # · 4694 DOC</a:t>
            </a:r>
            <a:endParaRPr sz="2000">
              <a:solidFill>
                <a:srgbClr val="203B34"/>
              </a:solidFill>
              <a:latin typeface="Manrope"/>
              <a:ea typeface="Manrope"/>
              <a:cs typeface="Manrope"/>
              <a:sym typeface="Manrope"/>
            </a:endParaRPr>
          </a:p>
        </p:txBody>
      </p:sp>
      <p:sp>
        <p:nvSpPr>
          <p:cNvPr id="101" name="Google Shape;101;p12"/>
          <p:cNvSpPr/>
          <p:nvPr/>
        </p:nvSpPr>
        <p:spPr>
          <a:xfrm>
            <a:off x="609600" y="3819525"/>
            <a:ext cx="4381500" cy="285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b="1">
                <a:solidFill>
                  <a:srgbClr val="203B34"/>
                </a:solidFill>
                <a:latin typeface="Manrope"/>
                <a:ea typeface="Manrope"/>
                <a:cs typeface="Manrope"/>
                <a:sym typeface="Manrope"/>
              </a:rPr>
              <a:t>Internal review before upstream</a:t>
            </a:r>
            <a:endParaRPr sz="1600" b="1">
              <a:solidFill>
                <a:srgbClr val="203B34"/>
              </a:solidFill>
              <a:latin typeface="Manrope"/>
              <a:ea typeface="Manrope"/>
              <a:cs typeface="Manrope"/>
              <a:sym typeface="Manrope"/>
            </a:endParaRPr>
          </a:p>
        </p:txBody>
      </p:sp>
      <p:sp>
        <p:nvSpPr>
          <p:cNvPr id="102" name="Google Shape;102;p12"/>
          <p:cNvSpPr/>
          <p:nvPr/>
        </p:nvSpPr>
        <p:spPr>
          <a:xfrm>
            <a:off x="609600" y="4219575"/>
            <a:ext cx="4381500" cy="1104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000">
                <a:solidFill>
                  <a:srgbClr val="203B34"/>
                </a:solidFill>
                <a:latin typeface="Manrope"/>
                <a:ea typeface="Manrope"/>
                <a:cs typeface="Manrope"/>
                <a:sym typeface="Manrope"/>
              </a:rPr>
              <a:t>PRs #4, #6 and #7 are in our fork. I reviewed #4 and raised edge cases; a human approval is separate.</a:t>
            </a:r>
            <a:endParaRPr sz="2000">
              <a:solidFill>
                <a:srgbClr val="203B34"/>
              </a:solidFill>
              <a:latin typeface="Manrope"/>
              <a:ea typeface="Manrope"/>
              <a:cs typeface="Manrope"/>
              <a:sym typeface="Manrope"/>
            </a:endParaRPr>
          </a:p>
        </p:txBody>
      </p:sp>
      <p:sp>
        <p:nvSpPr>
          <p:cNvPr id="104" name="Google Shape;104;p12"/>
          <p:cNvSpPr/>
          <p:nvPr/>
        </p:nvSpPr>
        <p:spPr>
          <a:xfrm>
            <a:off x="5848350" y="4114800"/>
            <a:ext cx="5467350" cy="4381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a:solidFill>
                  <a:srgbClr val="52665B"/>
                </a:solidFill>
                <a:latin typeface="Manrope"/>
                <a:ea typeface="Manrope"/>
                <a:cs typeface="Manrope"/>
                <a:sym typeface="Manrope"/>
              </a:rPr>
              <a:t>Three open group PRs — captured 23 Oct 2026</a:t>
            </a:r>
            <a:endParaRPr>
              <a:solidFill>
                <a:srgbClr val="52665B"/>
              </a:solidFill>
              <a:latin typeface="Manrope"/>
              <a:ea typeface="Manrope"/>
              <a:cs typeface="Manrope"/>
              <a:sym typeface="Manrope"/>
            </a:endParaRPr>
          </a:p>
        </p:txBody>
      </p:sp>
      <p:sp>
        <p:nvSpPr>
          <p:cNvPr id="105" name="Google Shape;105;p12"/>
          <p:cNvSpPr/>
          <p:nvPr/>
        </p:nvSpPr>
        <p:spPr>
          <a:xfrm>
            <a:off x="5581650" y="5638800"/>
            <a:ext cx="6000750" cy="3238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00">
                <a:solidFill>
                  <a:srgbClr val="203B34"/>
                </a:solidFill>
                <a:latin typeface="Manrope"/>
                <a:ea typeface="Manrope"/>
                <a:cs typeface="Manrope"/>
                <a:sym typeface="Manrope"/>
              </a:rPr>
              <a:t>Internal PRs are not upstream merges</a:t>
            </a:r>
            <a:endParaRPr sz="1600">
              <a:solidFill>
                <a:srgbClr val="203B34"/>
              </a:solidFill>
              <a:latin typeface="Manrope"/>
              <a:ea typeface="Manrope"/>
              <a:cs typeface="Manrope"/>
              <a:sym typeface="Manrope"/>
            </a:endParaRPr>
          </a:p>
        </p:txBody>
      </p:sp>
      <p:pic>
        <p:nvPicPr>
          <p:cNvPr id="106" name="Picture 105" descr="tika_process_real_prs_crop_detailed.png"/>
          <p:cNvPicPr>
            <a:picLocks noChangeAspect="1"/>
          </p:cNvPicPr>
          <p:nvPr/>
        </p:nvPicPr>
        <p:blipFill>
          <a:blip r:embed="rId1"/>
          <a:stretch>
            <a:fillRect/>
          </a:stretch>
        </p:blipFill>
        <p:spPr>
          <a:xfrm>
            <a:off x="5842000" y="2832100"/>
            <a:ext cx="5740500" cy="1269900"/>
          </a:xfrm>
          <a:prstGeom prst="rect">
            <a:avLst/>
          </a:prstGeom>
        </p:spPr>
      </p:pic>
      <p:sp>
        <p:nvSpPr>
          <p:cNvPr id="107" name="Rectangle 106"/>
          <p:cNvSpPr/>
          <p:nvPr/>
        </p:nvSpPr>
        <p:spPr>
          <a:xfrm>
            <a:off x="5516245" y="4724273"/>
            <a:ext cx="59436" cy="722376"/>
          </a:xfrm>
          <a:prstGeom prst="rect">
            <a:avLst/>
          </a:prstGeom>
          <a:solidFill>
            <a:srgbClr val="A1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5663565" y="4654550"/>
            <a:ext cx="6279515" cy="883285"/>
          </a:xfrm>
          <a:prstGeom prst="rect">
            <a:avLst/>
          </a:prstGeom>
          <a:noFill/>
        </p:spPr>
        <p:txBody>
          <a:bodyPr wrap="square" lIns="0" tIns="0" rIns="0" bIns="0">
            <a:noAutofit/>
          </a:bodyPr>
          <a:lstStyle/>
          <a:p>
            <a:pPr>
              <a:lnSpc>
                <a:spcPct val="111000"/>
              </a:lnSpc>
              <a:defRPr sz="1500">
                <a:solidFill>
                  <a:srgbClr val="203B34"/>
                </a:solidFill>
                <a:latin typeface="Manrope"/>
              </a:defRPr>
            </a:pPr>
            <a:r>
              <a:t>Actual review: I checked the offset-1 → 0 fix and raised a false-positive test case (x/bin/env python).</a:t>
            </a:r>
          </a:p>
        </p:txBody>
      </p:sp>
    </p:spTree>
  </p:cSld>
  <p:clrMapOvr>
    <a:masterClrMapping/>
  </p:clrMapOvr>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1046</Words>
  <Application>WPS 演示</Application>
  <PresentationFormat/>
  <Paragraphs>48</Paragraphs>
  <Slides>2</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vt:i4>
      </vt:variant>
    </vt:vector>
  </HeadingPairs>
  <TitlesOfParts>
    <vt:vector size="12" baseType="lpstr">
      <vt:lpstr>Arial</vt:lpstr>
      <vt:lpstr>宋体</vt:lpstr>
      <vt:lpstr>Wingdings</vt:lpstr>
      <vt:lpstr>Arial</vt:lpstr>
      <vt:lpstr>Manrope</vt:lpstr>
      <vt:lpstr>Roboto Mono</vt:lpstr>
      <vt:lpstr>微软雅黑</vt:lpstr>
      <vt:lpstr>Arial Unicode MS</vt:lpstr>
      <vt:lpstr>ChatGPT</vt:lpstr>
      <vt:lpstr>ChatGPT</vt:lpstr>
      <vt:lpstr>From a Jira ticket to an upstream PR</vt:lpstr>
      <vt:lpstr>Four tracked issues, three review PRs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COMP2120 A4 — Apache Tika Contribution Workflow (Detailed)</dc:title>
  <dc:creator>Terry</dc:creator>
  <dc:subject>User-supplied forest green and warm paper original template</dc:subject>
  <cp:lastModifiedBy>shirley</cp:lastModifiedBy>
  <cp:revision>4</cp:revision>
  <dcterms:created xsi:type="dcterms:W3CDTF">2026-10-25T06:16:36Z</dcterms:created>
  <dcterms:modified xsi:type="dcterms:W3CDTF">2026-10-25T06:19:39Z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9B35CD4F66664789A736460B57889628_12</vt:lpwstr>
  </property>
  <property fmtid="{D5CDD505-2E9C-101B-9397-08002B2CF9AE}" pid="3" name="KSOProductBuildVer">
    <vt:lpwstr>2052-12.1.0.26375</vt:lpwstr>
  </property>
</Properties>
</file>