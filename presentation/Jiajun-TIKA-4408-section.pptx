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57d963a2a64750" /><Relationship Type="http://schemas.openxmlformats.org/officeDocument/2006/relationships/extended-properties" Target="/docProps/app.xml" Id="Ra4f31d86ee864bc5" /><Relationship Type="http://schemas.openxmlformats.org/officeDocument/2006/relationships/officeDocument" Target="/ppt/presentation.xml" Id="R7a36ae29468e4c5d"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6f79b9d2a064d50"/>
    <p:sldMasterId xmlns:r="http://schemas.openxmlformats.org/officeDocument/2006/relationships" id="2147483650" r:id="R4d3e57be102b41aa"/>
  </p:sldMasterIdLst>
  <p:notesMasterIdLst>
    <p:notesMasterId xmlns:r="http://schemas.openxmlformats.org/officeDocument/2006/relationships" r:id="R51761ac7d81548c4"/>
  </p:notesMasterIdLst>
  <p:sldIdLst>
    <p:sldId xmlns:r="http://schemas.openxmlformats.org/officeDocument/2006/relationships" id="256" r:id="R7ea89d8be5654ed0"/>
    <p:sldId xmlns:r="http://schemas.openxmlformats.org/officeDocument/2006/relationships" id="257" r:id="R9cd594cd8a414257"/>
  </p:sldIdLst>
  <p:sldSz cx="12192000" cy="6858000"/>
  <p:notesSz cx="6858000" cy="9144000"/>
  <p:embeddedFontLst>
    <p:embeddedFont>
      <p:font typeface="Manrope"/>
      <p:regular xmlns:r="http://schemas.openxmlformats.org/officeDocument/2006/relationships" r:id="R0744738a2f504997"/>
      <p:bold xmlns:r="http://schemas.openxmlformats.org/officeDocument/2006/relationships" r:id="Rd13b12300c7b4046"/>
    </p:embeddedFont>
    <p:embeddedFont>
      <p:font typeface="Roboto Mono"/>
      <p:regular xmlns:r="http://schemas.openxmlformats.org/officeDocument/2006/relationships" r:id="R0e694f502ecd4c39"/>
      <p:bold xmlns:r="http://schemas.openxmlformats.org/officeDocument/2006/relationships" r:id="Ra66dc41999634b02"/>
      <p:italic xmlns:r="http://schemas.openxmlformats.org/officeDocument/2006/relationships" r:id="R186331e7abfa4e73"/>
      <p:boldItalic xmlns:r="http://schemas.openxmlformats.org/officeDocument/2006/relationships" r:id="R1e7a32fbdbc24f8b"/>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ee177e96d24ca3" /><Relationship Type="http://schemas.openxmlformats.org/officeDocument/2006/relationships/slideMaster" Target="/ppt/slideMasters/slideMaster1.xml" Id="R76f79b9d2a064d50" /><Relationship Type="http://schemas.openxmlformats.org/officeDocument/2006/relationships/slideMaster" Target="/ppt/slideMasters/slideMaster2.xml" Id="R4d3e57be102b41aa" /><Relationship Type="http://schemas.openxmlformats.org/officeDocument/2006/relationships/notesMaster" Target="/ppt/notesMasters/notesMaster1.xml" Id="R51761ac7d81548c4" /><Relationship Type="http://schemas.openxmlformats.org/officeDocument/2006/relationships/presProps" Target="/ppt/presProps.xml" Id="Rd916cdaf44f94c37" /><Relationship Type="http://schemas.openxmlformats.org/officeDocument/2006/relationships/tableStyles" Target="/ppt/tableStyles.xml" Id="R91c24a65b4a54f8c" /><Relationship Type="http://schemas.openxmlformats.org/officeDocument/2006/relationships/font" Target="/ppt/fonts/font.dat" Id="R0744738a2f504997" /><Relationship Type="http://schemas.openxmlformats.org/officeDocument/2006/relationships/font" Target="/ppt/fonts/font2.dat" Id="Rd13b12300c7b4046" /><Relationship Type="http://schemas.openxmlformats.org/officeDocument/2006/relationships/font" Target="/ppt/fonts/font3.dat" Id="R0e694f502ecd4c39" /><Relationship Type="http://schemas.openxmlformats.org/officeDocument/2006/relationships/font" Target="/ppt/fonts/font4.dat" Id="Ra66dc41999634b02" /><Relationship Type="http://schemas.openxmlformats.org/officeDocument/2006/relationships/font" Target="/ppt/fonts/font5.dat" Id="R186331e7abfa4e73" /><Relationship Type="http://schemas.openxmlformats.org/officeDocument/2006/relationships/font" Target="/ppt/fonts/font6.dat" Id="R1e7a32fbdbc24f8b" /><Relationship Type="http://schemas.openxmlformats.org/officeDocument/2006/relationships/slide" Target="/ppt/slides/slide1.xml" Id="R7ea89d8be5654ed0" /><Relationship Type="http://schemas.openxmlformats.org/officeDocument/2006/relationships/slide" Target="/ppt/slides/slide2.xml" Id="R9cd594cd8a4142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be174cee7a7f48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69acbce3534be5" /><Relationship Type="http://schemas.openxmlformats.org/officeDocument/2006/relationships/notesMaster" Target="/ppt/notesMasters/notesMaster1.xml" Id="R62ca5ca903ab4a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9582bb82a04900" /><Relationship Type="http://schemas.openxmlformats.org/officeDocument/2006/relationships/notesMaster" Target="/ppt/notesMasters/notesMaster1.xml" Id="Rb8c3852cda794c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Presenter: Jiajun Li (Lynnbb88)</a:t>
            </a:r>
            <a:endParaRPr/>
          </a:p>
          <a:p xmlns:a="http://schemas.openxmlformats.org/drawingml/2006/main">
            <a:pPr marL="0" lvl="0" indent="0" algn="l">
              <a:spcBef>
                <a:spcPts val="0"/>
              </a:spcBef>
              <a:spcAft>
                <a:spcPts val="0"/>
              </a:spcAft>
              <a:buNone/>
            </a:pPr>
            <a:r>
              <a:t>Suggested English speaker notes (approximately 60-90 seconds at a comfortable pace):</a:t>
            </a:r>
            <a:endParaRPr/>
          </a:p>
          <a:p xmlns:a="http://schemas.openxmlformats.org/drawingml/2006/main">
            <a:pPr marL="0" lvl="0" indent="0" algn="l">
              <a:spcBef>
                <a:spcPts val="0"/>
              </a:spcBef>
              <a:spcAft>
                <a:spcPts val="0"/>
              </a:spcAft>
              <a:buNone/>
            </a:pPr>
            <a:r>
              <a:t>What we found interesting was that a filename could hide a missing content rule. The two sides show exactly the same file content, with one space after the hash and exclamation mark. In this control test, we kept the no-space rule but temporarily left out the single-space rule. With the content alone, Tika reported plain text. When we also supplied the filename script dot py, it reported Python. If we had tested only with a filename, the input would have seemed to work. We would have missed the gap in the content rule. Our current fix includes both literal prefixes, so this input now returns Python in both modes. This does not mean a dot-py filename always wins. The result depends on how the content rules and filename hint work together.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中文理解提示：</a:t>
            </a:r>
            <a:endParaRPr/>
          </a:p>
          <a:p xmlns:a="http://schemas.openxmlformats.org/drawingml/2006/main">
            <a:pPr marL="0" lvl="0" indent="0" algn="l">
              <a:spcBef>
                <a:spcPts val="0"/>
              </a:spcBef>
              <a:spcAft>
                <a:spcPts val="0"/>
              </a:spcAft>
              <a:buNone/>
            </a:pPr>
            <a:r>
              <a:t>这页讲有趣的发现：文件名提示可能掩盖内容规则的缺失。左右是同一份内容，#! 后恰好一个空格。对照测试暂时只保留无空格规则：不提供文件名时是 text/plain，提供 script.py 时是 text/x-python。因此，只测试带文件名的情况，可能误以为内容识别已经正常。当前完整修复包含两条前缀，该输入在两种模式下都返回 Python。不要扩大为“任何 .py 文件都会被识别成 Python”。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Evidence and limits:</a:t>
            </a:r>
            <a:endParaRPr/>
          </a:p>
          <a:p xmlns:a="http://schemas.openxmlformats.org/drawingml/2006/main">
            <a:pPr marL="0" lvl="0" indent="0" algn="l">
              <a:spcBef>
                <a:spcPts val="0"/>
              </a:spcBef>
              <a:spcAft>
                <a:spcPts val="0"/>
              </a:spcAft>
              <a:buNone/>
            </a:pPr>
            <a:r>
              <a:t>This comparison is the fresh no-space-only negative control recorded on 25 October 2026: 18 checks, 1 failure. The single-space content-only row returned text/plain, while the same row with script.py passed its expected text/x-python result. It is not the original offset-1 control, where no-space Python inputs failed in both modes. Final code 471afbe222655b31cb46415b979a856ccdadcea4 contains literal offset-0 prefixes #!/usr/bin/env python and #! /usr/bin/env python. The same 18 checks passed with the complete fix. These are local results for the tested inputs, not remote CI or whole-project validation.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https://github.com/u8026876/comp2120-gyg-a5/pull/4</a:t>
            </a:r>
            <a:endParaRPr/>
          </a:p>
          <a:p xmlns:a="http://schemas.openxmlformats.org/drawingml/2006/main">
            <a:pPr marL="0" lvl="0" indent="0" algn="l">
              <a:spcBef>
                <a:spcPts val="0"/>
              </a:spcBef>
              <a:spcAft>
                <a:spcPts val="0"/>
              </a:spcAft>
              <a:buNone/>
            </a:pPr>
            <a:r>
              <a:t>https://github.com/u8026876/comp2120-gyg-a5/commit/471afbe222655b31cb46415b979a856ccdadcea4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Contribution and assistance: Jiajun owns TIKA-4408. Codex assisted the implementation, testing, and presentation preparation. Kyubin supplied independent validation and approved cefa669. The restored code is identical to that reviewed source, and the group review policy retains that approval. Terry supplied additional review feedback. The PR is open, with merge and upstream submission pending. The visual template belongs to the group and was shared by Kyubin.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Presenter: Jiajun Li (Lynnbb88)</a:t>
            </a:r>
            <a:endParaRPr/>
          </a:p>
          <a:p xmlns:a="http://schemas.openxmlformats.org/drawingml/2006/main">
            <a:pPr marL="0" lvl="0" indent="0" algn="l">
              <a:spcBef>
                <a:spcPts val="0"/>
              </a:spcBef>
              <a:spcAft>
                <a:spcPts val="0"/>
              </a:spcAft>
              <a:buNone/>
            </a:pPr>
            <a:r>
              <a:t>Suggested English speaker notes (approximately 60-90 seconds at a comfortable pace):</a:t>
            </a:r>
            <a:endParaRPr/>
          </a:p>
          <a:p xmlns:a="http://schemas.openxmlformats.org/drawingml/2006/main">
            <a:pPr marL="0" lvl="0" indent="0" algn="l">
              <a:spcBef>
                <a:spcPts val="0"/>
              </a:spcBef>
              <a:spcAft>
                <a:spcPts val="0"/>
              </a:spcAft>
              <a:buNone/>
            </a:pPr>
            <a:r>
              <a:t>We learnt four things from this work. First, test the content alone and then add a filename. A correct result with a filename may hide a gap in content detection. Second, test different kinds of input. We checked Python examples, real Shell scripts and a boundary case with a newline before the shebang. Terry also suggested ordinary text that could accidentally match the old Python rule. That example shows why review is useful, and keeping it as a permanent test is a future improvement. Third, follow existing project conventions. Other Python rules already use a pair of literal prefixes, with no space and exactly one space after the hash and exclamation mark. We followed that style and kept extra whitespace outside the scope. Finally, reproduce the behavior and compare the same tests after a focused fix. Next time, I would plan the input list earlier and keep more useful review examples as automated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中文理解提示：</a:t>
            </a:r>
            <a:endParaRPr/>
          </a:p>
          <a:p xmlns:a="http://schemas.openxmlformats.org/drawingml/2006/main">
            <a:pPr marL="0" lvl="0" indent="0" algn="l">
              <a:spcBef>
                <a:spcPts val="0"/>
              </a:spcBef>
              <a:spcAft>
                <a:spcPts val="0"/>
              </a:spcAft>
              <a:buNone/>
            </a:pPr>
            <a:r>
              <a:t>这页讲学到了什么：第一，同时测试不给文件名和给 filename hint 两种模式。第二，测试正确的 Python 输入，也保留 Shell 和边界输入；Terry 的普通文本反例说明 review 能发现遗漏，但它还没有加入长期自动测试。第三，遵循项目已有规则风格，成对列出无空格和一个空格的字面量前缀，不扩大成任意空白或正则。第四，保留先复现、针对性修改、相同测试前后对比的流程。下次改进是更早规划输入类型，并把有价值的 review 验证转成永久测试。</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Evidence and limits:</a:t>
            </a:r>
            <a:endParaRPr/>
          </a:p>
          <a:p xmlns:a="http://schemas.openxmlformats.org/drawingml/2006/main">
            <a:pPr marL="0" lvl="0" indent="0" algn="l">
              <a:spcBef>
                <a:spcPts val="0"/>
              </a:spcBef>
              <a:spcAft>
                <a:spcPts val="0"/>
              </a:spcAft>
              <a:buNone/>
            </a:pPr>
            <a:r>
              <a:t>Current code is 471afbe222655b31cb46415b979a856ccdadcea4, byte-identical to cefa669, which Kyubin approved. The final local evidence remains 18 focused checks passed; 1,377 core tests with 0 failures/errors and 2 skipped; alternate Xerces 12 tests with 2 skipped; TikaIT 1 passed; annotation processor 8 passed; quality checks passed. The implemented scope is the no-space and exactly-one-space literal prefixes. Multiple spaces, Tab and env options remain outside scope. Terry's x/bin/env python probe was checked separately by Kyubin, but is not part of the 18 automated checks. Turning it into a permanent test is a proposed improvement. These lessons come from Jiajun's TIKA-4408 work and do not claim identical experiences for all group members.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https://github.com/u8026876/comp2120-gyg-a5/issues/2</a:t>
            </a:r>
            <a:endParaRPr/>
          </a:p>
          <a:p xmlns:a="http://schemas.openxmlformats.org/drawingml/2006/main">
            <a:pPr marL="0" lvl="0" indent="0" algn="l">
              <a:spcBef>
                <a:spcPts val="0"/>
              </a:spcBef>
              <a:spcAft>
                <a:spcPts val="0"/>
              </a:spcAft>
              <a:buNone/>
            </a:pPr>
            <a:r>
              <a:t>https://github.com/u8026876/comp2120-gyg-a5/pull/4</a:t>
            </a:r>
            <a:endParaRPr/>
          </a:p>
          <a:p xmlns:a="http://schemas.openxmlformats.org/drawingml/2006/main">
            <a:pPr marL="0" lvl="0" indent="0" algn="l">
              <a:spcBef>
                <a:spcPts val="0"/>
              </a:spcBef>
              <a:spcAft>
                <a:spcPts val="0"/>
              </a:spcAft>
              <a:buNone/>
            </a:pPr>
            <a:r>
              <a:t>https://github.com/u8026876/comp2120-gyg-a5/commit/471afbe222655b31cb46415b979a856ccdadcea4</a:t>
            </a:r>
            <a:endParaRPr/>
          </a:p>
          <a:p xmlns:a="http://schemas.openxmlformats.org/drawingml/2006/main">
            <a:pPr marL="0" lvl="0" indent="0" algn="l">
              <a:spcBef>
                <a:spcPts val="0"/>
              </a:spcBef>
              <a:spcAft>
                <a:spcPts val="0"/>
              </a:spcAft>
              <a:buNone/>
            </a:pPr>
            <a:r>
              <a:t>https://github.com/u8026876/comp2120-gyg-a5/issues/2#issuecomment-6311536436</a:t>
            </a:r>
            <a:endParaRPr/>
          </a:p>
          <a:p xmlns:a="http://schemas.openxmlformats.org/drawingml/2006/main">
            <a:pPr marL="0" lvl="0" indent="0" algn="l">
              <a:spcBef>
                <a:spcPts val="0"/>
              </a:spcBef>
              <a:spcAft>
                <a:spcPts val="0"/>
              </a:spcAft>
              <a:buNone/>
            </a:pPr>
            <a:r>
              <a:t>https://github.com/u8026876/comp2120-gyg-a5/pull/4#pullrequestreview-5584302852</a:t>
            </a:r>
            <a:endParaRPr/>
          </a:p>
          <a:p xmlns:a="http://schemas.openxmlformats.org/drawingml/2006/main">
            <a:pPr marL="0" lvl="0" indent="0" algn="l">
              <a:spcBef>
                <a:spcPts val="0"/>
              </a:spcBef>
              <a:spcAft>
                <a:spcPts val="0"/>
              </a:spcAft>
              <a:buNone/>
            </a:pPr>
            <a:r>
              <a:t>https://github.com/u8026876/comp2120-gyg-a5/tree/main/presentation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Contribution and assistance: Jiajun owns TIKA-4408. Codex assisted the implementation, testing, and presentation preparation. Kyubin supplied independent validation and approved cefa669. The restored code is identical to that reviewed source, and the group review policy retains that approval. Terry supplied additional review feedback. The PR is open, with merge and upstream submission pending. The visual template belongs to the group and was shared by Kyubin.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32a2bfc811483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249cb4c74ff241f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f26ea7433603493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2.xml" Id="Rded1806f54a7445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2.xml" Id="R85ac1fac7585452b" /></Relationships>
</file>

<file path=ppt/slideLayouts/slideLayout1.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11" name="Google Shape;11;p2">
            <a:extLst xmlns:a="http://schemas.openxmlformats.org/drawingml/2006/main">
              <a:ext uri="{FF2B5EF4-FFF2-40B4-BE49-F238E27FC236}">
                <a16:creationId xmlns:a16="http://schemas.microsoft.com/office/drawing/2014/main" id="{4C586275-35EE-4D53-8B0E-CA372666649B}"/>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37844590-E6D8-4C31-966D-A6F32F97FAA3}"/>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15" name="Google Shape;15;p4">
            <a:extLst xmlns:a="http://schemas.openxmlformats.org/drawingml/2006/main">
              <a:ext uri="{FF2B5EF4-FFF2-40B4-BE49-F238E27FC236}">
                <a16:creationId xmlns:a16="http://schemas.microsoft.com/office/drawing/2014/main" id="{2A0A2D37-BA32-4711-8FAF-B346EC8AC357}"/>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16" name="Google Shape;16;p4">
            <a:extLst xmlns:a="http://schemas.openxmlformats.org/drawingml/2006/main">
              <a:ext uri="{FF2B5EF4-FFF2-40B4-BE49-F238E27FC236}">
                <a16:creationId xmlns:a16="http://schemas.microsoft.com/office/drawing/2014/main" id="{333ABD2C-18E0-4D65-8C2F-158C04C5921D}"/>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17" name="Google Shape;17;p4">
            <a:extLst xmlns:a="http://schemas.openxmlformats.org/drawingml/2006/main">
              <a:ext uri="{FF2B5EF4-FFF2-40B4-BE49-F238E27FC236}">
                <a16:creationId xmlns:a16="http://schemas.microsoft.com/office/drawing/2014/main" id="{DE5D9A58-EFA7-4B9D-85E3-C8C975893BB1}"/>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3.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19" name="Google Shape;19;p5">
            <a:extLst xmlns:a="http://schemas.openxmlformats.org/drawingml/2006/main">
              <a:ext uri="{FF2B5EF4-FFF2-40B4-BE49-F238E27FC236}">
                <a16:creationId xmlns:a16="http://schemas.microsoft.com/office/drawing/2014/main" id="{9AE6EE1C-CFC0-43F1-80F7-2BF8A85FCBA2}"/>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0" name="Google Shape;20;p5">
            <a:extLst xmlns:a="http://schemas.openxmlformats.org/drawingml/2006/main">
              <a:ext uri="{FF2B5EF4-FFF2-40B4-BE49-F238E27FC236}">
                <a16:creationId xmlns:a16="http://schemas.microsoft.com/office/drawing/2014/main" id="{22485304-C6F0-486F-8CC4-4C1D6B15FF53}"/>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21" name="Google Shape;21;p5">
            <a:extLst xmlns:a="http://schemas.openxmlformats.org/drawingml/2006/main">
              <a:ext uri="{FF2B5EF4-FFF2-40B4-BE49-F238E27FC236}">
                <a16:creationId xmlns:a16="http://schemas.microsoft.com/office/drawing/2014/main" id="{17907D76-ED81-4202-B67A-E08446262308}"/>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4.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23" name="Google Shape;23;p6">
            <a:extLst xmlns:a="http://schemas.openxmlformats.org/drawingml/2006/main">
              <a:ext uri="{FF2B5EF4-FFF2-40B4-BE49-F238E27FC236}">
                <a16:creationId xmlns:a16="http://schemas.microsoft.com/office/drawing/2014/main" id="{E031D08E-3E1D-469D-959F-089FC2DE6235}"/>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4" name="Google Shape;24;p6">
            <a:extLst xmlns:a="http://schemas.openxmlformats.org/drawingml/2006/main">
              <a:ext uri="{FF2B5EF4-FFF2-40B4-BE49-F238E27FC236}">
                <a16:creationId xmlns:a16="http://schemas.microsoft.com/office/drawing/2014/main" id="{DA4DBAF8-CB00-46C5-AAF4-A4D1F0B25334}"/>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5.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26" name="Google Shape;26;p7">
            <a:extLst xmlns:a="http://schemas.openxmlformats.org/drawingml/2006/main">
              <a:ext uri="{FF2B5EF4-FFF2-40B4-BE49-F238E27FC236}">
                <a16:creationId xmlns:a16="http://schemas.microsoft.com/office/drawing/2014/main" id="{E74DF22A-3D1E-4F0C-898C-E64C54AB65EF}"/>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7" name="Google Shape;27;p7">
            <a:extLst xmlns:a="http://schemas.openxmlformats.org/drawingml/2006/main">
              <a:ext uri="{FF2B5EF4-FFF2-40B4-BE49-F238E27FC236}">
                <a16:creationId xmlns:a16="http://schemas.microsoft.com/office/drawing/2014/main" id="{26BA497F-1F49-4396-BCC0-206F9DCAC1ED}"/>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1cd281fc684975" /><Relationship Type="http://schemas.openxmlformats.org/officeDocument/2006/relationships/slideLayout" Target="/ppt/slideLayouts/slideLayout1.xml" Id="R12b7f7e799fc4576"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13d8073d4e9d4a93" /><Relationship Type="http://schemas.openxmlformats.org/officeDocument/2006/relationships/slideLayout" Target="/ppt/slideLayouts/slideLayout2.xml" Id="R4954a85495ff474e" /><Relationship Type="http://schemas.openxmlformats.org/officeDocument/2006/relationships/slideLayout" Target="/ppt/slideLayouts/slideLayout3.xml" Id="R98ea582f588240b9" /><Relationship Type="http://schemas.openxmlformats.org/officeDocument/2006/relationships/slideLayout" Target="/ppt/slideLayouts/slideLayout4.xml" Id="R4fda7526d9e34c9f" /><Relationship Type="http://schemas.openxmlformats.org/officeDocument/2006/relationships/slideLayout" Target="/ppt/slideLayouts/slideLayout5.xml" Id="Rc4b76bc29c7c4925"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2b7f7e799fc457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51" r:id="R4954a85495ff474e"/>
    <p:sldLayoutId xmlns:r="http://schemas.openxmlformats.org/officeDocument/2006/relationships" id="2147483652" r:id="R98ea582f588240b9"/>
    <p:sldLayoutId xmlns:r="http://schemas.openxmlformats.org/officeDocument/2006/relationships" id="2147483653" r:id="R4fda7526d9e34c9f"/>
    <p:sldLayoutId xmlns:r="http://schemas.openxmlformats.org/officeDocument/2006/relationships" id="2147483654" r:id="Rc4b76bc29c7c4925"/>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5f663a8d872c45a7" /><Relationship Type="http://schemas.openxmlformats.org/officeDocument/2006/relationships/notesSlide" Target="/ppt/notesSlides/notesSlide1.xml" Id="R0fa94a7e461c422e"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7a787417dd98420b" /><Relationship Type="http://schemas.openxmlformats.org/officeDocument/2006/relationships/notesSlide" Target="/ppt/notesSlides/notesSlide2.xml" Id="Rf7e43738b0ed42e5" /></Relationships>
</file>

<file path=ppt/slides/slide1.xml><?xml version="1.0" encoding="utf-8"?>
<p:sld xmlns:p="http://schemas.openxmlformats.org/presentationml/2006/main">
  <p:cSld>
    <p:bg>
      <p:bgPr>
        <a:solidFill xmlns:a="http://schemas.openxmlformats.org/drawingml/2006/main">
          <a:srgbClr val="203B34"/>
        </a:solidFill>
      </p:bgPr>
    </p:bg>
    <p:spTree>
      <p:nvGrpSpPr>
        <p:cNvPr id="1" name=""/>
        <p:cNvGrpSpPr/>
        <p:nvPr/>
      </p:nvGrpSpPr>
      <p:grpSpPr>
        <a:xfrm xmlns:a="http://schemas.openxmlformats.org/drawingml/2006/main"/>
      </p:grpSpPr>
      <p:sp>
        <p:nvSpPr>
          <p:cNvPr id="42" name="Google Shape;42;p9">
            <a:extLst xmlns:a="http://schemas.openxmlformats.org/drawingml/2006/main">
              <a:ext uri="{FF2B5EF4-FFF2-40B4-BE49-F238E27FC236}">
                <a16:creationId xmlns:a16="http://schemas.microsoft.com/office/drawing/2014/main" id="{693AB28B-9CFC-4D75-AFE4-7B462C5D448D}"/>
              </a:ext>
            </a:extLst>
          </p:cNvPr>
          <p:cNvSpPr>
            <a:spLocks xmlns:a="http://schemas.openxmlformats.org/drawingml/2006/main" noGrp="1"/>
          </p:cNvSpPr>
          <p:nvPr/>
        </p:nvSpPr>
        <p:spPr>
          <a:xfrm xmlns:a="http://schemas.openxmlformats.org/drawingml/2006/main">
            <a:off x="0" y="3835400"/>
            <a:ext cx="12192000" cy="3022500"/>
          </a:xfrm>
          <a:prstGeom xmlns:a="http://schemas.openxmlformats.org/drawingml/2006/main" prst="rect">
            <a:avLst/>
          </a:prstGeom>
          <a:solidFill xmlns:a="http://schemas.openxmlformats.org/drawingml/2006/main">
            <a:srgbClr val="F0E8D9"/>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43" name="Google Shape;43;p9">
            <a:extLst xmlns:a="http://schemas.openxmlformats.org/drawingml/2006/main">
              <a:ext uri="{FF2B5EF4-FFF2-40B4-BE49-F238E27FC236}">
                <a16:creationId xmlns:a16="http://schemas.microsoft.com/office/drawing/2014/main" id="{0E1EB557-327A-4FE2-A99C-52BABA6DE2D7}"/>
              </a:ext>
            </a:extLst>
          </p:cNvPr>
          <p:cNvSpPr>
            <a:spLocks xmlns:a="http://schemas.openxmlformats.org/drawingml/2006/main" noGrp="1"/>
          </p:cNvSpPr>
          <p:nvPr/>
        </p:nvSpPr>
        <p:spPr>
          <a:xfrm xmlns:a="http://schemas.openxmlformats.org/drawingml/2006/main">
            <a:off x="609600" y="330200"/>
            <a:ext cx="9651900" cy="27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00">
                <a:solidFill>
                  <a:srgbClr val="B8C7AB"/>
                </a:solidFill>
                <a:latin typeface="Roboto Mono"/>
                <a:ea typeface="Roboto Mono"/>
                <a:cs typeface="Roboto Mono"/>
              </a:rPr>
              <a:t>TIKA-4408 / INTERESTING FINDINGS</a:t>
            </a:r>
            <a:endParaRPr sz="1100">
              <a:solidFill>
                <a:srgbClr val="B8C7AB"/>
              </a:solidFill>
              <a:latin typeface="Roboto Mono"/>
              <a:ea typeface="Roboto Mono"/>
              <a:cs typeface="Roboto Mono"/>
            </a:endParaRPr>
          </a:p>
        </p:txBody>
      </p:sp>
      <p:sp>
        <p:nvSpPr>
          <p:cNvPr id="44" name="Google Shape;44;p9">
            <a:extLst xmlns:a="http://schemas.openxmlformats.org/drawingml/2006/main">
              <a:ext uri="{FF2B5EF4-FFF2-40B4-BE49-F238E27FC236}">
                <a16:creationId xmlns:a16="http://schemas.microsoft.com/office/drawing/2014/main" id="{1A3CE437-A2A1-4D8A-AA49-DB4AE1B4F043}"/>
              </a:ext>
            </a:extLst>
          </p:cNvPr>
          <p:cNvSpPr>
            <a:spLocks xmlns:a="http://schemas.openxmlformats.org/drawingml/2006/main" noGrp="1"/>
          </p:cNvSpPr>
          <p:nvPr/>
        </p:nvSpPr>
        <p:spPr>
          <a:xfrm xmlns:a="http://schemas.openxmlformats.org/drawingml/2006/main">
            <a:off x="10871200" y="330200"/>
            <a:ext cx="711300" cy="27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100">
                <a:solidFill>
                  <a:srgbClr val="B8C7AB"/>
                </a:solidFill>
                <a:latin typeface="Roboto Mono"/>
                <a:ea typeface="Roboto Mono"/>
                <a:cs typeface="Roboto Mono"/>
              </a:rPr>
              <a:t>01</a:t>
            </a:r>
            <a:endParaRPr sz="1100">
              <a:solidFill>
                <a:srgbClr val="B8C7AB"/>
              </a:solidFill>
              <a:latin typeface="Roboto Mono"/>
              <a:ea typeface="Roboto Mono"/>
              <a:cs typeface="Roboto Mono"/>
            </a:endParaRPr>
          </a:p>
        </p:txBody>
      </p:sp>
      <p:sp>
        <p:nvSpPr>
          <p:cNvPr id="45" name="Google Shape;45;p9">
            <a:extLst xmlns:a="http://schemas.openxmlformats.org/drawingml/2006/main">
              <a:ext uri="{FF2B5EF4-FFF2-40B4-BE49-F238E27FC236}">
                <a16:creationId xmlns:a16="http://schemas.microsoft.com/office/drawing/2014/main" id="{9DC29648-34FB-415B-8E40-E1BDE594499A}"/>
              </a:ext>
            </a:extLst>
          </p:cNvPr>
          <p:cNvSpPr>
            <a:spLocks xmlns:a="http://schemas.openxmlformats.org/drawingml/2006/main" noGrp="1"/>
          </p:cNvSpPr>
          <p:nvPr>
            <p:ph type="title" idx="0"/>
          </p:nvPr>
        </p:nvSpPr>
        <p:spPr>
          <a:xfrm xmlns:a="http://schemas.openxmlformats.org/drawingml/2006/main">
            <a:off x="609600" y="952500"/>
            <a:ext cx="10972800" cy="9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3300"/>
            </a:defPPr>
            <a:lvl1pPr>
              <a:defRPr sz="3300"/>
            </a:lvl1pPr>
            <a:lvl2pPr>
              <a:defRPr sz="3300"/>
            </a:lvl2pPr>
            <a:lvl3pPr>
              <a:defRPr sz="3300"/>
            </a:lvl3pPr>
            <a:lvl4pPr>
              <a:defRPr sz="3300"/>
            </a:lvl4pPr>
            <a:lvl5pPr>
              <a:defRPr sz="3300"/>
            </a:lvl5pPr>
            <a:lvl6pPr>
              <a:defRPr sz="3300"/>
            </a:lvl6pPr>
            <a:lvl7pPr>
              <a:defRPr sz="3300"/>
            </a:lvl7pPr>
            <a:lvl8pPr>
              <a:defRPr sz="3300"/>
            </a:lvl8pPr>
            <a:lvl9pPr>
              <a:defRPr sz="3300"/>
            </a:lvl9pPr>
          </a:lstStyle>
          <a:p xmlns:a="http://schemas.openxmlformats.org/drawingml/2006/main">
            <a:pPr marL="0" marR="0" lvl="0" indent="0" algn="l">
              <a:spcBef>
                <a:spcPts val="0"/>
              </a:spcBef>
              <a:spcAft>
                <a:spcPts val="0"/>
              </a:spcAft>
              <a:buNone/>
              <a:defRPr sz="3300"/>
            </a:pPr>
            <a:r>
              <a:rPr sz="3300" b="1">
                <a:solidFill>
                  <a:srgbClr val="F0E8D9"/>
                </a:solidFill>
                <a:latin typeface="Manrope"/>
                <a:ea typeface="Manrope"/>
                <a:cs typeface="Manrope"/>
              </a:rPr>
              <a:t>What we found interesting</a:t>
            </a:r>
            <a:endParaRPr sz="3500" b="1">
              <a:solidFill>
                <a:srgbClr val="F0E8D9"/>
              </a:solidFill>
              <a:latin typeface="Manrope"/>
              <a:ea typeface="Manrope"/>
              <a:cs typeface="Manrope"/>
            </a:endParaRPr>
          </a:p>
        </p:txBody>
      </p:sp>
      <p:sp>
        <p:nvSpPr>
          <p:cNvPr id="46" name="Google Shape;46;p9">
            <a:extLst xmlns:a="http://schemas.openxmlformats.org/drawingml/2006/main">
              <a:ext uri="{FF2B5EF4-FFF2-40B4-BE49-F238E27FC236}">
                <a16:creationId xmlns:a16="http://schemas.microsoft.com/office/drawing/2014/main" id="{9FD4A54D-A6FC-466C-9CDB-114E602B9070}"/>
              </a:ext>
            </a:extLst>
          </p:cNvPr>
          <p:cNvSpPr>
            <a:spLocks xmlns:a="http://schemas.openxmlformats.org/drawingml/2006/main" noGrp="1"/>
          </p:cNvSpPr>
          <p:nvPr/>
        </p:nvSpPr>
        <p:spPr>
          <a:xfrm xmlns:a="http://schemas.openxmlformats.org/drawingml/2006/main">
            <a:off x="7620000" y="6578600"/>
            <a:ext cx="3962400" cy="20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900">
                <a:solidFill>
                  <a:srgbClr val="203B34"/>
                </a:solidFill>
                <a:latin typeface="Manrope"/>
                <a:ea typeface="Manrope"/>
                <a:cs typeface="Manrope"/>
              </a:rPr>
              <a:t>Jiajun Li / TIKA-4408</a:t>
            </a:r>
            <a:endParaRPr sz="900">
              <a:solidFill>
                <a:srgbClr val="203B34"/>
              </a:solidFill>
              <a:latin typeface="Manrope"/>
              <a:ea typeface="Manrope"/>
              <a:cs typeface="Manrope"/>
            </a:endParaRPr>
          </a:p>
        </p:txBody>
      </p:sp>
      <p:sp>
        <p:nvSpPr>
          <p:cNvPr id="47" name="Google Shape;47;p9">
            <a:extLst xmlns:a="http://schemas.openxmlformats.org/drawingml/2006/main">
              <a:ext uri="{FF2B5EF4-FFF2-40B4-BE49-F238E27FC236}">
                <a16:creationId xmlns:a16="http://schemas.microsoft.com/office/drawing/2014/main" id="{51995341-984C-46A1-B966-275F91866545}"/>
              </a:ext>
            </a:extLst>
          </p:cNvPr>
          <p:cNvSpPr>
            <a:spLocks xmlns:a="http://schemas.openxmlformats.org/drawingml/2006/main" noGrp="1"/>
          </p:cNvSpPr>
          <p:nvPr/>
        </p:nvSpPr>
        <p:spPr>
          <a:xfrm xmlns:a="http://schemas.openxmlformats.org/drawingml/2006/main">
            <a:off x="609600" y="4152900"/>
            <a:ext cx="5079900" cy="33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300"/>
            </a:defPPr>
            <a:lvl1pPr>
              <a:defRPr sz="1300"/>
            </a:lvl1pPr>
            <a:lvl2pPr>
              <a:defRPr sz="1300"/>
            </a:lvl2pPr>
            <a:lvl3pPr>
              <a:defRPr sz="1300"/>
            </a:lvl3pPr>
            <a:lvl4pPr>
              <a:defRPr sz="1300"/>
            </a:lvl4pPr>
            <a:lvl5pPr>
              <a:defRPr sz="1300"/>
            </a:lvl5pPr>
            <a:lvl6pPr>
              <a:defRPr sz="1300"/>
            </a:lvl6pPr>
            <a:lvl7pPr>
              <a:defRPr sz="1300"/>
            </a:lvl7pPr>
            <a:lvl8pPr>
              <a:defRPr sz="1300"/>
            </a:lvl8pPr>
            <a:lvl9pPr>
              <a:defRPr sz="1300"/>
            </a:lvl9pPr>
          </a:lstStyle>
          <a:p xmlns:a="http://schemas.openxmlformats.org/drawingml/2006/main">
            <a:pPr marL="0" marR="0" lvl="0" indent="0" algn="l">
              <a:spcBef>
                <a:spcPts val="0"/>
              </a:spcBef>
              <a:spcAft>
                <a:spcPts val="0"/>
              </a:spcAft>
              <a:buNone/>
              <a:defRPr sz="1300"/>
            </a:pPr>
            <a:r>
              <a:rPr sz="1300" b="1">
                <a:solidFill>
                  <a:srgbClr val="A14F37"/>
                </a:solidFill>
                <a:latin typeface="Manrope"/>
                <a:ea typeface="Manrope"/>
                <a:cs typeface="Manrope"/>
              </a:rPr>
              <a:t>CONTENT ONLY</a:t>
            </a:r>
            <a:endParaRPr sz="1200" b="1">
              <a:solidFill>
                <a:srgbClr val="A14F37"/>
              </a:solidFill>
              <a:latin typeface="Manrope"/>
              <a:ea typeface="Manrope"/>
              <a:cs typeface="Manrope"/>
            </a:endParaRPr>
          </a:p>
        </p:txBody>
      </p:sp>
      <p:sp>
        <p:nvSpPr>
          <p:cNvPr id="48" name="Google Shape;48;p9">
            <a:extLst xmlns:a="http://schemas.openxmlformats.org/drawingml/2006/main">
              <a:ext uri="{FF2B5EF4-FFF2-40B4-BE49-F238E27FC236}">
                <a16:creationId xmlns:a16="http://schemas.microsoft.com/office/drawing/2014/main" id="{85295178-22D5-4A0F-B14E-24B4F193A8EF}"/>
              </a:ext>
            </a:extLst>
          </p:cNvPr>
          <p:cNvSpPr>
            <a:spLocks xmlns:a="http://schemas.openxmlformats.org/drawingml/2006/main" noGrp="1"/>
          </p:cNvSpPr>
          <p:nvPr/>
        </p:nvSpPr>
        <p:spPr>
          <a:xfrm xmlns:a="http://schemas.openxmlformats.org/drawingml/2006/main">
            <a:off x="6604000" y="4152900"/>
            <a:ext cx="4978500" cy="33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300"/>
            </a:defPPr>
            <a:lvl1pPr>
              <a:defRPr sz="1300"/>
            </a:lvl1pPr>
            <a:lvl2pPr>
              <a:defRPr sz="1300"/>
            </a:lvl2pPr>
            <a:lvl3pPr>
              <a:defRPr sz="1300"/>
            </a:lvl3pPr>
            <a:lvl4pPr>
              <a:defRPr sz="1300"/>
            </a:lvl4pPr>
            <a:lvl5pPr>
              <a:defRPr sz="1300"/>
            </a:lvl5pPr>
            <a:lvl6pPr>
              <a:defRPr sz="1300"/>
            </a:lvl6pPr>
            <a:lvl7pPr>
              <a:defRPr sz="1300"/>
            </a:lvl7pPr>
            <a:lvl8pPr>
              <a:defRPr sz="1300"/>
            </a:lvl8pPr>
            <a:lvl9pPr>
              <a:defRPr sz="1300"/>
            </a:lvl9pPr>
          </a:lstStyle>
          <a:p xmlns:a="http://schemas.openxmlformats.org/drawingml/2006/main">
            <a:pPr marL="0" marR="0" lvl="0" indent="0" algn="l">
              <a:spcBef>
                <a:spcPts val="0"/>
              </a:spcBef>
              <a:spcAft>
                <a:spcPts val="0"/>
              </a:spcAft>
              <a:buNone/>
              <a:defRPr sz="1300"/>
            </a:pPr>
            <a:r>
              <a:rPr sz="1300" b="1">
                <a:solidFill>
                  <a:srgbClr val="203B34"/>
                </a:solidFill>
                <a:latin typeface="Manrope"/>
                <a:ea typeface="Manrope"/>
                <a:cs typeface="Manrope"/>
              </a:rPr>
              <a:t>WITH script.py</a:t>
            </a:r>
            <a:endParaRPr sz="1200" b="1">
              <a:solidFill>
                <a:srgbClr val="203B34"/>
              </a:solidFill>
              <a:latin typeface="Manrope"/>
              <a:ea typeface="Manrope"/>
              <a:cs typeface="Manrope"/>
            </a:endParaRPr>
          </a:p>
        </p:txBody>
      </p:sp>
      <p:sp>
        <p:nvSpPr>
          <p:cNvPr id="49" name="Google Shape;49;p9">
            <a:extLst xmlns:a="http://schemas.openxmlformats.org/drawingml/2006/main">
              <a:ext uri="{FF2B5EF4-FFF2-40B4-BE49-F238E27FC236}">
                <a16:creationId xmlns:a16="http://schemas.microsoft.com/office/drawing/2014/main" id="{B2BFEBAC-4480-4460-99E5-AEA74FA4524C}"/>
              </a:ext>
            </a:extLst>
          </p:cNvPr>
          <p:cNvSpPr>
            <a:spLocks xmlns:a="http://schemas.openxmlformats.org/drawingml/2006/main" noGrp="1"/>
          </p:cNvSpPr>
          <p:nvPr/>
        </p:nvSpPr>
        <p:spPr>
          <a:xfrm xmlns:a="http://schemas.openxmlformats.org/drawingml/2006/main">
            <a:off x="609600" y="2257425"/>
            <a:ext cx="109728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4200">
                <a:solidFill>
                  <a:srgbClr val="F0E8D9"/>
                </a:solidFill>
                <a:latin typeface="Roboto Mono"/>
                <a:ea typeface="Roboto Mono"/>
                <a:cs typeface="Roboto Mono"/>
              </a:defRPr>
            </a:defPPr>
            <a:lvl1pPr>
              <a:defRPr sz="4200">
                <a:solidFill>
                  <a:srgbClr val="F0E8D9"/>
                </a:solidFill>
                <a:latin typeface="Roboto Mono"/>
                <a:ea typeface="Roboto Mono"/>
                <a:cs typeface="Roboto Mono"/>
              </a:defRPr>
            </a:lvl1pPr>
            <a:lvl2pPr>
              <a:defRPr sz="4200">
                <a:solidFill>
                  <a:srgbClr val="F0E8D9"/>
                </a:solidFill>
                <a:latin typeface="Roboto Mono"/>
                <a:ea typeface="Roboto Mono"/>
                <a:cs typeface="Roboto Mono"/>
              </a:defRPr>
            </a:lvl2pPr>
            <a:lvl3pPr>
              <a:defRPr sz="4200">
                <a:solidFill>
                  <a:srgbClr val="F0E8D9"/>
                </a:solidFill>
                <a:latin typeface="Roboto Mono"/>
                <a:ea typeface="Roboto Mono"/>
                <a:cs typeface="Roboto Mono"/>
              </a:defRPr>
            </a:lvl3pPr>
            <a:lvl4pPr>
              <a:defRPr sz="4200">
                <a:solidFill>
                  <a:srgbClr val="F0E8D9"/>
                </a:solidFill>
                <a:latin typeface="Roboto Mono"/>
                <a:ea typeface="Roboto Mono"/>
                <a:cs typeface="Roboto Mono"/>
              </a:defRPr>
            </a:lvl4pPr>
            <a:lvl5pPr>
              <a:defRPr sz="4200">
                <a:solidFill>
                  <a:srgbClr val="F0E8D9"/>
                </a:solidFill>
                <a:latin typeface="Roboto Mono"/>
                <a:ea typeface="Roboto Mono"/>
                <a:cs typeface="Roboto Mono"/>
              </a:defRPr>
            </a:lvl5pPr>
            <a:lvl6pPr>
              <a:defRPr sz="4200">
                <a:solidFill>
                  <a:srgbClr val="F0E8D9"/>
                </a:solidFill>
                <a:latin typeface="Roboto Mono"/>
                <a:ea typeface="Roboto Mono"/>
                <a:cs typeface="Roboto Mono"/>
              </a:defRPr>
            </a:lvl6pPr>
            <a:lvl7pPr>
              <a:defRPr sz="4200">
                <a:solidFill>
                  <a:srgbClr val="F0E8D9"/>
                </a:solidFill>
                <a:latin typeface="Roboto Mono"/>
                <a:ea typeface="Roboto Mono"/>
                <a:cs typeface="Roboto Mono"/>
              </a:defRPr>
            </a:lvl7pPr>
            <a:lvl8pPr>
              <a:defRPr sz="4200">
                <a:solidFill>
                  <a:srgbClr val="F0E8D9"/>
                </a:solidFill>
                <a:latin typeface="Roboto Mono"/>
                <a:ea typeface="Roboto Mono"/>
                <a:cs typeface="Roboto Mono"/>
              </a:defRPr>
            </a:lvl8pPr>
            <a:lvl9pPr>
              <a:defRPr sz="4200">
                <a:solidFill>
                  <a:srgbClr val="F0E8D9"/>
                </a:solidFill>
                <a:latin typeface="Roboto Mono"/>
                <a:ea typeface="Roboto Mono"/>
                <a:cs typeface="Roboto Mono"/>
              </a:defRPr>
            </a:lvl9pPr>
          </a:lstStyle>
          <a:p xmlns:a="http://schemas.openxmlformats.org/drawingml/2006/main">
            <a:pPr marL="0" marR="0" lvl="0" indent="0" algn="l">
              <a:spcBef>
                <a:spcPts val="0"/>
              </a:spcBef>
              <a:spcAft>
                <a:spcPts val="0"/>
              </a:spcAft>
              <a:buNone/>
              <a:defRPr sz="4200">
                <a:solidFill>
                  <a:srgbClr val="F0E8D9"/>
                </a:solidFill>
                <a:latin typeface="Roboto Mono"/>
                <a:ea typeface="Roboto Mono"/>
                <a:cs typeface="Roboto Mono"/>
              </a:defRPr>
            </a:pPr>
            <a:r>
              <a:rPr sz="4200">
                <a:solidFill>
                  <a:srgbClr val="F0E8D9"/>
                </a:solidFill>
                <a:latin typeface="Roboto Mono"/>
                <a:ea typeface="Roboto Mono"/>
                <a:cs typeface="Roboto Mono"/>
              </a:rPr>
              <a:t>#! /usr/bin/env </a:t>
            </a:r>
            <a:r>
              <a:rPr sz="4200">
                <a:solidFill>
                  <a:srgbClr val="D99575"/>
                </a:solidFill>
                <a:latin typeface="Roboto Mono"/>
                <a:ea typeface="Roboto Mono"/>
                <a:cs typeface="Roboto Mono"/>
              </a:rPr>
              <a:t>python3</a:t>
            </a:r>
            <a:endParaRPr sz="4800">
              <a:solidFill>
                <a:srgbClr val="F0E8D9"/>
              </a:solidFill>
              <a:latin typeface="Roboto Mono"/>
              <a:ea typeface="Roboto Mono"/>
              <a:cs typeface="Roboto Mono"/>
            </a:endParaRPr>
          </a:p>
        </p:txBody>
      </p:sp>
      <p:sp>
        <p:nvSpPr>
          <p:cNvPr id="50" name="Google Shape;50;p9">
            <a:extLst xmlns:a="http://schemas.openxmlformats.org/drawingml/2006/main">
              <a:ext uri="{FF2B5EF4-FFF2-40B4-BE49-F238E27FC236}">
                <a16:creationId xmlns:a16="http://schemas.microsoft.com/office/drawing/2014/main" id="{D24BBACE-E19E-4394-B7EB-A866A450D6A5}"/>
              </a:ext>
            </a:extLst>
          </p:cNvPr>
          <p:cNvSpPr>
            <a:spLocks xmlns:a="http://schemas.openxmlformats.org/drawingml/2006/main" noGrp="1"/>
          </p:cNvSpPr>
          <p:nvPr/>
        </p:nvSpPr>
        <p:spPr>
          <a:xfrm xmlns:a="http://schemas.openxmlformats.org/drawingml/2006/main">
            <a:off x="609600" y="4673600"/>
            <a:ext cx="53340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000">
                <a:latin typeface="Manrope"/>
                <a:ea typeface="Manrope"/>
                <a:cs typeface="Manrope"/>
              </a:defRPr>
            </a:defPPr>
            <a:lvl1pPr>
              <a:defRPr sz="2000">
                <a:latin typeface="Manrope"/>
                <a:ea typeface="Manrope"/>
                <a:cs typeface="Manrope"/>
              </a:defRPr>
            </a:lvl1pPr>
            <a:lvl2pPr>
              <a:defRPr sz="2000">
                <a:latin typeface="Manrope"/>
                <a:ea typeface="Manrope"/>
                <a:cs typeface="Manrope"/>
              </a:defRPr>
            </a:lvl2pPr>
            <a:lvl3pPr>
              <a:defRPr sz="2000">
                <a:latin typeface="Manrope"/>
                <a:ea typeface="Manrope"/>
                <a:cs typeface="Manrope"/>
              </a:defRPr>
            </a:lvl3pPr>
            <a:lvl4pPr>
              <a:defRPr sz="2000">
                <a:latin typeface="Manrope"/>
                <a:ea typeface="Manrope"/>
                <a:cs typeface="Manrope"/>
              </a:defRPr>
            </a:lvl4pPr>
            <a:lvl5pPr>
              <a:defRPr sz="2000">
                <a:latin typeface="Manrope"/>
                <a:ea typeface="Manrope"/>
                <a:cs typeface="Manrope"/>
              </a:defRPr>
            </a:lvl5pPr>
            <a:lvl6pPr>
              <a:defRPr sz="2000">
                <a:latin typeface="Manrope"/>
                <a:ea typeface="Manrope"/>
                <a:cs typeface="Manrope"/>
              </a:defRPr>
            </a:lvl6pPr>
            <a:lvl7pPr>
              <a:defRPr sz="2000">
                <a:latin typeface="Manrope"/>
                <a:ea typeface="Manrope"/>
                <a:cs typeface="Manrope"/>
              </a:defRPr>
            </a:lvl7pPr>
            <a:lvl8pPr>
              <a:defRPr sz="2000">
                <a:latin typeface="Manrope"/>
                <a:ea typeface="Manrope"/>
                <a:cs typeface="Manrope"/>
              </a:defRPr>
            </a:lvl8pPr>
            <a:lvl9pPr>
              <a:defRPr sz="2000">
                <a:latin typeface="Manrope"/>
                <a:ea typeface="Manrope"/>
                <a:cs typeface="Manrope"/>
              </a:defRPr>
            </a:lvl9pPr>
          </a:lstStyle>
          <a:p xmlns:a="http://schemas.openxmlformats.org/drawingml/2006/main">
            <a:pPr marL="0" marR="0" lvl="0" indent="0" algn="l">
              <a:spcBef>
                <a:spcPts val="0"/>
              </a:spcBef>
              <a:spcAft>
                <a:spcPts val="0"/>
              </a:spcAft>
              <a:buNone/>
              <a:defRPr sz="2000">
                <a:latin typeface="Manrope"/>
                <a:ea typeface="Manrope"/>
                <a:cs typeface="Manrope"/>
              </a:defRPr>
            </a:pPr>
            <a:r>
              <a:rPr sz="2000">
                <a:solidFill>
                  <a:srgbClr val="203B34"/>
                </a:solidFill>
                <a:latin typeface="Manrope"/>
                <a:ea typeface="Manrope"/>
                <a:cs typeface="Manrope"/>
              </a:rPr>
              <a:t>No filename hint</a:t>
            </a:r>
            <a:endParaRPr sz="1900">
              <a:solidFill>
                <a:srgbClr val="203B34"/>
              </a:solidFill>
              <a:latin typeface="Roboto Mono"/>
              <a:ea typeface="Roboto Mono"/>
              <a:cs typeface="Roboto Mono"/>
            </a:endParaRPr>
          </a:p>
        </p:txBody>
      </p:sp>
      <p:sp>
        <p:nvSpPr>
          <p:cNvPr id="51" name="Google Shape;51;p9">
            <a:extLst xmlns:a="http://schemas.openxmlformats.org/drawingml/2006/main">
              <a:ext uri="{FF2B5EF4-FFF2-40B4-BE49-F238E27FC236}">
                <a16:creationId xmlns:a16="http://schemas.microsoft.com/office/drawing/2014/main" id="{5D25A672-DEBE-4E8F-BC10-F12A5A6FF8FF}"/>
              </a:ext>
            </a:extLst>
          </p:cNvPr>
          <p:cNvSpPr>
            <a:spLocks xmlns:a="http://schemas.openxmlformats.org/drawingml/2006/main" noGrp="1"/>
          </p:cNvSpPr>
          <p:nvPr/>
        </p:nvSpPr>
        <p:spPr>
          <a:xfrm xmlns:a="http://schemas.openxmlformats.org/drawingml/2006/main">
            <a:off x="6604000" y="4673600"/>
            <a:ext cx="49785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000">
                <a:latin typeface="Manrope"/>
                <a:ea typeface="Manrope"/>
                <a:cs typeface="Manrope"/>
              </a:defRPr>
            </a:defPPr>
            <a:lvl1pPr>
              <a:defRPr sz="2000">
                <a:latin typeface="Manrope"/>
                <a:ea typeface="Manrope"/>
                <a:cs typeface="Manrope"/>
              </a:defRPr>
            </a:lvl1pPr>
            <a:lvl2pPr>
              <a:defRPr sz="2000">
                <a:latin typeface="Manrope"/>
                <a:ea typeface="Manrope"/>
                <a:cs typeface="Manrope"/>
              </a:defRPr>
            </a:lvl2pPr>
            <a:lvl3pPr>
              <a:defRPr sz="2000">
                <a:latin typeface="Manrope"/>
                <a:ea typeface="Manrope"/>
                <a:cs typeface="Manrope"/>
              </a:defRPr>
            </a:lvl3pPr>
            <a:lvl4pPr>
              <a:defRPr sz="2000">
                <a:latin typeface="Manrope"/>
                <a:ea typeface="Manrope"/>
                <a:cs typeface="Manrope"/>
              </a:defRPr>
            </a:lvl4pPr>
            <a:lvl5pPr>
              <a:defRPr sz="2000">
                <a:latin typeface="Manrope"/>
                <a:ea typeface="Manrope"/>
                <a:cs typeface="Manrope"/>
              </a:defRPr>
            </a:lvl5pPr>
            <a:lvl6pPr>
              <a:defRPr sz="2000">
                <a:latin typeface="Manrope"/>
                <a:ea typeface="Manrope"/>
                <a:cs typeface="Manrope"/>
              </a:defRPr>
            </a:lvl6pPr>
            <a:lvl7pPr>
              <a:defRPr sz="2000">
                <a:latin typeface="Manrope"/>
                <a:ea typeface="Manrope"/>
                <a:cs typeface="Manrope"/>
              </a:defRPr>
            </a:lvl7pPr>
            <a:lvl8pPr>
              <a:defRPr sz="2000">
                <a:latin typeface="Manrope"/>
                <a:ea typeface="Manrope"/>
                <a:cs typeface="Manrope"/>
              </a:defRPr>
            </a:lvl8pPr>
            <a:lvl9pPr>
              <a:defRPr sz="2000">
                <a:latin typeface="Manrope"/>
                <a:ea typeface="Manrope"/>
                <a:cs typeface="Manrope"/>
              </a:defRPr>
            </a:lvl9pPr>
          </a:lstStyle>
          <a:p xmlns:a="http://schemas.openxmlformats.org/drawingml/2006/main">
            <a:pPr marL="0" marR="0" lvl="0" indent="0" algn="l">
              <a:spcBef>
                <a:spcPts val="0"/>
              </a:spcBef>
              <a:spcAft>
                <a:spcPts val="0"/>
              </a:spcAft>
              <a:buNone/>
              <a:defRPr sz="2000">
                <a:latin typeface="Manrope"/>
                <a:ea typeface="Manrope"/>
                <a:cs typeface="Manrope"/>
              </a:defRPr>
            </a:pPr>
            <a:r>
              <a:rPr sz="2000">
                <a:solidFill>
                  <a:srgbClr val="203B34"/>
                </a:solidFill>
                <a:latin typeface="Manrope"/>
                <a:ea typeface="Manrope"/>
                <a:cs typeface="Manrope"/>
              </a:rPr>
              <a:t>Same file content</a:t>
            </a:r>
            <a:endParaRPr sz="2200">
              <a:solidFill>
                <a:srgbClr val="203B34"/>
              </a:solidFill>
              <a:latin typeface="Roboto Mono"/>
              <a:ea typeface="Roboto Mono"/>
              <a:cs typeface="Roboto Mono"/>
            </a:endParaRPr>
          </a:p>
          <a:p xmlns:a="http://schemas.openxmlformats.org/drawingml/2006/main">
            <a:pPr marL="0" marR="0" lvl="0" indent="0" algn="l">
              <a:spcBef>
                <a:spcPts val="0"/>
              </a:spcBef>
              <a:spcAft>
                <a:spcPts val="0"/>
              </a:spcAft>
              <a:buNone/>
              <a:defRPr sz="2000">
                <a:latin typeface="Manrope"/>
                <a:ea typeface="Manrope"/>
                <a:cs typeface="Manrope"/>
              </a:defRPr>
            </a:pPr>
            <a:r>
              <a:rPr sz="2000">
                <a:solidFill>
                  <a:srgbClr val="203B34"/>
                </a:solidFill>
                <a:latin typeface="Manrope"/>
                <a:ea typeface="Manrope"/>
                <a:cs typeface="Manrope"/>
              </a:rPr>
              <a:t>Python filename hint</a:t>
            </a:r>
            <a:endParaRPr sz="2200">
              <a:solidFill>
                <a:srgbClr val="203B34"/>
              </a:solidFill>
              <a:latin typeface="Roboto Mono"/>
              <a:ea typeface="Roboto Mono"/>
              <a:cs typeface="Roboto Mono"/>
            </a:endParaRPr>
          </a:p>
        </p:txBody>
      </p:sp>
      <p:sp>
        <p:nvSpPr>
          <p:cNvPr id="52" name="Google Shape;52;p9">
            <a:extLst xmlns:a="http://schemas.openxmlformats.org/drawingml/2006/main">
              <a:ext uri="{FF2B5EF4-FFF2-40B4-BE49-F238E27FC236}">
                <a16:creationId xmlns:a16="http://schemas.microsoft.com/office/drawing/2014/main" id="{FF171CFB-AAE2-4E29-B37D-5172638ADFDC}"/>
              </a:ext>
            </a:extLst>
          </p:cNvPr>
          <p:cNvSpPr>
            <a:spLocks xmlns:a="http://schemas.openxmlformats.org/drawingml/2006/main" noGrp="1"/>
          </p:cNvSpPr>
          <p:nvPr/>
        </p:nvSpPr>
        <p:spPr>
          <a:xfrm xmlns:a="http://schemas.openxmlformats.org/drawingml/2006/main">
            <a:off x="6604000" y="5562600"/>
            <a:ext cx="4978500" cy="55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b="1">
                <a:latin typeface="Roboto Mono"/>
                <a:ea typeface="Roboto Mono"/>
                <a:cs typeface="Roboto Mono"/>
              </a:defRPr>
            </a:defPPr>
            <a:lvl1pPr>
              <a:defRPr sz="2400" b="1">
                <a:latin typeface="Roboto Mono"/>
                <a:ea typeface="Roboto Mono"/>
                <a:cs typeface="Roboto Mono"/>
              </a:defRPr>
            </a:lvl1pPr>
            <a:lvl2pPr>
              <a:defRPr sz="2400" b="1">
                <a:latin typeface="Roboto Mono"/>
                <a:ea typeface="Roboto Mono"/>
                <a:cs typeface="Roboto Mono"/>
              </a:defRPr>
            </a:lvl2pPr>
            <a:lvl3pPr>
              <a:defRPr sz="2400" b="1">
                <a:latin typeface="Roboto Mono"/>
                <a:ea typeface="Roboto Mono"/>
                <a:cs typeface="Roboto Mono"/>
              </a:defRPr>
            </a:lvl3pPr>
            <a:lvl4pPr>
              <a:defRPr sz="2400" b="1">
                <a:latin typeface="Roboto Mono"/>
                <a:ea typeface="Roboto Mono"/>
                <a:cs typeface="Roboto Mono"/>
              </a:defRPr>
            </a:lvl4pPr>
            <a:lvl5pPr>
              <a:defRPr sz="2400" b="1">
                <a:latin typeface="Roboto Mono"/>
                <a:ea typeface="Roboto Mono"/>
                <a:cs typeface="Roboto Mono"/>
              </a:defRPr>
            </a:lvl5pPr>
            <a:lvl6pPr>
              <a:defRPr sz="2400" b="1">
                <a:latin typeface="Roboto Mono"/>
                <a:ea typeface="Roboto Mono"/>
                <a:cs typeface="Roboto Mono"/>
              </a:defRPr>
            </a:lvl6pPr>
            <a:lvl7pPr>
              <a:defRPr sz="2400" b="1">
                <a:latin typeface="Roboto Mono"/>
                <a:ea typeface="Roboto Mono"/>
                <a:cs typeface="Roboto Mono"/>
              </a:defRPr>
            </a:lvl7pPr>
            <a:lvl8pPr>
              <a:defRPr sz="2400" b="1">
                <a:latin typeface="Roboto Mono"/>
                <a:ea typeface="Roboto Mono"/>
                <a:cs typeface="Roboto Mono"/>
              </a:defRPr>
            </a:lvl8pPr>
            <a:lvl9pPr>
              <a:defRPr sz="2400" b="1">
                <a:latin typeface="Roboto Mono"/>
                <a:ea typeface="Roboto Mono"/>
                <a:cs typeface="Roboto Mono"/>
              </a:defRPr>
            </a:lvl9pPr>
          </a:lstStyle>
          <a:p xmlns:a="http://schemas.openxmlformats.org/drawingml/2006/main">
            <a:pPr marL="0" marR="0" lvl="0" indent="0" algn="l">
              <a:spcBef>
                <a:spcPts val="0"/>
              </a:spcBef>
              <a:spcAft>
                <a:spcPts val="0"/>
              </a:spcAft>
              <a:buNone/>
              <a:defRPr sz="2400" b="1">
                <a:latin typeface="Roboto Mono"/>
                <a:ea typeface="Roboto Mono"/>
                <a:cs typeface="Roboto Mono"/>
              </a:defRPr>
            </a:pPr>
            <a:r>
              <a:rPr sz="2400" b="1">
                <a:solidFill>
                  <a:srgbClr val="203B34"/>
                </a:solidFill>
                <a:latin typeface="Roboto Mono"/>
                <a:ea typeface="Roboto Mono"/>
                <a:cs typeface="Roboto Mono"/>
              </a:rPr>
              <a:t>text/x-python</a:t>
            </a:r>
            <a:endParaRPr sz="2600" b="1">
              <a:solidFill>
                <a:srgbClr val="203B34"/>
              </a:solidFill>
              <a:latin typeface="Roboto Mono"/>
              <a:ea typeface="Roboto Mono"/>
              <a:cs typeface="Roboto Mono"/>
            </a:endParaRPr>
          </a:p>
        </p:txBody>
      </p:sp>
      <p:sp>
        <p:nvSpPr>
          <p:cNvPr id="53" name="Google Shape;53;p9">
            <a:extLst xmlns:a="http://schemas.openxmlformats.org/drawingml/2006/main">
              <a:ext uri="{FF2B5EF4-FFF2-40B4-BE49-F238E27FC236}">
                <a16:creationId xmlns:a16="http://schemas.microsoft.com/office/drawing/2014/main" id="{4EF74D33-A52C-42E8-8242-39F71ED6BCA8}"/>
              </a:ext>
            </a:extLst>
          </p:cNvPr>
          <p:cNvSpPr>
            <a:spLocks xmlns:a="http://schemas.openxmlformats.org/drawingml/2006/main" noGrp="1"/>
          </p:cNvSpPr>
          <p:nvPr/>
        </p:nvSpPr>
        <p:spPr>
          <a:xfrm xmlns:a="http://schemas.openxmlformats.org/drawingml/2006/main">
            <a:off x="609600" y="5562600"/>
            <a:ext cx="5334000" cy="55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b="1">
                <a:latin typeface="Roboto Mono"/>
                <a:ea typeface="Roboto Mono"/>
                <a:cs typeface="Roboto Mono"/>
              </a:defRPr>
            </a:defPPr>
            <a:lvl1pPr>
              <a:defRPr sz="2400" b="1">
                <a:latin typeface="Roboto Mono"/>
                <a:ea typeface="Roboto Mono"/>
                <a:cs typeface="Roboto Mono"/>
              </a:defRPr>
            </a:lvl1pPr>
            <a:lvl2pPr>
              <a:defRPr sz="2400" b="1">
                <a:latin typeface="Roboto Mono"/>
                <a:ea typeface="Roboto Mono"/>
                <a:cs typeface="Roboto Mono"/>
              </a:defRPr>
            </a:lvl2pPr>
            <a:lvl3pPr>
              <a:defRPr sz="2400" b="1">
                <a:latin typeface="Roboto Mono"/>
                <a:ea typeface="Roboto Mono"/>
                <a:cs typeface="Roboto Mono"/>
              </a:defRPr>
            </a:lvl3pPr>
            <a:lvl4pPr>
              <a:defRPr sz="2400" b="1">
                <a:latin typeface="Roboto Mono"/>
                <a:ea typeface="Roboto Mono"/>
                <a:cs typeface="Roboto Mono"/>
              </a:defRPr>
            </a:lvl4pPr>
            <a:lvl5pPr>
              <a:defRPr sz="2400" b="1">
                <a:latin typeface="Roboto Mono"/>
                <a:ea typeface="Roboto Mono"/>
                <a:cs typeface="Roboto Mono"/>
              </a:defRPr>
            </a:lvl5pPr>
            <a:lvl6pPr>
              <a:defRPr sz="2400" b="1">
                <a:latin typeface="Roboto Mono"/>
                <a:ea typeface="Roboto Mono"/>
                <a:cs typeface="Roboto Mono"/>
              </a:defRPr>
            </a:lvl6pPr>
            <a:lvl7pPr>
              <a:defRPr sz="2400" b="1">
                <a:latin typeface="Roboto Mono"/>
                <a:ea typeface="Roboto Mono"/>
                <a:cs typeface="Roboto Mono"/>
              </a:defRPr>
            </a:lvl7pPr>
            <a:lvl8pPr>
              <a:defRPr sz="2400" b="1">
                <a:latin typeface="Roboto Mono"/>
                <a:ea typeface="Roboto Mono"/>
                <a:cs typeface="Roboto Mono"/>
              </a:defRPr>
            </a:lvl8pPr>
            <a:lvl9pPr>
              <a:defRPr sz="2400" b="1">
                <a:latin typeface="Roboto Mono"/>
                <a:ea typeface="Roboto Mono"/>
                <a:cs typeface="Roboto Mono"/>
              </a:defRPr>
            </a:lvl9pPr>
          </a:lstStyle>
          <a:p xmlns:a="http://schemas.openxmlformats.org/drawingml/2006/main">
            <a:pPr marL="0" marR="0" lvl="0" indent="0" algn="l">
              <a:spcBef>
                <a:spcPts val="0"/>
              </a:spcBef>
              <a:spcAft>
                <a:spcPts val="0"/>
              </a:spcAft>
              <a:buNone/>
              <a:defRPr sz="2400" b="1">
                <a:latin typeface="Roboto Mono"/>
                <a:ea typeface="Roboto Mono"/>
                <a:cs typeface="Roboto Mono"/>
              </a:defRPr>
            </a:pPr>
            <a:r>
              <a:rPr sz="2400" b="1">
                <a:solidFill>
                  <a:srgbClr val="A14F37"/>
                </a:solidFill>
                <a:latin typeface="Roboto Mono"/>
                <a:ea typeface="Roboto Mono"/>
                <a:cs typeface="Roboto Mono"/>
              </a:rPr>
              <a:t>text/plain</a:t>
            </a:r>
            <a:endParaRPr sz="2600" b="1">
              <a:solidFill>
                <a:srgbClr val="A14F37"/>
              </a:solidFill>
              <a:latin typeface="Roboto Mono"/>
              <a:ea typeface="Roboto Mono"/>
              <a:cs typeface="Roboto Mono"/>
            </a:endParaRPr>
          </a:p>
        </p:txBody>
      </p:sp>
      <p:sp>
        <p:nvSpPr>
          <p:cNvPr id="54" name="Google Shape;54;p9">
            <a:extLst xmlns:a="http://schemas.openxmlformats.org/drawingml/2006/main">
              <a:ext uri="{FF2B5EF4-FFF2-40B4-BE49-F238E27FC236}">
                <a16:creationId xmlns:a16="http://schemas.microsoft.com/office/drawing/2014/main" id="{1375C8F7-C844-4E20-A10F-9D54B3CF8B1C}"/>
              </a:ext>
            </a:extLst>
          </p:cNvPr>
          <p:cNvSpPr>
            <a:spLocks xmlns:a="http://schemas.openxmlformats.org/drawingml/2006/main" noGrp="1"/>
          </p:cNvSpPr>
          <p:nvPr/>
        </p:nvSpPr>
        <p:spPr>
          <a:xfrm xmlns:a="http://schemas.openxmlformats.org/drawingml/2006/main">
            <a:off x="609600" y="3267075"/>
            <a:ext cx="109728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900">
                <a:solidFill>
                  <a:srgbClr val="B8C7AB"/>
                </a:solidFill>
                <a:latin typeface="Manrope"/>
                <a:ea typeface="Manrope"/>
                <a:cs typeface="Manrope"/>
              </a:defRPr>
            </a:defPPr>
            <a:lvl1pPr>
              <a:defRPr sz="1900">
                <a:solidFill>
                  <a:srgbClr val="B8C7AB"/>
                </a:solidFill>
                <a:latin typeface="Manrope"/>
                <a:ea typeface="Manrope"/>
                <a:cs typeface="Manrope"/>
              </a:defRPr>
            </a:lvl1pPr>
            <a:lvl2pPr>
              <a:defRPr sz="1900">
                <a:solidFill>
                  <a:srgbClr val="B8C7AB"/>
                </a:solidFill>
                <a:latin typeface="Manrope"/>
                <a:ea typeface="Manrope"/>
                <a:cs typeface="Manrope"/>
              </a:defRPr>
            </a:lvl2pPr>
            <a:lvl3pPr>
              <a:defRPr sz="1900">
                <a:solidFill>
                  <a:srgbClr val="B8C7AB"/>
                </a:solidFill>
                <a:latin typeface="Manrope"/>
                <a:ea typeface="Manrope"/>
                <a:cs typeface="Manrope"/>
              </a:defRPr>
            </a:lvl3pPr>
            <a:lvl4pPr>
              <a:defRPr sz="1900">
                <a:solidFill>
                  <a:srgbClr val="B8C7AB"/>
                </a:solidFill>
                <a:latin typeface="Manrope"/>
                <a:ea typeface="Manrope"/>
                <a:cs typeface="Manrope"/>
              </a:defRPr>
            </a:lvl4pPr>
            <a:lvl5pPr>
              <a:defRPr sz="1900">
                <a:solidFill>
                  <a:srgbClr val="B8C7AB"/>
                </a:solidFill>
                <a:latin typeface="Manrope"/>
                <a:ea typeface="Manrope"/>
                <a:cs typeface="Manrope"/>
              </a:defRPr>
            </a:lvl5pPr>
            <a:lvl6pPr>
              <a:defRPr sz="1900">
                <a:solidFill>
                  <a:srgbClr val="B8C7AB"/>
                </a:solidFill>
                <a:latin typeface="Manrope"/>
                <a:ea typeface="Manrope"/>
                <a:cs typeface="Manrope"/>
              </a:defRPr>
            </a:lvl6pPr>
            <a:lvl7pPr>
              <a:defRPr sz="1900">
                <a:solidFill>
                  <a:srgbClr val="B8C7AB"/>
                </a:solidFill>
                <a:latin typeface="Manrope"/>
                <a:ea typeface="Manrope"/>
                <a:cs typeface="Manrope"/>
              </a:defRPr>
            </a:lvl7pPr>
            <a:lvl8pPr>
              <a:defRPr sz="1900">
                <a:solidFill>
                  <a:srgbClr val="B8C7AB"/>
                </a:solidFill>
                <a:latin typeface="Manrope"/>
                <a:ea typeface="Manrope"/>
                <a:cs typeface="Manrope"/>
              </a:defRPr>
            </a:lvl8pPr>
            <a:lvl9pPr>
              <a:defRPr sz="1900">
                <a:solidFill>
                  <a:srgbClr val="B8C7AB"/>
                </a:solidFill>
                <a:latin typeface="Manrope"/>
                <a:ea typeface="Manrope"/>
                <a:cs typeface="Manrope"/>
              </a:defRPr>
            </a:lvl9pPr>
          </a:lstStyle>
          <a:p xmlns:a="http://schemas.openxmlformats.org/drawingml/2006/main">
            <a:pPr marL="0" marR="0" lvl="0" indent="0" algn="l">
              <a:spcBef>
                <a:spcPts val="0"/>
              </a:spcBef>
              <a:spcAft>
                <a:spcPts val="0"/>
              </a:spcAft>
              <a:buNone/>
              <a:defRPr sz="1900">
                <a:solidFill>
                  <a:srgbClr val="B8C7AB"/>
                </a:solidFill>
                <a:latin typeface="Manrope"/>
                <a:ea typeface="Manrope"/>
                <a:cs typeface="Manrope"/>
              </a:defRPr>
            </a:pPr>
            <a:r>
              <a:rPr sz="1900">
                <a:solidFill>
                  <a:srgbClr val="B8C7AB"/>
                </a:solidFill>
                <a:latin typeface="Manrope"/>
                <a:ea typeface="Manrope"/>
                <a:cs typeface="Manrope"/>
              </a:rPr>
              <a:t>A filename can hide a missing content rule.</a:t>
            </a:r>
            <a:endParaRPr sz="1250">
              <a:solidFill>
                <a:srgbClr val="203B34"/>
              </a:solidFill>
              <a:latin typeface="Manrope"/>
              <a:ea typeface="Manrope"/>
              <a:cs typeface="Manrope"/>
            </a:endParaRPr>
          </a:p>
        </p:txBody>
      </p:sp>
      <p:sp>
        <p:nvSpPr>
          <p:cNvPr id="55" name="finding-context">
            <a:extLst xmlns:a="http://schemas.openxmlformats.org/drawingml/2006/main">
              <a:ext uri="{FF2B5EF4-FFF2-40B4-BE49-F238E27FC236}">
                <a16:creationId xmlns:a16="http://schemas.microsoft.com/office/drawing/2014/main" id="{57721E43-BE52-4A39-8831-FAAFCF30EEB4}"/>
              </a:ext>
            </a:extLst>
          </p:cNvPr>
          <p:cNvSpPr>
            <a:spLocks xmlns:a="http://schemas.openxmlformats.org/drawingml/2006/main" noGrp="1"/>
          </p:cNvSpPr>
          <p:nvPr/>
        </p:nvSpPr>
        <p:spPr>
          <a:xfrm xmlns:a="http://schemas.openxmlformats.org/drawingml/2006/main">
            <a:off x="609600" y="62007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00">
                <a:solidFill>
                  <a:srgbClr val="203B34"/>
                </a:solidFill>
                <a:latin typeface="Manrope"/>
                <a:ea typeface="Manrope"/>
                <a:cs typeface="Manrope"/>
              </a:defRPr>
            </a:defPPr>
            <a:lvl1pPr>
              <a:defRPr sz="1600">
                <a:solidFill>
                  <a:srgbClr val="203B34"/>
                </a:solidFill>
                <a:latin typeface="Manrope"/>
                <a:ea typeface="Manrope"/>
                <a:cs typeface="Manrope"/>
              </a:defRPr>
            </a:lvl1pPr>
            <a:lvl2pPr>
              <a:defRPr sz="1600">
                <a:solidFill>
                  <a:srgbClr val="203B34"/>
                </a:solidFill>
                <a:latin typeface="Manrope"/>
                <a:ea typeface="Manrope"/>
                <a:cs typeface="Manrope"/>
              </a:defRPr>
            </a:lvl2pPr>
            <a:lvl3pPr>
              <a:defRPr sz="1600">
                <a:solidFill>
                  <a:srgbClr val="203B34"/>
                </a:solidFill>
                <a:latin typeface="Manrope"/>
                <a:ea typeface="Manrope"/>
                <a:cs typeface="Manrope"/>
              </a:defRPr>
            </a:lvl3pPr>
            <a:lvl4pPr>
              <a:defRPr sz="1600">
                <a:solidFill>
                  <a:srgbClr val="203B34"/>
                </a:solidFill>
                <a:latin typeface="Manrope"/>
                <a:ea typeface="Manrope"/>
                <a:cs typeface="Manrope"/>
              </a:defRPr>
            </a:lvl4pPr>
            <a:lvl5pPr>
              <a:defRPr sz="1600">
                <a:solidFill>
                  <a:srgbClr val="203B34"/>
                </a:solidFill>
                <a:latin typeface="Manrope"/>
                <a:ea typeface="Manrope"/>
                <a:cs typeface="Manrope"/>
              </a:defRPr>
            </a:lvl5pPr>
            <a:lvl6pPr>
              <a:defRPr sz="1600">
                <a:solidFill>
                  <a:srgbClr val="203B34"/>
                </a:solidFill>
                <a:latin typeface="Manrope"/>
                <a:ea typeface="Manrope"/>
                <a:cs typeface="Manrope"/>
              </a:defRPr>
            </a:lvl6pPr>
            <a:lvl7pPr>
              <a:defRPr sz="1600">
                <a:solidFill>
                  <a:srgbClr val="203B34"/>
                </a:solidFill>
                <a:latin typeface="Manrope"/>
                <a:ea typeface="Manrope"/>
                <a:cs typeface="Manrope"/>
              </a:defRPr>
            </a:lvl7pPr>
            <a:lvl8pPr>
              <a:defRPr sz="1600">
                <a:solidFill>
                  <a:srgbClr val="203B34"/>
                </a:solidFill>
                <a:latin typeface="Manrope"/>
                <a:ea typeface="Manrope"/>
                <a:cs typeface="Manrope"/>
              </a:defRPr>
            </a:lvl8pPr>
            <a:lvl9pPr>
              <a:defRPr sz="1600">
                <a:solidFill>
                  <a:srgbClr val="203B34"/>
                </a:solidFill>
                <a:latin typeface="Manrope"/>
                <a:ea typeface="Manrope"/>
                <a:cs typeface="Manrope"/>
              </a:defRPr>
            </a:lvl9pPr>
          </a:lstStyle>
          <a:p xmlns:a="http://schemas.openxmlformats.org/drawingml/2006/main">
            <a:pPr>
              <a:defRPr sz="1600">
                <a:solidFill>
                  <a:srgbClr val="203B34"/>
                </a:solidFill>
                <a:latin typeface="Manrope"/>
                <a:ea typeface="Manrope"/>
                <a:cs typeface="Manrope"/>
              </a:defRPr>
            </a:pPr>
            <a:r>
              <a:rPr sz="1600">
                <a:solidFill>
                  <a:srgbClr val="203B34"/>
                </a:solidFill>
                <a:latin typeface="Manrope"/>
                <a:ea typeface="Manrope"/>
                <a:cs typeface="Manrope"/>
              </a:rPr>
              <a:t>Without the single-space rule. After the fix, both return text/x-python.</a:t>
            </a:r>
          </a:p>
        </p:txBody>
      </p:sp>
    </p:spTree>
    <p:extLst>
      <p:ext uri="{BB962C8B-B14F-4D97-AF65-F5344CB8AC3E}">
        <p14:creationId xmlns:p14="http://schemas.microsoft.com/office/powerpoint/2010/main" val="1395047100"/>
      </p:ext>
    </p:extLst>
  </p:cSld>
</p:sld>
</file>

<file path=ppt/slides/slide2.xml><?xml version="1.0" encoding="utf-8"?>
<p:sld xmlns:p="http://schemas.openxmlformats.org/presentationml/2006/main">
  <p:cSld>
    <p:bg>
      <p:bgPr>
        <a:solidFill xmlns:a="http://schemas.openxmlformats.org/drawingml/2006/main">
          <a:srgbClr val="F0E8D9"/>
        </a:solidFill>
      </p:bgPr>
    </p:bg>
    <p:spTree>
      <p:nvGrpSpPr>
        <p:cNvPr id="1" name=""/>
        <p:cNvGrpSpPr/>
        <p:nvPr/>
      </p:nvGrpSpPr>
      <p:grpSpPr>
        <a:xfrm xmlns:a="http://schemas.openxmlformats.org/drawingml/2006/main"/>
      </p:grpSpPr>
      <p:sp>
        <p:nvSpPr>
          <p:cNvPr id="60" name="Google Shape;60;p10">
            <a:extLst xmlns:a="http://schemas.openxmlformats.org/drawingml/2006/main">
              <a:ext uri="{FF2B5EF4-FFF2-40B4-BE49-F238E27FC236}">
                <a16:creationId xmlns:a16="http://schemas.microsoft.com/office/drawing/2014/main" id="{AD55B1AB-7C03-4D60-8781-EB2C0939935D}"/>
              </a:ext>
            </a:extLst>
          </p:cNvPr>
          <p:cNvSpPr>
            <a:spLocks xmlns:a="http://schemas.openxmlformats.org/drawingml/2006/main" noGrp="1"/>
          </p:cNvSpPr>
          <p:nvPr/>
        </p:nvSpPr>
        <p:spPr>
          <a:xfrm xmlns:a="http://schemas.openxmlformats.org/drawingml/2006/main">
            <a:off x="609600" y="390525"/>
            <a:ext cx="90487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50" b="1">
                <a:solidFill>
                  <a:srgbClr val="203B34"/>
                </a:solidFill>
                <a:latin typeface="Manrope"/>
                <a:ea typeface="Manrope"/>
                <a:cs typeface="Manrope"/>
              </a:rPr>
              <a:t>TIKA-4408 / LESSONS</a:t>
            </a:r>
            <a:endParaRPr sz="1050" b="1">
              <a:solidFill>
                <a:srgbClr val="203B34"/>
              </a:solidFill>
              <a:latin typeface="Manrope"/>
              <a:ea typeface="Manrope"/>
              <a:cs typeface="Manrope"/>
            </a:endParaRPr>
          </a:p>
        </p:txBody>
      </p:sp>
      <p:sp>
        <p:nvSpPr>
          <p:cNvPr id="61" name="Google Shape;61;p10">
            <a:extLst xmlns:a="http://schemas.openxmlformats.org/drawingml/2006/main">
              <a:ext uri="{FF2B5EF4-FFF2-40B4-BE49-F238E27FC236}">
                <a16:creationId xmlns:a16="http://schemas.microsoft.com/office/drawing/2014/main" id="{C44F7266-6945-40AC-A711-E69195589FF4}"/>
              </a:ext>
            </a:extLst>
          </p:cNvPr>
          <p:cNvSpPr>
            <a:spLocks xmlns:a="http://schemas.openxmlformats.org/drawingml/2006/main" noGrp="1"/>
          </p:cNvSpPr>
          <p:nvPr/>
        </p:nvSpPr>
        <p:spPr>
          <a:xfrm xmlns:a="http://schemas.openxmlformats.org/drawingml/2006/main">
            <a:off x="10953750" y="390525"/>
            <a:ext cx="6286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000">
                <a:solidFill>
                  <a:srgbClr val="52665B"/>
                </a:solidFill>
                <a:latin typeface="Manrope"/>
                <a:ea typeface="Manrope"/>
                <a:cs typeface="Manrope"/>
              </a:rPr>
              <a:t>02</a:t>
            </a:r>
            <a:endParaRPr sz="1000">
              <a:solidFill>
                <a:srgbClr val="52665B"/>
              </a:solidFill>
              <a:latin typeface="Manrope"/>
              <a:ea typeface="Manrope"/>
              <a:cs typeface="Manrope"/>
            </a:endParaRPr>
          </a:p>
        </p:txBody>
      </p:sp>
      <p:sp>
        <p:nvSpPr>
          <p:cNvPr id="62" name="Google Shape;62;p10">
            <a:extLst xmlns:a="http://schemas.openxmlformats.org/drawingml/2006/main">
              <a:ext uri="{FF2B5EF4-FFF2-40B4-BE49-F238E27FC236}">
                <a16:creationId xmlns:a16="http://schemas.microsoft.com/office/drawing/2014/main" id="{FA53D6EA-8696-4C3C-989B-C288B8E42B6E}"/>
              </a:ext>
            </a:extLst>
          </p:cNvPr>
          <p:cNvSpPr>
            <a:spLocks xmlns:a="http://schemas.openxmlformats.org/drawingml/2006/main" noGrp="1"/>
          </p:cNvSpPr>
          <p:nvPr>
            <p:ph type="title" idx="0"/>
          </p:nvPr>
        </p:nvSpPr>
        <p:spPr>
          <a:xfrm xmlns:a="http://schemas.openxmlformats.org/drawingml/2006/main">
            <a:off x="609600" y="825500"/>
            <a:ext cx="10972800" cy="1016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3300"/>
            </a:defPPr>
            <a:lvl1pPr>
              <a:defRPr sz="3300"/>
            </a:lvl1pPr>
            <a:lvl2pPr>
              <a:defRPr sz="3300"/>
            </a:lvl2pPr>
            <a:lvl3pPr>
              <a:defRPr sz="3300"/>
            </a:lvl3pPr>
            <a:lvl4pPr>
              <a:defRPr sz="3300"/>
            </a:lvl4pPr>
            <a:lvl5pPr>
              <a:defRPr sz="3300"/>
            </a:lvl5pPr>
            <a:lvl6pPr>
              <a:defRPr sz="3300"/>
            </a:lvl6pPr>
            <a:lvl7pPr>
              <a:defRPr sz="3300"/>
            </a:lvl7pPr>
            <a:lvl8pPr>
              <a:defRPr sz="3300"/>
            </a:lvl8pPr>
            <a:lvl9pPr>
              <a:defRPr sz="3300"/>
            </a:lvl9pPr>
          </a:lstStyle>
          <a:p xmlns:a="http://schemas.openxmlformats.org/drawingml/2006/main">
            <a:pPr marL="0" marR="0" lvl="0" indent="0" algn="l">
              <a:spcBef>
                <a:spcPts val="0"/>
              </a:spcBef>
              <a:spcAft>
                <a:spcPts val="0"/>
              </a:spcAft>
              <a:buNone/>
              <a:defRPr sz="3300"/>
            </a:pPr>
            <a:r>
              <a:rPr sz="3300" b="1">
                <a:solidFill>
                  <a:srgbClr val="203B34"/>
                </a:solidFill>
                <a:latin typeface="Manrope"/>
                <a:ea typeface="Manrope"/>
                <a:cs typeface="Manrope"/>
              </a:rPr>
              <a:t>What we learnt</a:t>
            </a:r>
            <a:endParaRPr sz="3200" b="1">
              <a:solidFill>
                <a:srgbClr val="203B34"/>
              </a:solidFill>
              <a:latin typeface="Manrope"/>
              <a:ea typeface="Manrope"/>
              <a:cs typeface="Manrope"/>
            </a:endParaRPr>
          </a:p>
        </p:txBody>
      </p:sp>
      <p:sp>
        <p:nvSpPr>
          <p:cNvPr id="63" name="Google Shape;63;p10">
            <a:extLst xmlns:a="http://schemas.openxmlformats.org/drawingml/2006/main">
              <a:ext uri="{FF2B5EF4-FFF2-40B4-BE49-F238E27FC236}">
                <a16:creationId xmlns:a16="http://schemas.microsoft.com/office/drawing/2014/main" id="{318B66DD-5B83-4F05-9D93-8F0A2C5231E9}"/>
              </a:ext>
            </a:extLst>
          </p:cNvPr>
          <p:cNvSpPr>
            <a:spLocks xmlns:a="http://schemas.openxmlformats.org/drawingml/2006/main" noGrp="1"/>
          </p:cNvSpPr>
          <p:nvPr/>
        </p:nvSpPr>
        <p:spPr>
          <a:xfrm xmlns:a="http://schemas.openxmlformats.org/drawingml/2006/main">
            <a:off x="5238750" y="6486525"/>
            <a:ext cx="63436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000">
                <a:solidFill>
                  <a:srgbClr val="52665B"/>
                </a:solidFill>
                <a:latin typeface="Manrope"/>
                <a:ea typeface="Manrope"/>
                <a:cs typeface="Manrope"/>
              </a:rPr>
              <a:t>Jiajun Li / TIKA-4408</a:t>
            </a:r>
            <a:endParaRPr sz="1000">
              <a:solidFill>
                <a:srgbClr val="52665B"/>
              </a:solidFill>
              <a:latin typeface="Manrope"/>
              <a:ea typeface="Manrope"/>
              <a:cs typeface="Manrope"/>
            </a:endParaRPr>
          </a:p>
        </p:txBody>
      </p:sp>
      <p:sp>
        <p:nvSpPr>
          <p:cNvPr id="64" name="Google Shape;64;p10">
            <a:extLst xmlns:a="http://schemas.openxmlformats.org/drawingml/2006/main">
              <a:ext uri="{FF2B5EF4-FFF2-40B4-BE49-F238E27FC236}">
                <a16:creationId xmlns:a16="http://schemas.microsoft.com/office/drawing/2014/main" id="{B2D625AF-1597-47FA-B0FC-D0E422172F6C}"/>
              </a:ext>
            </a:extLst>
          </p:cNvPr>
          <p:cNvSpPr>
            <a:spLocks xmlns:a="http://schemas.openxmlformats.org/drawingml/2006/main" noGrp="1"/>
          </p:cNvSpPr>
          <p:nvPr/>
        </p:nvSpPr>
        <p:spPr>
          <a:xfrm xmlns:a="http://schemas.openxmlformats.org/drawingml/2006/main">
            <a:off x="609600" y="2032000"/>
            <a:ext cx="35307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700" b="1">
                <a:latin typeface="Manrope"/>
                <a:ea typeface="Manrope"/>
                <a:cs typeface="Manrope"/>
              </a:defRPr>
            </a:defPPr>
            <a:lvl1pPr>
              <a:defRPr sz="1700" b="1">
                <a:latin typeface="Manrope"/>
                <a:ea typeface="Manrope"/>
                <a:cs typeface="Manrope"/>
              </a:defRPr>
            </a:lvl1pPr>
            <a:lvl2pPr>
              <a:defRPr sz="1700" b="1">
                <a:latin typeface="Manrope"/>
                <a:ea typeface="Manrope"/>
                <a:cs typeface="Manrope"/>
              </a:defRPr>
            </a:lvl2pPr>
            <a:lvl3pPr>
              <a:defRPr sz="1700" b="1">
                <a:latin typeface="Manrope"/>
                <a:ea typeface="Manrope"/>
                <a:cs typeface="Manrope"/>
              </a:defRPr>
            </a:lvl3pPr>
            <a:lvl4pPr>
              <a:defRPr sz="1700" b="1">
                <a:latin typeface="Manrope"/>
                <a:ea typeface="Manrope"/>
                <a:cs typeface="Manrope"/>
              </a:defRPr>
            </a:lvl4pPr>
            <a:lvl5pPr>
              <a:defRPr sz="1700" b="1">
                <a:latin typeface="Manrope"/>
                <a:ea typeface="Manrope"/>
                <a:cs typeface="Manrope"/>
              </a:defRPr>
            </a:lvl5pPr>
            <a:lvl6pPr>
              <a:defRPr sz="1700" b="1">
                <a:latin typeface="Manrope"/>
                <a:ea typeface="Manrope"/>
                <a:cs typeface="Manrope"/>
              </a:defRPr>
            </a:lvl6pPr>
            <a:lvl7pPr>
              <a:defRPr sz="1700" b="1">
                <a:latin typeface="Manrope"/>
                <a:ea typeface="Manrope"/>
                <a:cs typeface="Manrope"/>
              </a:defRPr>
            </a:lvl7pPr>
            <a:lvl8pPr>
              <a:defRPr sz="1700" b="1">
                <a:latin typeface="Manrope"/>
                <a:ea typeface="Manrope"/>
                <a:cs typeface="Manrope"/>
              </a:defRPr>
            </a:lvl8pPr>
            <a:lvl9pPr>
              <a:defRPr sz="1700" b="1">
                <a:latin typeface="Manrope"/>
                <a:ea typeface="Manrope"/>
                <a:cs typeface="Manrope"/>
              </a:defRPr>
            </a:lvl9pPr>
          </a:lstStyle>
          <a:p xmlns:a="http://schemas.openxmlformats.org/drawingml/2006/main">
            <a:pPr marL="0" marR="0" lvl="0" indent="0" algn="l">
              <a:spcBef>
                <a:spcPts val="0"/>
              </a:spcBef>
              <a:spcAft>
                <a:spcPts val="0"/>
              </a:spcAft>
              <a:buNone/>
              <a:defRPr sz="1700" b="1">
                <a:latin typeface="Manrope"/>
                <a:ea typeface="Manrope"/>
                <a:cs typeface="Manrope"/>
              </a:defRPr>
            </a:pPr>
            <a:r>
              <a:rPr sz="1700" b="1">
                <a:solidFill>
                  <a:srgbClr val="A14F37"/>
                </a:solidFill>
                <a:latin typeface="Manrope"/>
                <a:ea typeface="Manrope"/>
                <a:cs typeface="Manrope"/>
              </a:rPr>
              <a:t>Test both detection modes</a:t>
            </a:r>
            <a:endParaRPr sz="1600" b="1">
              <a:solidFill>
                <a:srgbClr val="A14F37"/>
              </a:solidFill>
              <a:latin typeface="Manrope"/>
              <a:ea typeface="Manrope"/>
              <a:cs typeface="Manrope"/>
            </a:endParaRPr>
          </a:p>
        </p:txBody>
      </p:sp>
      <p:sp>
        <p:nvSpPr>
          <p:cNvPr id="65" name="Google Shape;65;p10">
            <a:extLst xmlns:a="http://schemas.openxmlformats.org/drawingml/2006/main">
              <a:ext uri="{FF2B5EF4-FFF2-40B4-BE49-F238E27FC236}">
                <a16:creationId xmlns:a16="http://schemas.microsoft.com/office/drawing/2014/main" id="{DAB066CC-3F74-4813-81E7-456C0D6B0E5E}"/>
              </a:ext>
            </a:extLst>
          </p:cNvPr>
          <p:cNvSpPr>
            <a:spLocks xmlns:a="http://schemas.openxmlformats.org/drawingml/2006/main" noGrp="1"/>
          </p:cNvSpPr>
          <p:nvPr/>
        </p:nvSpPr>
        <p:spPr>
          <a:xfrm xmlns:a="http://schemas.openxmlformats.org/drawingml/2006/main">
            <a:off x="4572000" y="2006600"/>
            <a:ext cx="7010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000">
                <a:latin typeface="Manrope"/>
                <a:ea typeface="Manrope"/>
                <a:cs typeface="Manrope"/>
              </a:defRPr>
            </a:defPPr>
            <a:lvl1pPr>
              <a:defRPr sz="2000">
                <a:latin typeface="Manrope"/>
                <a:ea typeface="Manrope"/>
                <a:cs typeface="Manrope"/>
              </a:defRPr>
            </a:lvl1pPr>
            <a:lvl2pPr>
              <a:defRPr sz="2000">
                <a:latin typeface="Manrope"/>
                <a:ea typeface="Manrope"/>
                <a:cs typeface="Manrope"/>
              </a:defRPr>
            </a:lvl2pPr>
            <a:lvl3pPr>
              <a:defRPr sz="2000">
                <a:latin typeface="Manrope"/>
                <a:ea typeface="Manrope"/>
                <a:cs typeface="Manrope"/>
              </a:defRPr>
            </a:lvl3pPr>
            <a:lvl4pPr>
              <a:defRPr sz="2000">
                <a:latin typeface="Manrope"/>
                <a:ea typeface="Manrope"/>
                <a:cs typeface="Manrope"/>
              </a:defRPr>
            </a:lvl4pPr>
            <a:lvl5pPr>
              <a:defRPr sz="2000">
                <a:latin typeface="Manrope"/>
                <a:ea typeface="Manrope"/>
                <a:cs typeface="Manrope"/>
              </a:defRPr>
            </a:lvl5pPr>
            <a:lvl6pPr>
              <a:defRPr sz="2000">
                <a:latin typeface="Manrope"/>
                <a:ea typeface="Manrope"/>
                <a:cs typeface="Manrope"/>
              </a:defRPr>
            </a:lvl6pPr>
            <a:lvl7pPr>
              <a:defRPr sz="2000">
                <a:latin typeface="Manrope"/>
                <a:ea typeface="Manrope"/>
                <a:cs typeface="Manrope"/>
              </a:defRPr>
            </a:lvl7pPr>
            <a:lvl8pPr>
              <a:defRPr sz="2000">
                <a:latin typeface="Manrope"/>
                <a:ea typeface="Manrope"/>
                <a:cs typeface="Manrope"/>
              </a:defRPr>
            </a:lvl8pPr>
            <a:lvl9pPr>
              <a:defRPr sz="2000">
                <a:latin typeface="Manrope"/>
                <a:ea typeface="Manrope"/>
                <a:cs typeface="Manrope"/>
              </a:defRPr>
            </a:lvl9pPr>
          </a:lstStyle>
          <a:p xmlns:a="http://schemas.openxmlformats.org/drawingml/2006/main">
            <a:pPr marL="0" marR="0" lvl="0" indent="0" algn="l">
              <a:spcBef>
                <a:spcPts val="0"/>
              </a:spcBef>
              <a:spcAft>
                <a:spcPts val="0"/>
              </a:spcAft>
              <a:buNone/>
              <a:defRPr sz="2000">
                <a:latin typeface="Manrope"/>
                <a:ea typeface="Manrope"/>
                <a:cs typeface="Manrope"/>
              </a:defRPr>
            </a:pPr>
            <a:r>
              <a:rPr sz="2000">
                <a:solidFill>
                  <a:srgbClr val="203B34"/>
                </a:solidFill>
                <a:latin typeface="Manrope"/>
                <a:ea typeface="Manrope"/>
                <a:cs typeface="Manrope"/>
              </a:rPr>
              <a:t>Check content alone, then add a filename.</a:t>
            </a:r>
            <a:endParaRPr sz="2000">
              <a:solidFill>
                <a:srgbClr val="203B34"/>
              </a:solidFill>
              <a:latin typeface="Manrope"/>
              <a:ea typeface="Manrope"/>
              <a:cs typeface="Manrope"/>
            </a:endParaRPr>
          </a:p>
          <a:p xmlns:a="http://schemas.openxmlformats.org/drawingml/2006/main">
            <a:pPr marL="0" marR="0" lvl="0" indent="0" algn="l">
              <a:spcBef>
                <a:spcPts val="0"/>
              </a:spcBef>
              <a:spcAft>
                <a:spcPts val="0"/>
              </a:spcAft>
              <a:buNone/>
              <a:defRPr sz="2000">
                <a:latin typeface="Manrope"/>
                <a:ea typeface="Manrope"/>
                <a:cs typeface="Manrope"/>
              </a:defRPr>
            </a:pPr>
            <a:r>
              <a:rPr sz="2000">
                <a:solidFill>
                  <a:srgbClr val="203B34"/>
                </a:solidFill>
                <a:latin typeface="Manrope"/>
                <a:ea typeface="Manrope"/>
                <a:cs typeface="Manrope"/>
              </a:rPr>
              <a:t>A filename can hide a missing content rule.</a:t>
            </a:r>
            <a:endParaRPr sz="2000">
              <a:solidFill>
                <a:srgbClr val="203B34"/>
              </a:solidFill>
              <a:latin typeface="Manrope"/>
              <a:ea typeface="Manrope"/>
              <a:cs typeface="Manrope"/>
            </a:endParaRPr>
          </a:p>
        </p:txBody>
      </p:sp>
      <p:sp>
        <p:nvSpPr>
          <p:cNvPr id="66" name="Google Shape;66;p10">
            <a:extLst xmlns:a="http://schemas.openxmlformats.org/drawingml/2006/main">
              <a:ext uri="{FF2B5EF4-FFF2-40B4-BE49-F238E27FC236}">
                <a16:creationId xmlns:a16="http://schemas.microsoft.com/office/drawing/2014/main" id="{893B9EAE-C892-45AD-BE36-AD94C2D47E47}"/>
              </a:ext>
            </a:extLst>
          </p:cNvPr>
          <p:cNvSpPr>
            <a:spLocks xmlns:a="http://schemas.openxmlformats.org/drawingml/2006/main" noGrp="1"/>
          </p:cNvSpPr>
          <p:nvPr/>
        </p:nvSpPr>
        <p:spPr>
          <a:xfrm xmlns:a="http://schemas.openxmlformats.org/drawingml/2006/main">
            <a:off x="609600" y="3073400"/>
            <a:ext cx="35307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700" b="1">
                <a:latin typeface="Manrope"/>
                <a:ea typeface="Manrope"/>
                <a:cs typeface="Manrope"/>
              </a:defRPr>
            </a:defPPr>
            <a:lvl1pPr>
              <a:defRPr sz="1700" b="1">
                <a:latin typeface="Manrope"/>
                <a:ea typeface="Manrope"/>
                <a:cs typeface="Manrope"/>
              </a:defRPr>
            </a:lvl1pPr>
            <a:lvl2pPr>
              <a:defRPr sz="1700" b="1">
                <a:latin typeface="Manrope"/>
                <a:ea typeface="Manrope"/>
                <a:cs typeface="Manrope"/>
              </a:defRPr>
            </a:lvl2pPr>
            <a:lvl3pPr>
              <a:defRPr sz="1700" b="1">
                <a:latin typeface="Manrope"/>
                <a:ea typeface="Manrope"/>
                <a:cs typeface="Manrope"/>
              </a:defRPr>
            </a:lvl3pPr>
            <a:lvl4pPr>
              <a:defRPr sz="1700" b="1">
                <a:latin typeface="Manrope"/>
                <a:ea typeface="Manrope"/>
                <a:cs typeface="Manrope"/>
              </a:defRPr>
            </a:lvl4pPr>
            <a:lvl5pPr>
              <a:defRPr sz="1700" b="1">
                <a:latin typeface="Manrope"/>
                <a:ea typeface="Manrope"/>
                <a:cs typeface="Manrope"/>
              </a:defRPr>
            </a:lvl5pPr>
            <a:lvl6pPr>
              <a:defRPr sz="1700" b="1">
                <a:latin typeface="Manrope"/>
                <a:ea typeface="Manrope"/>
                <a:cs typeface="Manrope"/>
              </a:defRPr>
            </a:lvl6pPr>
            <a:lvl7pPr>
              <a:defRPr sz="1700" b="1">
                <a:latin typeface="Manrope"/>
                <a:ea typeface="Manrope"/>
                <a:cs typeface="Manrope"/>
              </a:defRPr>
            </a:lvl7pPr>
            <a:lvl8pPr>
              <a:defRPr sz="1700" b="1">
                <a:latin typeface="Manrope"/>
                <a:ea typeface="Manrope"/>
                <a:cs typeface="Manrope"/>
              </a:defRPr>
            </a:lvl8pPr>
            <a:lvl9pPr>
              <a:defRPr sz="1700" b="1">
                <a:latin typeface="Manrope"/>
                <a:ea typeface="Manrope"/>
                <a:cs typeface="Manrope"/>
              </a:defRPr>
            </a:lvl9pPr>
          </a:lstStyle>
          <a:p xmlns:a="http://schemas.openxmlformats.org/drawingml/2006/main">
            <a:pPr marL="0" marR="0" lvl="0" indent="0" algn="l">
              <a:spcBef>
                <a:spcPts val="0"/>
              </a:spcBef>
              <a:spcAft>
                <a:spcPts val="0"/>
              </a:spcAft>
              <a:buNone/>
              <a:defRPr sz="1700" b="1">
                <a:latin typeface="Manrope"/>
                <a:ea typeface="Manrope"/>
                <a:cs typeface="Manrope"/>
              </a:defRPr>
            </a:pPr>
            <a:r>
              <a:rPr sz="1700" b="1">
                <a:solidFill>
                  <a:srgbClr val="203B34"/>
                </a:solidFill>
                <a:latin typeface="Manrope"/>
                <a:ea typeface="Manrope"/>
                <a:cs typeface="Manrope"/>
              </a:rPr>
              <a:t>Test different inputs</a:t>
            </a:r>
            <a:endParaRPr sz="1600" b="1">
              <a:solidFill>
                <a:srgbClr val="203B34"/>
              </a:solidFill>
              <a:latin typeface="Manrope"/>
              <a:ea typeface="Manrope"/>
              <a:cs typeface="Manrope"/>
            </a:endParaRPr>
          </a:p>
        </p:txBody>
      </p:sp>
      <p:sp>
        <p:nvSpPr>
          <p:cNvPr id="67" name="Google Shape;67;p10">
            <a:extLst xmlns:a="http://schemas.openxmlformats.org/drawingml/2006/main">
              <a:ext uri="{FF2B5EF4-FFF2-40B4-BE49-F238E27FC236}">
                <a16:creationId xmlns:a16="http://schemas.microsoft.com/office/drawing/2014/main" id="{F06698BE-6329-4662-84A7-AF4BE1D9F30F}"/>
              </a:ext>
            </a:extLst>
          </p:cNvPr>
          <p:cNvSpPr>
            <a:spLocks xmlns:a="http://schemas.openxmlformats.org/drawingml/2006/main" noGrp="1"/>
          </p:cNvSpPr>
          <p:nvPr/>
        </p:nvSpPr>
        <p:spPr>
          <a:xfrm xmlns:a="http://schemas.openxmlformats.org/drawingml/2006/main">
            <a:off x="4572000" y="3048000"/>
            <a:ext cx="7010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000">
                <a:latin typeface="Manrope"/>
                <a:ea typeface="Manrope"/>
                <a:cs typeface="Manrope"/>
              </a:defRPr>
            </a:defPPr>
            <a:lvl1pPr>
              <a:defRPr sz="2000">
                <a:latin typeface="Manrope"/>
                <a:ea typeface="Manrope"/>
                <a:cs typeface="Manrope"/>
              </a:defRPr>
            </a:lvl1pPr>
            <a:lvl2pPr>
              <a:defRPr sz="2000">
                <a:latin typeface="Manrope"/>
                <a:ea typeface="Manrope"/>
                <a:cs typeface="Manrope"/>
              </a:defRPr>
            </a:lvl2pPr>
            <a:lvl3pPr>
              <a:defRPr sz="2000">
                <a:latin typeface="Manrope"/>
                <a:ea typeface="Manrope"/>
                <a:cs typeface="Manrope"/>
              </a:defRPr>
            </a:lvl3pPr>
            <a:lvl4pPr>
              <a:defRPr sz="2000">
                <a:latin typeface="Manrope"/>
                <a:ea typeface="Manrope"/>
                <a:cs typeface="Manrope"/>
              </a:defRPr>
            </a:lvl4pPr>
            <a:lvl5pPr>
              <a:defRPr sz="2000">
                <a:latin typeface="Manrope"/>
                <a:ea typeface="Manrope"/>
                <a:cs typeface="Manrope"/>
              </a:defRPr>
            </a:lvl5pPr>
            <a:lvl6pPr>
              <a:defRPr sz="2000">
                <a:latin typeface="Manrope"/>
                <a:ea typeface="Manrope"/>
                <a:cs typeface="Manrope"/>
              </a:defRPr>
            </a:lvl6pPr>
            <a:lvl7pPr>
              <a:defRPr sz="2000">
                <a:latin typeface="Manrope"/>
                <a:ea typeface="Manrope"/>
                <a:cs typeface="Manrope"/>
              </a:defRPr>
            </a:lvl7pPr>
            <a:lvl8pPr>
              <a:defRPr sz="2000">
                <a:latin typeface="Manrope"/>
                <a:ea typeface="Manrope"/>
                <a:cs typeface="Manrope"/>
              </a:defRPr>
            </a:lvl8pPr>
            <a:lvl9pPr>
              <a:defRPr sz="2000">
                <a:latin typeface="Manrope"/>
                <a:ea typeface="Manrope"/>
                <a:cs typeface="Manrope"/>
              </a:defRPr>
            </a:lvl9pPr>
          </a:lstStyle>
          <a:p xmlns:a="http://schemas.openxmlformats.org/drawingml/2006/main">
            <a:pPr marL="0" marR="0" lvl="0" indent="0" algn="l">
              <a:spcBef>
                <a:spcPts val="0"/>
              </a:spcBef>
              <a:spcAft>
                <a:spcPts val="0"/>
              </a:spcAft>
              <a:buNone/>
              <a:defRPr sz="2000">
                <a:latin typeface="Manrope"/>
                <a:ea typeface="Manrope"/>
                <a:cs typeface="Manrope"/>
              </a:defRPr>
            </a:pPr>
            <a:r>
              <a:rPr sz="2000">
                <a:solidFill>
                  <a:srgbClr val="203B34"/>
                </a:solidFill>
                <a:latin typeface="Manrope"/>
                <a:ea typeface="Manrope"/>
                <a:cs typeface="Manrope"/>
              </a:rPr>
              <a:t>Check Python, Shell and boundary cases.</a:t>
            </a:r>
            <a:endParaRPr sz="2000">
              <a:solidFill>
                <a:srgbClr val="203B34"/>
              </a:solidFill>
              <a:latin typeface="Manrope"/>
              <a:ea typeface="Manrope"/>
              <a:cs typeface="Manrope"/>
            </a:endParaRPr>
          </a:p>
          <a:p xmlns:a="http://schemas.openxmlformats.org/drawingml/2006/main">
            <a:pPr marL="0" marR="0" lvl="0" indent="0" algn="l">
              <a:spcBef>
                <a:spcPts val="0"/>
              </a:spcBef>
              <a:spcAft>
                <a:spcPts val="0"/>
              </a:spcAft>
              <a:buNone/>
              <a:defRPr sz="2000">
                <a:latin typeface="Manrope"/>
                <a:ea typeface="Manrope"/>
                <a:cs typeface="Manrope"/>
              </a:defRPr>
            </a:pPr>
            <a:r>
              <a:rPr sz="2000">
                <a:solidFill>
                  <a:srgbClr val="203B34"/>
                </a:solidFill>
                <a:latin typeface="Manrope"/>
                <a:ea typeface="Manrope"/>
                <a:cs typeface="Manrope"/>
              </a:rPr>
              <a:t>Review suggestions can reveal gaps.</a:t>
            </a:r>
            <a:endParaRPr sz="2000">
              <a:solidFill>
                <a:srgbClr val="203B34"/>
              </a:solidFill>
              <a:latin typeface="Manrope"/>
              <a:ea typeface="Manrope"/>
              <a:cs typeface="Manrope"/>
            </a:endParaRPr>
          </a:p>
        </p:txBody>
      </p:sp>
      <p:sp>
        <p:nvSpPr>
          <p:cNvPr id="68" name="Google Shape;68;p10">
            <a:extLst xmlns:a="http://schemas.openxmlformats.org/drawingml/2006/main">
              <a:ext uri="{FF2B5EF4-FFF2-40B4-BE49-F238E27FC236}">
                <a16:creationId xmlns:a16="http://schemas.microsoft.com/office/drawing/2014/main" id="{241AC74B-8112-4BF2-AF4F-F57BAFD32070}"/>
              </a:ext>
            </a:extLst>
          </p:cNvPr>
          <p:cNvSpPr>
            <a:spLocks xmlns:a="http://schemas.openxmlformats.org/drawingml/2006/main" noGrp="1"/>
          </p:cNvSpPr>
          <p:nvPr/>
        </p:nvSpPr>
        <p:spPr>
          <a:xfrm xmlns:a="http://schemas.openxmlformats.org/drawingml/2006/main">
            <a:off x="609600" y="4114800"/>
            <a:ext cx="35307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700" b="1">
                <a:latin typeface="Manrope"/>
                <a:ea typeface="Manrope"/>
                <a:cs typeface="Manrope"/>
              </a:defRPr>
            </a:defPPr>
            <a:lvl1pPr>
              <a:defRPr sz="1700" b="1">
                <a:latin typeface="Manrope"/>
                <a:ea typeface="Manrope"/>
                <a:cs typeface="Manrope"/>
              </a:defRPr>
            </a:lvl1pPr>
            <a:lvl2pPr>
              <a:defRPr sz="1700" b="1">
                <a:latin typeface="Manrope"/>
                <a:ea typeface="Manrope"/>
                <a:cs typeface="Manrope"/>
              </a:defRPr>
            </a:lvl2pPr>
            <a:lvl3pPr>
              <a:defRPr sz="1700" b="1">
                <a:latin typeface="Manrope"/>
                <a:ea typeface="Manrope"/>
                <a:cs typeface="Manrope"/>
              </a:defRPr>
            </a:lvl3pPr>
            <a:lvl4pPr>
              <a:defRPr sz="1700" b="1">
                <a:latin typeface="Manrope"/>
                <a:ea typeface="Manrope"/>
                <a:cs typeface="Manrope"/>
              </a:defRPr>
            </a:lvl4pPr>
            <a:lvl5pPr>
              <a:defRPr sz="1700" b="1">
                <a:latin typeface="Manrope"/>
                <a:ea typeface="Manrope"/>
                <a:cs typeface="Manrope"/>
              </a:defRPr>
            </a:lvl5pPr>
            <a:lvl6pPr>
              <a:defRPr sz="1700" b="1">
                <a:latin typeface="Manrope"/>
                <a:ea typeface="Manrope"/>
                <a:cs typeface="Manrope"/>
              </a:defRPr>
            </a:lvl6pPr>
            <a:lvl7pPr>
              <a:defRPr sz="1700" b="1">
                <a:latin typeface="Manrope"/>
                <a:ea typeface="Manrope"/>
                <a:cs typeface="Manrope"/>
              </a:defRPr>
            </a:lvl7pPr>
            <a:lvl8pPr>
              <a:defRPr sz="1700" b="1">
                <a:latin typeface="Manrope"/>
                <a:ea typeface="Manrope"/>
                <a:cs typeface="Manrope"/>
              </a:defRPr>
            </a:lvl8pPr>
            <a:lvl9pPr>
              <a:defRPr sz="1700" b="1">
                <a:latin typeface="Manrope"/>
                <a:ea typeface="Manrope"/>
                <a:cs typeface="Manrope"/>
              </a:defRPr>
            </a:lvl9pPr>
          </a:lstStyle>
          <a:p xmlns:a="http://schemas.openxmlformats.org/drawingml/2006/main">
            <a:pPr marL="0" marR="0" lvl="0" indent="0" algn="l">
              <a:spcBef>
                <a:spcPts val="0"/>
              </a:spcBef>
              <a:spcAft>
                <a:spcPts val="0"/>
              </a:spcAft>
              <a:buNone/>
              <a:defRPr sz="1700" b="1">
                <a:latin typeface="Manrope"/>
                <a:ea typeface="Manrope"/>
                <a:cs typeface="Manrope"/>
              </a:defRPr>
            </a:pPr>
            <a:r>
              <a:rPr sz="1700" b="1">
                <a:solidFill>
                  <a:srgbClr val="203B34"/>
                </a:solidFill>
                <a:latin typeface="Manrope"/>
                <a:ea typeface="Manrope"/>
                <a:cs typeface="Manrope"/>
              </a:rPr>
              <a:t>Follow existing conventions</a:t>
            </a:r>
            <a:endParaRPr sz="1600" b="1">
              <a:solidFill>
                <a:srgbClr val="203B34"/>
              </a:solidFill>
              <a:latin typeface="Manrope"/>
              <a:ea typeface="Manrope"/>
              <a:cs typeface="Manrope"/>
            </a:endParaRPr>
          </a:p>
        </p:txBody>
      </p:sp>
      <p:sp>
        <p:nvSpPr>
          <p:cNvPr id="69" name="Google Shape;69;p10">
            <a:extLst xmlns:a="http://schemas.openxmlformats.org/drawingml/2006/main">
              <a:ext uri="{FF2B5EF4-FFF2-40B4-BE49-F238E27FC236}">
                <a16:creationId xmlns:a16="http://schemas.microsoft.com/office/drawing/2014/main" id="{226CF650-43DE-4613-8D98-2A616B9664C3}"/>
              </a:ext>
            </a:extLst>
          </p:cNvPr>
          <p:cNvSpPr>
            <a:spLocks xmlns:a="http://schemas.openxmlformats.org/drawingml/2006/main" noGrp="1"/>
          </p:cNvSpPr>
          <p:nvPr/>
        </p:nvSpPr>
        <p:spPr>
          <a:xfrm xmlns:a="http://schemas.openxmlformats.org/drawingml/2006/main">
            <a:off x="4572000" y="4089400"/>
            <a:ext cx="7010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000">
                <a:latin typeface="Manrope"/>
                <a:ea typeface="Manrope"/>
                <a:cs typeface="Manrope"/>
              </a:defRPr>
            </a:defPPr>
            <a:lvl1pPr>
              <a:defRPr sz="2000">
                <a:latin typeface="Manrope"/>
                <a:ea typeface="Manrope"/>
                <a:cs typeface="Manrope"/>
              </a:defRPr>
            </a:lvl1pPr>
            <a:lvl2pPr>
              <a:defRPr sz="2000">
                <a:latin typeface="Manrope"/>
                <a:ea typeface="Manrope"/>
                <a:cs typeface="Manrope"/>
              </a:defRPr>
            </a:lvl2pPr>
            <a:lvl3pPr>
              <a:defRPr sz="2000">
                <a:latin typeface="Manrope"/>
                <a:ea typeface="Manrope"/>
                <a:cs typeface="Manrope"/>
              </a:defRPr>
            </a:lvl3pPr>
            <a:lvl4pPr>
              <a:defRPr sz="2000">
                <a:latin typeface="Manrope"/>
                <a:ea typeface="Manrope"/>
                <a:cs typeface="Manrope"/>
              </a:defRPr>
            </a:lvl4pPr>
            <a:lvl5pPr>
              <a:defRPr sz="2000">
                <a:latin typeface="Manrope"/>
                <a:ea typeface="Manrope"/>
                <a:cs typeface="Manrope"/>
              </a:defRPr>
            </a:lvl5pPr>
            <a:lvl6pPr>
              <a:defRPr sz="2000">
                <a:latin typeface="Manrope"/>
                <a:ea typeface="Manrope"/>
                <a:cs typeface="Manrope"/>
              </a:defRPr>
            </a:lvl6pPr>
            <a:lvl7pPr>
              <a:defRPr sz="2000">
                <a:latin typeface="Manrope"/>
                <a:ea typeface="Manrope"/>
                <a:cs typeface="Manrope"/>
              </a:defRPr>
            </a:lvl7pPr>
            <a:lvl8pPr>
              <a:defRPr sz="2000">
                <a:latin typeface="Manrope"/>
                <a:ea typeface="Manrope"/>
                <a:cs typeface="Manrope"/>
              </a:defRPr>
            </a:lvl8pPr>
            <a:lvl9pPr>
              <a:defRPr sz="2000">
                <a:latin typeface="Manrope"/>
                <a:ea typeface="Manrope"/>
                <a:cs typeface="Manrope"/>
              </a:defRPr>
            </a:lvl9pPr>
          </a:lstStyle>
          <a:p xmlns:a="http://schemas.openxmlformats.org/drawingml/2006/main">
            <a:pPr marL="0" marR="0" lvl="0" indent="0" algn="l">
              <a:spcBef>
                <a:spcPts val="0"/>
              </a:spcBef>
              <a:spcAft>
                <a:spcPts val="0"/>
              </a:spcAft>
              <a:buNone/>
              <a:defRPr sz="2000">
                <a:latin typeface="Manrope"/>
                <a:ea typeface="Manrope"/>
                <a:cs typeface="Manrope"/>
              </a:defRPr>
            </a:pPr>
            <a:r>
              <a:rPr sz="2000">
                <a:solidFill>
                  <a:srgbClr val="203B34"/>
                </a:solidFill>
                <a:latin typeface="Manrope"/>
                <a:ea typeface="Manrope"/>
                <a:cs typeface="Manrope"/>
              </a:rPr>
              <a:t>Use the existing pattern of two literal rules:</a:t>
            </a:r>
            <a:endParaRPr sz="2000">
              <a:solidFill>
                <a:srgbClr val="203B34"/>
              </a:solidFill>
              <a:latin typeface="Manrope"/>
              <a:ea typeface="Manrope"/>
              <a:cs typeface="Manrope"/>
            </a:endParaRPr>
          </a:p>
          <a:p xmlns:a="http://schemas.openxmlformats.org/drawingml/2006/main">
            <a:pPr marL="0" marR="0" lvl="0" indent="0" algn="l">
              <a:spcBef>
                <a:spcPts val="0"/>
              </a:spcBef>
              <a:spcAft>
                <a:spcPts val="0"/>
              </a:spcAft>
              <a:buNone/>
              <a:defRPr sz="2000">
                <a:latin typeface="Manrope"/>
                <a:ea typeface="Manrope"/>
                <a:cs typeface="Manrope"/>
              </a:defRPr>
            </a:pPr>
            <a:r>
              <a:rPr sz="2000">
                <a:solidFill>
                  <a:srgbClr val="203B34"/>
                </a:solidFill>
                <a:latin typeface="Manrope"/>
                <a:ea typeface="Manrope"/>
                <a:cs typeface="Manrope"/>
              </a:rPr>
              <a:t>no space and exactly one space after #!.</a:t>
            </a:r>
            <a:endParaRPr sz="2000">
              <a:solidFill>
                <a:srgbClr val="203B34"/>
              </a:solidFill>
              <a:latin typeface="Manrope"/>
              <a:ea typeface="Manrope"/>
              <a:cs typeface="Manrope"/>
            </a:endParaRPr>
          </a:p>
        </p:txBody>
      </p:sp>
      <p:sp>
        <p:nvSpPr>
          <p:cNvPr id="70" name="Google Shape;70;p10">
            <a:extLst xmlns:a="http://schemas.openxmlformats.org/drawingml/2006/main">
              <a:ext uri="{FF2B5EF4-FFF2-40B4-BE49-F238E27FC236}">
                <a16:creationId xmlns:a16="http://schemas.microsoft.com/office/drawing/2014/main" id="{5373534B-C000-4FD3-B40D-9A29DF976AAF}"/>
              </a:ext>
            </a:extLst>
          </p:cNvPr>
          <p:cNvSpPr>
            <a:spLocks xmlns:a="http://schemas.openxmlformats.org/drawingml/2006/main" noGrp="1"/>
          </p:cNvSpPr>
          <p:nvPr/>
        </p:nvSpPr>
        <p:spPr>
          <a:xfrm xmlns:a="http://schemas.openxmlformats.org/drawingml/2006/main">
            <a:off x="609600" y="5156200"/>
            <a:ext cx="35307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700" b="1">
                <a:latin typeface="Manrope"/>
                <a:ea typeface="Manrope"/>
                <a:cs typeface="Manrope"/>
              </a:defRPr>
            </a:defPPr>
            <a:lvl1pPr>
              <a:defRPr sz="1700" b="1">
                <a:latin typeface="Manrope"/>
                <a:ea typeface="Manrope"/>
                <a:cs typeface="Manrope"/>
              </a:defRPr>
            </a:lvl1pPr>
            <a:lvl2pPr>
              <a:defRPr sz="1700" b="1">
                <a:latin typeface="Manrope"/>
                <a:ea typeface="Manrope"/>
                <a:cs typeface="Manrope"/>
              </a:defRPr>
            </a:lvl2pPr>
            <a:lvl3pPr>
              <a:defRPr sz="1700" b="1">
                <a:latin typeface="Manrope"/>
                <a:ea typeface="Manrope"/>
                <a:cs typeface="Manrope"/>
              </a:defRPr>
            </a:lvl3pPr>
            <a:lvl4pPr>
              <a:defRPr sz="1700" b="1">
                <a:latin typeface="Manrope"/>
                <a:ea typeface="Manrope"/>
                <a:cs typeface="Manrope"/>
              </a:defRPr>
            </a:lvl4pPr>
            <a:lvl5pPr>
              <a:defRPr sz="1700" b="1">
                <a:latin typeface="Manrope"/>
                <a:ea typeface="Manrope"/>
                <a:cs typeface="Manrope"/>
              </a:defRPr>
            </a:lvl5pPr>
            <a:lvl6pPr>
              <a:defRPr sz="1700" b="1">
                <a:latin typeface="Manrope"/>
                <a:ea typeface="Manrope"/>
                <a:cs typeface="Manrope"/>
              </a:defRPr>
            </a:lvl6pPr>
            <a:lvl7pPr>
              <a:defRPr sz="1700" b="1">
                <a:latin typeface="Manrope"/>
                <a:ea typeface="Manrope"/>
                <a:cs typeface="Manrope"/>
              </a:defRPr>
            </a:lvl7pPr>
            <a:lvl8pPr>
              <a:defRPr sz="1700" b="1">
                <a:latin typeface="Manrope"/>
                <a:ea typeface="Manrope"/>
                <a:cs typeface="Manrope"/>
              </a:defRPr>
            </a:lvl8pPr>
            <a:lvl9pPr>
              <a:defRPr sz="1700" b="1">
                <a:latin typeface="Manrope"/>
                <a:ea typeface="Manrope"/>
                <a:cs typeface="Manrope"/>
              </a:defRPr>
            </a:lvl9pPr>
          </a:lstStyle>
          <a:p xmlns:a="http://schemas.openxmlformats.org/drawingml/2006/main">
            <a:pPr marL="0" marR="0" lvl="0" indent="0" algn="l">
              <a:spcBef>
                <a:spcPts val="0"/>
              </a:spcBef>
              <a:spcAft>
                <a:spcPts val="0"/>
              </a:spcAft>
              <a:buNone/>
              <a:defRPr sz="1700" b="1">
                <a:latin typeface="Manrope"/>
                <a:ea typeface="Manrope"/>
                <a:cs typeface="Manrope"/>
              </a:defRPr>
            </a:pPr>
            <a:r>
              <a:rPr sz="1700" b="1">
                <a:solidFill>
                  <a:srgbClr val="203B34"/>
                </a:solidFill>
                <a:latin typeface="Manrope"/>
                <a:ea typeface="Manrope"/>
                <a:cs typeface="Manrope"/>
              </a:rPr>
              <a:t>Keep fixes focused</a:t>
            </a:r>
            <a:endParaRPr sz="1600" b="1">
              <a:solidFill>
                <a:srgbClr val="203B34"/>
              </a:solidFill>
              <a:latin typeface="Manrope"/>
              <a:ea typeface="Manrope"/>
              <a:cs typeface="Manrope"/>
            </a:endParaRPr>
          </a:p>
        </p:txBody>
      </p:sp>
      <p:sp>
        <p:nvSpPr>
          <p:cNvPr id="71" name="Google Shape;71;p10">
            <a:extLst xmlns:a="http://schemas.openxmlformats.org/drawingml/2006/main">
              <a:ext uri="{FF2B5EF4-FFF2-40B4-BE49-F238E27FC236}">
                <a16:creationId xmlns:a16="http://schemas.microsoft.com/office/drawing/2014/main" id="{3FDA41D3-5D6C-49DB-8E93-E6A80582452A}"/>
              </a:ext>
            </a:extLst>
          </p:cNvPr>
          <p:cNvSpPr>
            <a:spLocks xmlns:a="http://schemas.openxmlformats.org/drawingml/2006/main" noGrp="1"/>
          </p:cNvSpPr>
          <p:nvPr/>
        </p:nvSpPr>
        <p:spPr>
          <a:xfrm xmlns:a="http://schemas.openxmlformats.org/drawingml/2006/main">
            <a:off x="4572000" y="5130800"/>
            <a:ext cx="7010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000">
                <a:latin typeface="Manrope"/>
                <a:ea typeface="Manrope"/>
                <a:cs typeface="Manrope"/>
              </a:defRPr>
            </a:defPPr>
            <a:lvl1pPr>
              <a:defRPr sz="2000">
                <a:latin typeface="Manrope"/>
                <a:ea typeface="Manrope"/>
                <a:cs typeface="Manrope"/>
              </a:defRPr>
            </a:lvl1pPr>
            <a:lvl2pPr>
              <a:defRPr sz="2000">
                <a:latin typeface="Manrope"/>
                <a:ea typeface="Manrope"/>
                <a:cs typeface="Manrope"/>
              </a:defRPr>
            </a:lvl2pPr>
            <a:lvl3pPr>
              <a:defRPr sz="2000">
                <a:latin typeface="Manrope"/>
                <a:ea typeface="Manrope"/>
                <a:cs typeface="Manrope"/>
              </a:defRPr>
            </a:lvl3pPr>
            <a:lvl4pPr>
              <a:defRPr sz="2000">
                <a:latin typeface="Manrope"/>
                <a:ea typeface="Manrope"/>
                <a:cs typeface="Manrope"/>
              </a:defRPr>
            </a:lvl4pPr>
            <a:lvl5pPr>
              <a:defRPr sz="2000">
                <a:latin typeface="Manrope"/>
                <a:ea typeface="Manrope"/>
                <a:cs typeface="Manrope"/>
              </a:defRPr>
            </a:lvl5pPr>
            <a:lvl6pPr>
              <a:defRPr sz="2000">
                <a:latin typeface="Manrope"/>
                <a:ea typeface="Manrope"/>
                <a:cs typeface="Manrope"/>
              </a:defRPr>
            </a:lvl6pPr>
            <a:lvl7pPr>
              <a:defRPr sz="2000">
                <a:latin typeface="Manrope"/>
                <a:ea typeface="Manrope"/>
                <a:cs typeface="Manrope"/>
              </a:defRPr>
            </a:lvl7pPr>
            <a:lvl8pPr>
              <a:defRPr sz="2000">
                <a:latin typeface="Manrope"/>
                <a:ea typeface="Manrope"/>
                <a:cs typeface="Manrope"/>
              </a:defRPr>
            </a:lvl8pPr>
            <a:lvl9pPr>
              <a:defRPr sz="2000">
                <a:latin typeface="Manrope"/>
                <a:ea typeface="Manrope"/>
                <a:cs typeface="Manrope"/>
              </a:defRPr>
            </a:lvl9pPr>
          </a:lstStyle>
          <a:p xmlns:a="http://schemas.openxmlformats.org/drawingml/2006/main">
            <a:pPr marL="0" marR="0" lvl="0" indent="0" algn="l">
              <a:spcBef>
                <a:spcPts val="0"/>
              </a:spcBef>
              <a:spcAft>
                <a:spcPts val="0"/>
              </a:spcAft>
              <a:buNone/>
              <a:defRPr sz="2000">
                <a:latin typeface="Manrope"/>
                <a:ea typeface="Manrope"/>
                <a:cs typeface="Manrope"/>
              </a:defRPr>
            </a:pPr>
            <a:r>
              <a:rPr sz="2000">
                <a:solidFill>
                  <a:srgbClr val="203B34"/>
                </a:solidFill>
                <a:latin typeface="Manrope"/>
                <a:ea typeface="Manrope"/>
                <a:cs typeface="Manrope"/>
              </a:rPr>
              <a:t>Reproduce first, then compare the same tests.</a:t>
            </a:r>
            <a:endParaRPr sz="2000">
              <a:solidFill>
                <a:srgbClr val="203B34"/>
              </a:solidFill>
              <a:latin typeface="Manrope"/>
              <a:ea typeface="Manrope"/>
              <a:cs typeface="Manrope"/>
            </a:endParaRPr>
          </a:p>
          <a:p xmlns:a="http://schemas.openxmlformats.org/drawingml/2006/main">
            <a:pPr marL="0" marR="0" lvl="0" indent="0" algn="l">
              <a:spcBef>
                <a:spcPts val="0"/>
              </a:spcBef>
              <a:spcAft>
                <a:spcPts val="0"/>
              </a:spcAft>
              <a:buNone/>
              <a:defRPr sz="2000">
                <a:latin typeface="Manrope"/>
                <a:ea typeface="Manrope"/>
                <a:cs typeface="Manrope"/>
              </a:defRPr>
            </a:pPr>
            <a:r>
              <a:rPr sz="2000">
                <a:solidFill>
                  <a:srgbClr val="203B34"/>
                </a:solidFill>
                <a:latin typeface="Manrope"/>
                <a:ea typeface="Manrope"/>
                <a:cs typeface="Manrope"/>
              </a:rPr>
              <a:t>Change the relevant rules and their tests.</a:t>
            </a:r>
            <a:endParaRPr sz="2000">
              <a:solidFill>
                <a:srgbClr val="203B34"/>
              </a:solidFill>
              <a:latin typeface="Manrope"/>
              <a:ea typeface="Manrope"/>
              <a:cs typeface="Manrope"/>
            </a:endParaRPr>
          </a:p>
        </p:txBody>
      </p:sp>
    </p:spTree>
    <p:extLst>
      <p:ext uri="{BB962C8B-B14F-4D97-AF65-F5344CB8AC3E}">
        <p14:creationId xmlns:p14="http://schemas.microsoft.com/office/powerpoint/2010/main" val="1746114630"/>
      </p:ext>
    </p:extLst>
  </p:cSld>
</p:sld>
</file>

<file path=ppt/theme/theme1.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2026-10-25T08:40:24.6520000Z</dcterms:created>
  <dcterms:modified xsi:type="dcterms:W3CDTF">2026-10-25T08:40:24.6520000Z</dcterms:modified>
</coreProperties>
</file>