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f3daef812224243" /><Relationship Type="http://schemas.openxmlformats.org/officeDocument/2006/relationships/extended-properties" Target="/docProps/app.xml" Id="R4947c141975c408f" /><Relationship Type="http://schemas.openxmlformats.org/officeDocument/2006/relationships/officeDocument" Target="/ppt/presentation.xml" Id="R7a90155ac44948a6"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8aeb17c13e94c6c"/>
    <p:sldMasterId xmlns:r="http://schemas.openxmlformats.org/officeDocument/2006/relationships" id="2147483650" r:id="R1f684f86f069429b"/>
  </p:sldMasterIdLst>
  <p:notesMasterIdLst>
    <p:notesMasterId xmlns:r="http://schemas.openxmlformats.org/officeDocument/2006/relationships" r:id="R63250f908ac844ea"/>
  </p:notesMasterIdLst>
  <p:sldIdLst>
    <p:sldId xmlns:r="http://schemas.openxmlformats.org/officeDocument/2006/relationships" id="256" r:id="Rfc3eeb7e3ae242d8"/>
    <p:sldId xmlns:r="http://schemas.openxmlformats.org/officeDocument/2006/relationships" id="257" r:id="Rb8e7e01332fa49d8"/>
    <p:sldId xmlns:r="http://schemas.openxmlformats.org/officeDocument/2006/relationships" id="258" r:id="Rbed1cd04bd76423a"/>
    <p:sldId xmlns:r="http://schemas.openxmlformats.org/officeDocument/2006/relationships" id="259" r:id="Reda7994dad024eb8"/>
  </p:sldIdLst>
  <p:sldSz cx="12192000" cy="6858000"/>
  <p:notesSz cx="6858000" cy="9144000"/>
  <p:embeddedFontLst>
    <p:embeddedFont>
      <p:font typeface="Manrope"/>
      <p:regular xmlns:r="http://schemas.openxmlformats.org/officeDocument/2006/relationships" r:id="Rac4b06eb18c74260"/>
      <p:bold xmlns:r="http://schemas.openxmlformats.org/officeDocument/2006/relationships" r:id="R411a33194b8c4b92"/>
    </p:embeddedFont>
    <p:embeddedFont>
      <p:font typeface="Roboto Mono"/>
      <p:regular xmlns:r="http://schemas.openxmlformats.org/officeDocument/2006/relationships" r:id="R025908181d17463d"/>
      <p:bold xmlns:r="http://schemas.openxmlformats.org/officeDocument/2006/relationships" r:id="R7b1f32bc4a884afb"/>
      <p:italic xmlns:r="http://schemas.openxmlformats.org/officeDocument/2006/relationships" r:id="R1f622fa0f3044b17"/>
      <p:boldItalic xmlns:r="http://schemas.openxmlformats.org/officeDocument/2006/relationships" r:id="Rfe42d6deb1b447a4"/>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dec44c226aa481c" /><Relationship Type="http://schemas.openxmlformats.org/officeDocument/2006/relationships/slideMaster" Target="/ppt/slideMasters/slideMaster1.xml" Id="Re8aeb17c13e94c6c" /><Relationship Type="http://schemas.openxmlformats.org/officeDocument/2006/relationships/slideMaster" Target="/ppt/slideMasters/slideMaster2.xml" Id="R1f684f86f069429b" /><Relationship Type="http://schemas.openxmlformats.org/officeDocument/2006/relationships/notesMaster" Target="/ppt/notesMasters/notesMaster1.xml" Id="R63250f908ac844ea" /><Relationship Type="http://schemas.openxmlformats.org/officeDocument/2006/relationships/presProps" Target="/ppt/presProps.xml" Id="R8f4f9869cc4d4fae" /><Relationship Type="http://schemas.openxmlformats.org/officeDocument/2006/relationships/tableStyles" Target="/ppt/tableStyles.xml" Id="Rc90775c023c449f7" /><Relationship Type="http://schemas.openxmlformats.org/officeDocument/2006/relationships/font" Target="/ppt/fonts/font.dat" Id="Rac4b06eb18c74260" /><Relationship Type="http://schemas.openxmlformats.org/officeDocument/2006/relationships/font" Target="/ppt/fonts/font2.dat" Id="R411a33194b8c4b92" /><Relationship Type="http://schemas.openxmlformats.org/officeDocument/2006/relationships/font" Target="/ppt/fonts/font3.dat" Id="R025908181d17463d" /><Relationship Type="http://schemas.openxmlformats.org/officeDocument/2006/relationships/font" Target="/ppt/fonts/font4.dat" Id="R7b1f32bc4a884afb" /><Relationship Type="http://schemas.openxmlformats.org/officeDocument/2006/relationships/font" Target="/ppt/fonts/font5.dat" Id="R1f622fa0f3044b17" /><Relationship Type="http://schemas.openxmlformats.org/officeDocument/2006/relationships/font" Target="/ppt/fonts/font6.dat" Id="Rfe42d6deb1b447a4" /><Relationship Type="http://schemas.openxmlformats.org/officeDocument/2006/relationships/slide" Target="/ppt/slides/slide1.xml" Id="Rfc3eeb7e3ae242d8" /><Relationship Type="http://schemas.openxmlformats.org/officeDocument/2006/relationships/slide" Target="/ppt/slides/slide2.xml" Id="Rb8e7e01332fa49d8" /><Relationship Type="http://schemas.openxmlformats.org/officeDocument/2006/relationships/slide" Target="/ppt/slides/slide3.xml" Id="Rbed1cd04bd76423a" /><Relationship Type="http://schemas.openxmlformats.org/officeDocument/2006/relationships/slide" Target="/ppt/slides/slide4.xml" Id="Reda7994dad024eb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072e288700b644b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1da70b2d1044357" /><Relationship Type="http://schemas.openxmlformats.org/officeDocument/2006/relationships/notesMaster" Target="/ppt/notesMasters/notesMaster1.xml" Id="Re1a9db9396b24c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0d11f285f7d5450c" /><Relationship Type="http://schemas.openxmlformats.org/officeDocument/2006/relationships/notesMaster" Target="/ppt/notesMasters/notesMaster1.xml" Id="R7d093718dc1644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dabf0469422c424c" /><Relationship Type="http://schemas.openxmlformats.org/officeDocument/2006/relationships/notesMaster" Target="/ppt/notesMasters/notesMaster1.xml" Id="R3dbab106f68849d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aee8af347ee4e21" /><Relationship Type="http://schemas.openxmlformats.org/officeDocument/2006/relationships/notesMaster" Target="/ppt/notesMasters/notesMaster1.xml" Id="R337b4be61e5342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The first challenge was understanding why Tika identified this Python script as Shell. A shebang is the first line that names the interpreter. The old Python rule searched for slash bin slash env python at offset one. Offset means the starting position, counted from zero. In this input, that substring actually starts at offset six, so the Python rule missed it and a Shell rule matched instead. The fix checks two complete prefixes at the start of the file, with no space or exactly one space after hash and exclamation mark. This follows the existing direct-path Python rules, which also have both forms. Prefix matching covers python and version suffixes such as python3 and python3.11.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先说明现象：Python 首行却识别成 Shell。offset 是从 0 开始数的位置。原规则检查位置 1，但 /bin/env python 实际从位置 6 开始，所以 Python 规则没命中。修复从位置 0 匹配两条完整前缀：#!/usr/bin/env python 和 #! /usr/bin/env python。这与已有 Python 直接路径规则成对列出无空格和一个空格的方式一致。前缀匹配同时兼容 python、python3 和 python3.11。多空格、Tab 和 env 参数不在本次修复范围。</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Current scope confirmed 25 October 2026: two literal string prefixes at offset 0, #!/usr/bin/env python and #! /usr/bin/env python. The paired form follows the existing direct-path Python rules, which remain unchanged. Tests include the no-space python, python3 and python3.11 cases plus exactly one space in #! /usr/bin/env python3. Prefix matching also permits version suffixes for the one-space rule, although those variants are not separate rows in the test matrix. Multiple spaces, Tab characters, env options such as env -S, and regex-based whitespace handling are outside this patch.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https://github.com/u8026876/comp2120-gyg-a5/commit/471afbe222655b31cb46415b979a856ccdadcea4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approved cefa669. The restored code is identical to that reviewed source, and the group review policy retains that approval. Terry supplied additional review feedback. The PR is open, with merge and upstream submission pending.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A successful result for one Python example would leave important questions unanswered. The regression checks covered env python, python3 and python3.11 without a space after hash and exclamation mark, and an env python3 example with exactly one space. They also covered existing direct Python paths and Shell scripts. We separated content-only detection from detection with a dot-py filename hint, because metadata can affect the result. A leading-newline control checked that the rule required the start of the file. The same eighteen checks gave seven failures with the original rule, and all eighteen passed with the restored pair of prefixes.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这页讲如何证明修复可靠。content-only 是不给文件名，只靠内容识别；filename hint 是额外给 script.py。无空格的 python、python3、python3.11，加上一个空格的 #! /usr/bin/env python3，都分别用两种方式测试。还测原本正常的 Python 路径、Shell，以及前面多一个换行的输入。相同 18 项测试在原 offset 1 规则下有 7 项失败，换成两条位置 0 的前缀规则后全通过。</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 18 checks are parameterized regression cases, not 18 separate test methods. On 25 October 2026, the negative control kept these tests and temporarily restored only the original /bin/env python rule at offset 1: 7 failures, 0 errors. A second control retained only the no-space prefix: 18 tests, 1 failure in the one-space content-only case. The two Python prefix rules in commit 471afbe222655b31cb46415b979a856ccdadcea4 then passed all 18 checks. Full local core clean install with pedantic checks and randomized locale passed: 1,377 tests, 0 failures/errors, 2 skipped; alternate Xerces checks: 12 tests, 2 skipped; TikaIT: 1 passed; annotation-processor tests: 8 passed; quality checks passed. The restored source is byte-identical to cefa669, which Kyubin approved. The group review policy allows existing reviews to count when they cover the submitted change, so that peer approval remains applicable. Merge and upstream submission remain pending. No full Tika repository test or remote CI claim is made.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https://github.com/u8026876/comp2120-gyg-a5/commit/471afbe222655b31cb46415b979a856ccdadcea4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approved cefa669. The restored code is identical to that reviewed source, and the group review policy retains that approval. Terry supplied additional review feedback. The PR is open, with merge and upstream submission pending.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Terry suggested an ordinary-text example that tested the opposite direction: could Tika incorrectly call this Python? The x occupies position zero, so slash bin slash env python begins exactly at position one, where the old rule expected it. That accidental match produced a false positive. A negative test checks that unsuitable input does not trigger the Python rule. Kyubin separately verified this example on the earlier fix: the original rules returned text slash x-python, while that reviewed version returned text slash plain. The lesson is to preserve useful review examples as automated tests; this permanent test is currently deferred.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这不是要执行的 Python 代码，而是故意构造的普通文本。x 占位置 0，后面的 /bin/env python 正好在位置 1，因此旧规则会误报为 Python。false positive 就是误报。Terry 提议把它加入长期测试，Kyubin 对 cefa669 版本做过独立验证。图中结果引用的是那次单独验证，当前 review 状态以 PR 记录为准。该反例未进入当前 18 项测试，永久回归测试暂缓。</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These observed results come from Kyubin's separate content-only probe on cefa669 and the original MIME registry. This is recorded review evidence rather than a fresh automated check in the current 18-case matrix. The permanent regression test remains deferred. Current review status is recorded on the PR.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https://github.com/u8026876/comp2120-gyg-a5/issues/2#issuecomment-6311536436</a:t>
            </a:r>
            <a:endParaRPr/>
          </a:p>
          <a:p xmlns:a="http://schemas.openxmlformats.org/drawingml/2006/main">
            <a:pPr marL="0" lvl="0" indent="0" algn="l">
              <a:spcBef>
                <a:spcPts val="0"/>
              </a:spcBef>
              <a:spcAft>
                <a:spcPts val="0"/>
              </a:spcAft>
              <a:buNone/>
            </a:pPr>
            <a:r>
              <a:t>https://github.com/u8026876/comp2120-gyg-a5/pull/4#pullrequestreview-5584302852</a:t>
            </a:r>
            <a:endParaRPr/>
          </a:p>
          <a:p xmlns:a="http://schemas.openxmlformats.org/drawingml/2006/main">
            <a:pPr marL="0" lvl="0" indent="0" algn="l">
              <a:spcBef>
                <a:spcPts val="0"/>
              </a:spcBef>
              <a:spcAft>
                <a:spcPts val="0"/>
              </a:spcAft>
              <a:buNone/>
            </a:pPr>
            <a:r>
              <a:t>https://github.com/u8026876/comp2120-gyg-a5/commit/cefa66955d74b2bf488d5ff4044fe2a6563bbf96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approved cefa669. The restored code is identical to that reviewed source, and the group review policy retains that approval. Terry supplied additional review feedback. The PR is open, with merge and upstream submission pending.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The main lesson is that a small code change can affect several kinds of input. Next time, I would plan that range earlier by writing a test matrix with expected outcomes, including misleading ordinary text and boundary cases. I would also review the extra examples raised by teammates and decide which should become permanent tests. I would keep the approach that worked here: establish a baseline, reproduce the problem, make a focused change, and compare the same checks afterwards. The improvement is earlier and more complete coverage, together with lasting evidence from review.</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不要说“下次才先写测试”，因为这次已经先复现再修复。真正的改进是更早考虑完整输入分类，特别是反例和边界情况，并把 review 的有效验证保留在自动测试中。保留已有效的流程：baseline、复现、针对性修改、相同测试前后对比。</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These are proposed process improvements. The misleading-text regression has not been added as part of preparing this presentation. This section uses TIKA-4408 as Jiajun's concrete example and does not claim identical experiences for every group member.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https://github.com/u8026876/comp2120-gyg-a5/issues/2</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https://github.com/u8026876/comp2120-gyg-a5/issues/2#issuecomment-6311536436</a:t>
            </a:r>
            <a:endParaRPr/>
          </a:p>
          <a:p xmlns:a="http://schemas.openxmlformats.org/drawingml/2006/main">
            <a:pPr marL="0" lvl="0" indent="0" algn="l">
              <a:spcBef>
                <a:spcPts val="0"/>
              </a:spcBef>
              <a:spcAft>
                <a:spcPts val="0"/>
              </a:spcAft>
              <a:buNone/>
            </a:pPr>
            <a:r>
              <a:t>https://github.com/u8026876/comp2120-gyg-a5/pull/4#pullrequestreview-5584302852</a:t>
            </a:r>
            <a:endParaRPr/>
          </a:p>
          <a:p xmlns:a="http://schemas.openxmlformats.org/drawingml/2006/main">
            <a:pPr marL="0" lvl="0" indent="0" algn="l">
              <a:spcBef>
                <a:spcPts val="0"/>
              </a:spcBef>
              <a:spcAft>
                <a:spcPts val="0"/>
              </a:spcAft>
              <a:buNone/>
            </a:pPr>
            <a:r>
              <a:t>https://github.com/u8026876/comp2120-gyg-a5/tree/main/presentation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approved cefa669. The restored code is identical to that reviewed source, and the group review policy retains that approval. Terry supplied additional review feedback. The PR is open, with merge and upstream submission pending.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0edbc740fd43c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2.xml" Id="R84e0d98a415548c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2.xml" Id="Rf6fb978ed7a44aa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2.xml" Id="R9628fff2bace4b7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2.xml" Id="Rdcc2d3e0e0a94076" /></Relationships>
</file>

<file path=ppt/slideLayouts/slideLayout1.xml><?xml version="1.0" encoding="utf-8"?>
<p:sldLayout xmlns:p="http://schemas.openxmlformats.org/presentationml/2006/main" matchingName="A4 - Title">
  <p:cSld name="A4 - Title">
    <p:spTree>
      <p:nvGrpSpPr>
        <p:cNvPr id="1" name=""/>
        <p:cNvGrpSpPr/>
        <p:nvPr/>
      </p:nvGrpSpPr>
      <p:grpSpPr>
        <a:xfrm xmlns:a="http://schemas.openxmlformats.org/drawingml/2006/main"/>
      </p:grpSpPr>
      <p:sp>
        <p:nvSpPr>
          <p:cNvPr id="11" name="Google Shape;11;p2">
            <a:extLst xmlns:a="http://schemas.openxmlformats.org/drawingml/2006/main">
              <a:ext uri="{FF2B5EF4-FFF2-40B4-BE49-F238E27FC236}">
                <a16:creationId xmlns:a16="http://schemas.microsoft.com/office/drawing/2014/main" id="{8419BC4A-AB4F-4939-A3CB-EAC1788F6A42}"/>
              </a:ext>
            </a:extLst>
          </p:cNvPr>
          <p:cNvSpPr>
            <a:spLocks xmlns:a="http://schemas.openxmlformats.org/drawingml/2006/main" noGrp="1"/>
          </p:cNvSpPr>
          <p:nvPr>
            <p:ph type="title" idx="0"/>
          </p:nvPr>
        </p:nvSpPr>
        <p:spPr>
          <a:xfrm xmlns:a="http://schemas.openxmlformats.org/drawingml/2006/main">
            <a:off x="609600" y="1428750"/>
            <a:ext cx="10477500" cy="1543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72FDEE64-1AFD-4A7F-993C-1A955970ABDA}"/>
              </a:ext>
            </a:extLst>
          </p:cNvPr>
          <p:cNvSpPr>
            <a:spLocks xmlns:a="http://schemas.openxmlformats.org/drawingml/2006/main" noGrp="1"/>
          </p:cNvSpPr>
          <p:nvPr>
            <p:ph type="subTitle" idx="1"/>
          </p:nvPr>
        </p:nvSpPr>
        <p:spPr>
          <a:xfrm xmlns:a="http://schemas.openxmlformats.org/drawingml/2006/main">
            <a:off x="609600" y="3333750"/>
            <a:ext cx="104775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2.xml><?xml version="1.0" encoding="utf-8"?>
<p:sldLayout xmlns:p="http://schemas.openxmlformats.org/presentationml/2006/main" matchingName="A4 - Explanation and visual">
  <p:cSld name="A4 - Explanation and visual">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3BAC645A-8630-4D79-94D6-B5E25B8644BB}"/>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443749A5-2521-411E-84DF-8048D717D2A2}"/>
              </a:ext>
            </a:extLst>
          </p:cNvPr>
          <p:cNvSpPr>
            <a:spLocks xmlns:a="http://schemas.openxmlformats.org/drawingml/2006/main" noGrp="1"/>
          </p:cNvSpPr>
          <p:nvPr>
            <p:ph type="body" idx="1"/>
          </p:nvPr>
        </p:nvSpPr>
        <p:spPr>
          <a:xfrm xmlns:a="http://schemas.openxmlformats.org/drawingml/2006/main">
            <a:off x="609600" y="2000250"/>
            <a:ext cx="4476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
        <p:nvSpPr>
          <p:cNvPr id="17" name="Google Shape;17;p4">
            <a:extLst xmlns:a="http://schemas.openxmlformats.org/drawingml/2006/main">
              <a:ext uri="{FF2B5EF4-FFF2-40B4-BE49-F238E27FC236}">
                <a16:creationId xmlns:a16="http://schemas.microsoft.com/office/drawing/2014/main" id="{6D09A10B-1B85-473D-9E8D-6BED8F0388A8}"/>
              </a:ext>
            </a:extLst>
          </p:cNvPr>
          <p:cNvSpPr>
            <a:spLocks xmlns:a="http://schemas.openxmlformats.org/drawingml/2006/main" noGrp="1"/>
          </p:cNvSpPr>
          <p:nvPr>
            <p:ph type="body" idx="2"/>
          </p:nvPr>
        </p:nvSpPr>
        <p:spPr>
          <a:xfrm xmlns:a="http://schemas.openxmlformats.org/drawingml/2006/main">
            <a:off x="5581650" y="2000250"/>
            <a:ext cx="6000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3.xml><?xml version="1.0" encoding="utf-8"?>
<p:sldLayout xmlns:p="http://schemas.openxmlformats.org/presentationml/2006/main" matchingName="A4 - Two columns">
  <p:cSld name="A4 - Two columns">
    <p:spTree>
      <p:nvGrpSpPr>
        <p:cNvPr id="1" name=""/>
        <p:cNvGrpSpPr/>
        <p:nvPr/>
      </p:nvGrpSpPr>
      <p:grpSpPr>
        <a:xfrm xmlns:a="http://schemas.openxmlformats.org/drawingml/2006/main"/>
      </p:grpSpPr>
      <p:sp>
        <p:nvSpPr>
          <p:cNvPr id="19" name="Google Shape;19;p5">
            <a:extLst xmlns:a="http://schemas.openxmlformats.org/drawingml/2006/main">
              <a:ext uri="{FF2B5EF4-FFF2-40B4-BE49-F238E27FC236}">
                <a16:creationId xmlns:a16="http://schemas.microsoft.com/office/drawing/2014/main" id="{F115295E-85C1-4456-B8DF-31DF7B6C627C}"/>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80AE2A0E-B7A9-4502-AACB-E5B789F703FE}"/>
              </a:ext>
            </a:extLst>
          </p:cNvPr>
          <p:cNvSpPr>
            <a:spLocks xmlns:a="http://schemas.openxmlformats.org/drawingml/2006/main" noGrp="1"/>
          </p:cNvSpPr>
          <p:nvPr>
            <p:ph type="body" idx="1"/>
          </p:nvPr>
        </p:nvSpPr>
        <p:spPr>
          <a:xfrm xmlns:a="http://schemas.openxmlformats.org/drawingml/2006/main">
            <a:off x="609600" y="2000250"/>
            <a:ext cx="5238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
        <p:nvSpPr>
          <p:cNvPr id="21" name="Google Shape;21;p5">
            <a:extLst xmlns:a="http://schemas.openxmlformats.org/drawingml/2006/main">
              <a:ext uri="{FF2B5EF4-FFF2-40B4-BE49-F238E27FC236}">
                <a16:creationId xmlns:a16="http://schemas.microsoft.com/office/drawing/2014/main" id="{7681E8BD-6771-40A6-9853-A62EBE20DD1B}"/>
              </a:ext>
            </a:extLst>
          </p:cNvPr>
          <p:cNvSpPr>
            <a:spLocks xmlns:a="http://schemas.openxmlformats.org/drawingml/2006/main" noGrp="1"/>
          </p:cNvSpPr>
          <p:nvPr>
            <p:ph type="body" idx="2"/>
          </p:nvPr>
        </p:nvSpPr>
        <p:spPr>
          <a:xfrm xmlns:a="http://schemas.openxmlformats.org/drawingml/2006/main">
            <a:off x="6343650" y="2000250"/>
            <a:ext cx="5238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4.xml><?xml version="1.0" encoding="utf-8"?>
<p:sldLayout xmlns:p="http://schemas.openxmlformats.org/presentationml/2006/main" matchingName="A4 - Title and content">
  <p:cSld name="A4 - Title and content">
    <p:spTree>
      <p:nvGrpSpPr>
        <p:cNvPr id="1" name=""/>
        <p:cNvGrpSpPr/>
        <p:nvPr/>
      </p:nvGrpSpPr>
      <p:grpSpPr>
        <a:xfrm xmlns:a="http://schemas.openxmlformats.org/drawingml/2006/main"/>
      </p:grpSpPr>
      <p:sp>
        <p:nvSpPr>
          <p:cNvPr id="23" name="Google Shape;23;p6">
            <a:extLst xmlns:a="http://schemas.openxmlformats.org/drawingml/2006/main">
              <a:ext uri="{FF2B5EF4-FFF2-40B4-BE49-F238E27FC236}">
                <a16:creationId xmlns:a16="http://schemas.microsoft.com/office/drawing/2014/main" id="{9EE92BEE-9C49-46FF-AB14-C8F6EF10B10F}"/>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3B89CF53-BDE8-476B-8DC8-A6E3F9CE8D3C}"/>
              </a:ext>
            </a:extLst>
          </p:cNvPr>
          <p:cNvSpPr>
            <a:spLocks xmlns:a="http://schemas.openxmlformats.org/drawingml/2006/main" noGrp="1"/>
          </p:cNvSpPr>
          <p:nvPr>
            <p:ph type="body" idx="1"/>
          </p:nvPr>
        </p:nvSpPr>
        <p:spPr>
          <a:xfrm xmlns:a="http://schemas.openxmlformats.org/drawingml/2006/main">
            <a:off x="609600" y="1952625"/>
            <a:ext cx="10972800" cy="409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5.xml><?xml version="1.0" encoding="utf-8"?>
<p:sldLayout xmlns:p="http://schemas.openxmlformats.org/presentationml/2006/main" matchingName="A4 - Large visual">
  <p:cSld name="A4 - Large visual">
    <p:spTree>
      <p:nvGrpSpPr>
        <p:cNvPr id="1" name=""/>
        <p:cNvGrpSpPr/>
        <p:nvPr/>
      </p:nvGrpSpPr>
      <p:grpSpPr>
        <a:xfrm xmlns:a="http://schemas.openxmlformats.org/drawingml/2006/main"/>
      </p:grpSpPr>
      <p:sp>
        <p:nvSpPr>
          <p:cNvPr id="26" name="Google Shape;26;p7">
            <a:extLst xmlns:a="http://schemas.openxmlformats.org/drawingml/2006/main">
              <a:ext uri="{FF2B5EF4-FFF2-40B4-BE49-F238E27FC236}">
                <a16:creationId xmlns:a16="http://schemas.microsoft.com/office/drawing/2014/main" id="{E18FD40E-96A9-4C40-92A2-A37F107EB4D6}"/>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7" name="Google Shape;27;p7">
            <a:extLst xmlns:a="http://schemas.openxmlformats.org/drawingml/2006/main">
              <a:ext uri="{FF2B5EF4-FFF2-40B4-BE49-F238E27FC236}">
                <a16:creationId xmlns:a16="http://schemas.microsoft.com/office/drawing/2014/main" id="{3774171E-C7DC-4713-8AEC-B00C0FE87CDE}"/>
              </a:ext>
            </a:extLst>
          </p:cNvPr>
          <p:cNvSpPr>
            <a:spLocks xmlns:a="http://schemas.openxmlformats.org/drawingml/2006/main" noGrp="1"/>
          </p:cNvSpPr>
          <p:nvPr>
            <p:ph type="body" idx="1"/>
          </p:nvPr>
        </p:nvSpPr>
        <p:spPr>
          <a:xfrm xmlns:a="http://schemas.openxmlformats.org/drawingml/2006/main">
            <a:off x="609600" y="2000250"/>
            <a:ext cx="1097280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54dd7c5aff54819" /><Relationship Type="http://schemas.openxmlformats.org/officeDocument/2006/relationships/slideLayout" Target="/ppt/slideLayouts/slideLayout1.xml" Id="R8f76fec9297148cb"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504ddcee59914915" /><Relationship Type="http://schemas.openxmlformats.org/officeDocument/2006/relationships/slideLayout" Target="/ppt/slideLayouts/slideLayout2.xml" Id="Rebf8a2a2f9234b9d" /><Relationship Type="http://schemas.openxmlformats.org/officeDocument/2006/relationships/slideLayout" Target="/ppt/slideLayouts/slideLayout3.xml" Id="R757457ba1f264c05" /><Relationship Type="http://schemas.openxmlformats.org/officeDocument/2006/relationships/slideLayout" Target="/ppt/slideLayouts/slideLayout4.xml" Id="R2c07d903a66c4425" /><Relationship Type="http://schemas.openxmlformats.org/officeDocument/2006/relationships/slideLayout" Target="/ppt/slideLayouts/slideLayout5.xml" Id="R2bd7af8bab0d4cf2" /></Relationships>
</file>

<file path=ppt/slideMasters/slideMaster1.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8f76fec9297148cb"/>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51" r:id="Rebf8a2a2f9234b9d"/>
    <p:sldLayoutId xmlns:r="http://schemas.openxmlformats.org/officeDocument/2006/relationships" id="2147483652" r:id="R757457ba1f264c05"/>
    <p:sldLayoutId xmlns:r="http://schemas.openxmlformats.org/officeDocument/2006/relationships" id="2147483653" r:id="R2c07d903a66c4425"/>
    <p:sldLayoutId xmlns:r="http://schemas.openxmlformats.org/officeDocument/2006/relationships" id="2147483654" r:id="R2bd7af8bab0d4cf2"/>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3.xml" Id="Rd3100eeb807f4df0" /><Relationship Type="http://schemas.openxmlformats.org/officeDocument/2006/relationships/notesSlide" Target="/ppt/notesSlides/notesSlide1.xml" Id="Rdabe7d534c0046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4.xml" Id="R5cd0cbd676584661" /><Relationship Type="http://schemas.openxmlformats.org/officeDocument/2006/relationships/notesSlide" Target="/ppt/notesSlides/notesSlide2.xml" Id="R11f3518b81484a6a"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5bbf9eaeb1144e38" /><Relationship Type="http://schemas.openxmlformats.org/officeDocument/2006/relationships/notesSlide" Target="/ppt/notesSlides/notesSlide3.xml" Id="R72668e1d7c6647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627a0c2242ce42c5" /><Relationship Type="http://schemas.openxmlformats.org/officeDocument/2006/relationships/notesSlide" Target="/ppt/notesSlides/notesSlide4.xml" Id="R9798848458204ddc" /></Relationships>
</file>

<file path=ppt/slides/slide1.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42" name="Google Shape;42;p9">
            <a:extLst xmlns:a="http://schemas.openxmlformats.org/drawingml/2006/main">
              <a:ext uri="{FF2B5EF4-FFF2-40B4-BE49-F238E27FC236}">
                <a16:creationId xmlns:a16="http://schemas.microsoft.com/office/drawing/2014/main" id="{C649A7DE-3EB6-4F20-99F1-6CCEBCD4FFF0}"/>
              </a:ext>
            </a:extLst>
          </p:cNvPr>
          <p:cNvSpPr>
            <a:spLocks xmlns:a="http://schemas.openxmlformats.org/drawingml/2006/main" noGrp="1"/>
          </p:cNvSpPr>
          <p:nvPr/>
        </p:nvSpPr>
        <p:spPr>
          <a:xfrm xmlns:a="http://schemas.openxmlformats.org/drawingml/2006/main">
            <a:off x="0" y="3835400"/>
            <a:ext cx="12192000" cy="3022500"/>
          </a:xfrm>
          <a:prstGeom xmlns:a="http://schemas.openxmlformats.org/drawingml/2006/main" prst="rect">
            <a:avLst/>
          </a:prstGeom>
          <a:solidFill xmlns:a="http://schemas.openxmlformats.org/drawingml/2006/main">
            <a:srgbClr val="F0E8D9"/>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43" name="Google Shape;43;p9">
            <a:extLst xmlns:a="http://schemas.openxmlformats.org/drawingml/2006/main">
              <a:ext uri="{FF2B5EF4-FFF2-40B4-BE49-F238E27FC236}">
                <a16:creationId xmlns:a16="http://schemas.microsoft.com/office/drawing/2014/main" id="{F563E5C4-AF43-47DB-A4EC-C542AA844741}"/>
              </a:ext>
            </a:extLst>
          </p:cNvPr>
          <p:cNvSpPr>
            <a:spLocks xmlns:a="http://schemas.openxmlformats.org/drawingml/2006/main" noGrp="1"/>
          </p:cNvSpPr>
          <p:nvPr/>
        </p:nvSpPr>
        <p:spPr>
          <a:xfrm xmlns:a="http://schemas.openxmlformats.org/drawingml/2006/main">
            <a:off x="609600" y="330200"/>
            <a:ext cx="96519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00">
                <a:solidFill>
                  <a:srgbClr val="B8C7AB"/>
                </a:solidFill>
                <a:latin typeface="Roboto Mono"/>
                <a:ea typeface="Roboto Mono"/>
                <a:cs typeface="Roboto Mono"/>
              </a:rPr>
              <a:t>TIKA-4408 / DEVELOPMENT CHALLENGES</a:t>
            </a:r>
            <a:endParaRPr sz="1100">
              <a:solidFill>
                <a:srgbClr val="B8C7AB"/>
              </a:solidFill>
              <a:latin typeface="Roboto Mono"/>
              <a:ea typeface="Roboto Mono"/>
              <a:cs typeface="Roboto Mono"/>
            </a:endParaRPr>
          </a:p>
        </p:txBody>
      </p:sp>
      <p:sp>
        <p:nvSpPr>
          <p:cNvPr id="44" name="Google Shape;44;p9">
            <a:extLst xmlns:a="http://schemas.openxmlformats.org/drawingml/2006/main">
              <a:ext uri="{FF2B5EF4-FFF2-40B4-BE49-F238E27FC236}">
                <a16:creationId xmlns:a16="http://schemas.microsoft.com/office/drawing/2014/main" id="{980F5A0C-EB58-44AD-BE53-98BAFE1A5342}"/>
              </a:ext>
            </a:extLst>
          </p:cNvPr>
          <p:cNvSpPr>
            <a:spLocks xmlns:a="http://schemas.openxmlformats.org/drawingml/2006/main" noGrp="1"/>
          </p:cNvSpPr>
          <p:nvPr/>
        </p:nvSpPr>
        <p:spPr>
          <a:xfrm xmlns:a="http://schemas.openxmlformats.org/drawingml/2006/main">
            <a:off x="10871200" y="330200"/>
            <a:ext cx="7113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100">
                <a:solidFill>
                  <a:srgbClr val="B8C7AB"/>
                </a:solidFill>
                <a:latin typeface="Roboto Mono"/>
                <a:ea typeface="Roboto Mono"/>
                <a:cs typeface="Roboto Mono"/>
              </a:rPr>
              <a:t>01</a:t>
            </a:r>
            <a:endParaRPr sz="1100">
              <a:solidFill>
                <a:srgbClr val="B8C7AB"/>
              </a:solidFill>
              <a:latin typeface="Roboto Mono"/>
              <a:ea typeface="Roboto Mono"/>
              <a:cs typeface="Roboto Mono"/>
            </a:endParaRPr>
          </a:p>
        </p:txBody>
      </p:sp>
      <p:sp>
        <p:nvSpPr>
          <p:cNvPr id="45" name="Google Shape;45;p9">
            <a:extLst xmlns:a="http://schemas.openxmlformats.org/drawingml/2006/main">
              <a:ext uri="{FF2B5EF4-FFF2-40B4-BE49-F238E27FC236}">
                <a16:creationId xmlns:a16="http://schemas.microsoft.com/office/drawing/2014/main" id="{33D82BA1-51F6-46A3-A292-B6322244794D}"/>
              </a:ext>
            </a:extLst>
          </p:cNvPr>
          <p:cNvSpPr>
            <a:spLocks xmlns:a="http://schemas.openxmlformats.org/drawingml/2006/main" noGrp="1"/>
          </p:cNvSpPr>
          <p:nvPr>
            <p:ph type="title" idx="0"/>
          </p:nvPr>
        </p:nvSpPr>
        <p:spPr>
          <a:xfrm xmlns:a="http://schemas.openxmlformats.org/drawingml/2006/main">
            <a:off x="609600" y="952500"/>
            <a:ext cx="10972800" cy="9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Challenge 1: finding the real cause</a:t>
            </a:r>
            <a:endParaRPr sz="3500" b="1">
              <a:solidFill>
                <a:srgbClr val="F0E8D9"/>
              </a:solidFill>
              <a:latin typeface="Manrope"/>
              <a:ea typeface="Manrope"/>
              <a:cs typeface="Manrope"/>
            </a:endParaRPr>
          </a:p>
        </p:txBody>
      </p:sp>
      <p:sp>
        <p:nvSpPr>
          <p:cNvPr id="46" name="Google Shape;46;p9">
            <a:extLst xmlns:a="http://schemas.openxmlformats.org/drawingml/2006/main">
              <a:ext uri="{FF2B5EF4-FFF2-40B4-BE49-F238E27FC236}">
                <a16:creationId xmlns:a16="http://schemas.microsoft.com/office/drawing/2014/main" id="{35D0A4BF-CD5A-4522-B7C2-CCF382DD9AEF}"/>
              </a:ext>
            </a:extLst>
          </p:cNvPr>
          <p:cNvSpPr>
            <a:spLocks xmlns:a="http://schemas.openxmlformats.org/drawingml/2006/main" noGrp="1"/>
          </p:cNvSpPr>
          <p:nvPr/>
        </p:nvSpPr>
        <p:spPr>
          <a:xfrm xmlns:a="http://schemas.openxmlformats.org/drawingml/2006/main">
            <a:off x="7620000" y="6578600"/>
            <a:ext cx="3962400" cy="20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900">
                <a:solidFill>
                  <a:srgbClr val="203B34"/>
                </a:solidFill>
                <a:latin typeface="Manrope"/>
                <a:ea typeface="Manrope"/>
                <a:cs typeface="Manrope"/>
              </a:rPr>
              <a:t>Jiajun Li / TIKA-4408</a:t>
            </a:r>
            <a:endParaRPr sz="900">
              <a:solidFill>
                <a:srgbClr val="203B34"/>
              </a:solidFill>
              <a:latin typeface="Manrope"/>
              <a:ea typeface="Manrope"/>
              <a:cs typeface="Manrope"/>
            </a:endParaRPr>
          </a:p>
        </p:txBody>
      </p:sp>
      <p:sp>
        <p:nvSpPr>
          <p:cNvPr id="47" name="Google Shape;47;p9">
            <a:extLst xmlns:a="http://schemas.openxmlformats.org/drawingml/2006/main">
              <a:ext uri="{FF2B5EF4-FFF2-40B4-BE49-F238E27FC236}">
                <a16:creationId xmlns:a16="http://schemas.microsoft.com/office/drawing/2014/main" id="{9CA6DB4B-926F-4A17-9A79-E05731261294}"/>
              </a:ext>
            </a:extLst>
          </p:cNvPr>
          <p:cNvSpPr>
            <a:spLocks xmlns:a="http://schemas.openxmlformats.org/drawingml/2006/main" noGrp="1"/>
          </p:cNvSpPr>
          <p:nvPr/>
        </p:nvSpPr>
        <p:spPr>
          <a:xfrm xmlns:a="http://schemas.openxmlformats.org/drawingml/2006/main">
            <a:off x="609600" y="4152900"/>
            <a:ext cx="50799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A14F37"/>
                </a:solidFill>
                <a:latin typeface="Manrope"/>
                <a:ea typeface="Manrope"/>
                <a:cs typeface="Manrope"/>
              </a:rPr>
              <a:t>OLD RULE: WRONG POSITION</a:t>
            </a:r>
            <a:endParaRPr sz="1200" b="1">
              <a:solidFill>
                <a:srgbClr val="A14F37"/>
              </a:solidFill>
              <a:latin typeface="Manrope"/>
              <a:ea typeface="Manrope"/>
              <a:cs typeface="Manrope"/>
            </a:endParaRPr>
          </a:p>
        </p:txBody>
      </p:sp>
      <p:sp>
        <p:nvSpPr>
          <p:cNvPr id="48" name="Google Shape;48;p9">
            <a:extLst xmlns:a="http://schemas.openxmlformats.org/drawingml/2006/main">
              <a:ext uri="{FF2B5EF4-FFF2-40B4-BE49-F238E27FC236}">
                <a16:creationId xmlns:a16="http://schemas.microsoft.com/office/drawing/2014/main" id="{1F616BD8-03FF-4592-AFB6-3DAFFA80CB77}"/>
              </a:ext>
            </a:extLst>
          </p:cNvPr>
          <p:cNvSpPr>
            <a:spLocks xmlns:a="http://schemas.openxmlformats.org/drawingml/2006/main" noGrp="1"/>
          </p:cNvSpPr>
          <p:nvPr/>
        </p:nvSpPr>
        <p:spPr>
          <a:xfrm xmlns:a="http://schemas.openxmlformats.org/drawingml/2006/main">
            <a:off x="6604000" y="4152900"/>
            <a:ext cx="49785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203B34"/>
                </a:solidFill>
                <a:latin typeface="Manrope"/>
                <a:ea typeface="Manrope"/>
                <a:cs typeface="Manrope"/>
              </a:rPr>
              <a:t>FIXED RULES: OFFSET 0</a:t>
            </a:r>
            <a:endParaRPr sz="1200" b="1">
              <a:solidFill>
                <a:srgbClr val="203B34"/>
              </a:solidFill>
              <a:latin typeface="Manrope"/>
              <a:ea typeface="Manrope"/>
              <a:cs typeface="Manrope"/>
            </a:endParaRPr>
          </a:p>
        </p:txBody>
      </p:sp>
      <p:sp>
        <p:nvSpPr>
          <p:cNvPr id="49" name="Google Shape;49;p9">
            <a:extLst xmlns:a="http://schemas.openxmlformats.org/drawingml/2006/main">
              <a:ext uri="{FF2B5EF4-FFF2-40B4-BE49-F238E27FC236}">
                <a16:creationId xmlns:a16="http://schemas.microsoft.com/office/drawing/2014/main" id="{18971D54-D8AE-49CB-9CEC-FA517F7E60AA}"/>
              </a:ext>
            </a:extLst>
          </p:cNvPr>
          <p:cNvSpPr>
            <a:spLocks xmlns:a="http://schemas.openxmlformats.org/drawingml/2006/main" noGrp="1"/>
          </p:cNvSpPr>
          <p:nvPr/>
        </p:nvSpPr>
        <p:spPr>
          <a:xfrm xmlns:a="http://schemas.openxmlformats.org/drawingml/2006/main">
            <a:off x="609600" y="2257425"/>
            <a:ext cx="109728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4200">
                <a:solidFill>
                  <a:srgbClr val="F0E8D9"/>
                </a:solidFill>
                <a:latin typeface="Roboto Mono"/>
                <a:ea typeface="Roboto Mono"/>
                <a:cs typeface="Roboto Mono"/>
              </a:defRPr>
            </a:defPPr>
            <a:lvl1pPr>
              <a:defRPr sz="4200">
                <a:solidFill>
                  <a:srgbClr val="F0E8D9"/>
                </a:solidFill>
                <a:latin typeface="Roboto Mono"/>
                <a:ea typeface="Roboto Mono"/>
                <a:cs typeface="Roboto Mono"/>
              </a:defRPr>
            </a:lvl1pPr>
            <a:lvl2pPr>
              <a:defRPr sz="4200">
                <a:solidFill>
                  <a:srgbClr val="F0E8D9"/>
                </a:solidFill>
                <a:latin typeface="Roboto Mono"/>
                <a:ea typeface="Roboto Mono"/>
                <a:cs typeface="Roboto Mono"/>
              </a:defRPr>
            </a:lvl2pPr>
            <a:lvl3pPr>
              <a:defRPr sz="4200">
                <a:solidFill>
                  <a:srgbClr val="F0E8D9"/>
                </a:solidFill>
                <a:latin typeface="Roboto Mono"/>
                <a:ea typeface="Roboto Mono"/>
                <a:cs typeface="Roboto Mono"/>
              </a:defRPr>
            </a:lvl3pPr>
            <a:lvl4pPr>
              <a:defRPr sz="4200">
                <a:solidFill>
                  <a:srgbClr val="F0E8D9"/>
                </a:solidFill>
                <a:latin typeface="Roboto Mono"/>
                <a:ea typeface="Roboto Mono"/>
                <a:cs typeface="Roboto Mono"/>
              </a:defRPr>
            </a:lvl4pPr>
            <a:lvl5pPr>
              <a:defRPr sz="4200">
                <a:solidFill>
                  <a:srgbClr val="F0E8D9"/>
                </a:solidFill>
                <a:latin typeface="Roboto Mono"/>
                <a:ea typeface="Roboto Mono"/>
                <a:cs typeface="Roboto Mono"/>
              </a:defRPr>
            </a:lvl5pPr>
            <a:lvl6pPr>
              <a:defRPr sz="4200">
                <a:solidFill>
                  <a:srgbClr val="F0E8D9"/>
                </a:solidFill>
                <a:latin typeface="Roboto Mono"/>
                <a:ea typeface="Roboto Mono"/>
                <a:cs typeface="Roboto Mono"/>
              </a:defRPr>
            </a:lvl6pPr>
            <a:lvl7pPr>
              <a:defRPr sz="4200">
                <a:solidFill>
                  <a:srgbClr val="F0E8D9"/>
                </a:solidFill>
                <a:latin typeface="Roboto Mono"/>
                <a:ea typeface="Roboto Mono"/>
                <a:cs typeface="Roboto Mono"/>
              </a:defRPr>
            </a:lvl7pPr>
            <a:lvl8pPr>
              <a:defRPr sz="4200">
                <a:solidFill>
                  <a:srgbClr val="F0E8D9"/>
                </a:solidFill>
                <a:latin typeface="Roboto Mono"/>
                <a:ea typeface="Roboto Mono"/>
                <a:cs typeface="Roboto Mono"/>
              </a:defRPr>
            </a:lvl8pPr>
            <a:lvl9pPr>
              <a:defRPr sz="4200">
                <a:solidFill>
                  <a:srgbClr val="F0E8D9"/>
                </a:solidFill>
                <a:latin typeface="Roboto Mono"/>
                <a:ea typeface="Roboto Mono"/>
                <a:cs typeface="Roboto Mono"/>
              </a:defRPr>
            </a:lvl9pPr>
          </a:lstStyle>
          <a:p xmlns:a="http://schemas.openxmlformats.org/drawingml/2006/main">
            <a:pPr marL="0" marR="0" lvl="0" indent="0" algn="l">
              <a:spcBef>
                <a:spcPts val="0"/>
              </a:spcBef>
              <a:spcAft>
                <a:spcPts val="0"/>
              </a:spcAft>
              <a:buNone/>
              <a:defRPr sz="4200">
                <a:solidFill>
                  <a:srgbClr val="F0E8D9"/>
                </a:solidFill>
                <a:latin typeface="Roboto Mono"/>
                <a:ea typeface="Roboto Mono"/>
                <a:cs typeface="Roboto Mono"/>
              </a:defRPr>
            </a:pPr>
            <a:r>
              <a:rPr sz="4200">
                <a:solidFill>
                  <a:srgbClr val="F0E8D9"/>
                </a:solidFill>
                <a:latin typeface="Roboto Mono"/>
                <a:ea typeface="Roboto Mono"/>
                <a:cs typeface="Roboto Mono"/>
              </a:rPr>
              <a:t>#!/usr</a:t>
            </a:r>
            <a:r>
              <a:rPr sz="4200">
                <a:solidFill>
                  <a:srgbClr val="D99575"/>
                </a:solidFill>
                <a:latin typeface="Roboto Mono"/>
                <a:ea typeface="Roboto Mono"/>
                <a:cs typeface="Roboto Mono"/>
              </a:rPr>
              <a:t>/bin/env python</a:t>
            </a:r>
            <a:r>
              <a:rPr sz="4200">
                <a:solidFill>
                  <a:srgbClr val="F0E8D9"/>
                </a:solidFill>
                <a:latin typeface="Roboto Mono"/>
                <a:ea typeface="Roboto Mono"/>
                <a:cs typeface="Roboto Mono"/>
              </a:rPr>
              <a:t>3</a:t>
            </a:r>
            <a:endParaRPr sz="4800">
              <a:solidFill>
                <a:srgbClr val="F0E8D9"/>
              </a:solidFill>
              <a:latin typeface="Roboto Mono"/>
              <a:ea typeface="Roboto Mono"/>
              <a:cs typeface="Roboto Mono"/>
            </a:endParaRPr>
          </a:p>
        </p:txBody>
      </p:sp>
      <p:sp>
        <p:nvSpPr>
          <p:cNvPr id="50" name="Google Shape;50;p9">
            <a:extLst xmlns:a="http://schemas.openxmlformats.org/drawingml/2006/main">
              <a:ext uri="{FF2B5EF4-FFF2-40B4-BE49-F238E27FC236}">
                <a16:creationId xmlns:a16="http://schemas.microsoft.com/office/drawing/2014/main" id="{11EF46E8-D964-43AC-9470-80C28F10DA9E}"/>
              </a:ext>
            </a:extLst>
          </p:cNvPr>
          <p:cNvSpPr>
            <a:spLocks xmlns:a="http://schemas.openxmlformats.org/drawingml/2006/main" noGrp="1"/>
          </p:cNvSpPr>
          <p:nvPr/>
        </p:nvSpPr>
        <p:spPr>
          <a:xfrm xmlns:a="http://schemas.openxmlformats.org/drawingml/2006/main">
            <a:off x="609600" y="4673600"/>
            <a:ext cx="53340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50">
                <a:latin typeface="Roboto Mono"/>
                <a:ea typeface="Roboto Mono"/>
                <a:cs typeface="Roboto Mono"/>
              </a:defRPr>
            </a:defPPr>
            <a:lvl1pPr>
              <a:defRPr sz="1950">
                <a:latin typeface="Roboto Mono"/>
                <a:ea typeface="Roboto Mono"/>
                <a:cs typeface="Roboto Mono"/>
              </a:defRPr>
            </a:lvl1pPr>
            <a:lvl2pPr>
              <a:defRPr sz="1950">
                <a:latin typeface="Roboto Mono"/>
                <a:ea typeface="Roboto Mono"/>
                <a:cs typeface="Roboto Mono"/>
              </a:defRPr>
            </a:lvl2pPr>
            <a:lvl3pPr>
              <a:defRPr sz="1950">
                <a:latin typeface="Roboto Mono"/>
                <a:ea typeface="Roboto Mono"/>
                <a:cs typeface="Roboto Mono"/>
              </a:defRPr>
            </a:lvl3pPr>
            <a:lvl4pPr>
              <a:defRPr sz="1950">
                <a:latin typeface="Roboto Mono"/>
                <a:ea typeface="Roboto Mono"/>
                <a:cs typeface="Roboto Mono"/>
              </a:defRPr>
            </a:lvl4pPr>
            <a:lvl5pPr>
              <a:defRPr sz="1950">
                <a:latin typeface="Roboto Mono"/>
                <a:ea typeface="Roboto Mono"/>
                <a:cs typeface="Roboto Mono"/>
              </a:defRPr>
            </a:lvl5pPr>
            <a:lvl6pPr>
              <a:defRPr sz="1950">
                <a:latin typeface="Roboto Mono"/>
                <a:ea typeface="Roboto Mono"/>
                <a:cs typeface="Roboto Mono"/>
              </a:defRPr>
            </a:lvl6pPr>
            <a:lvl7pPr>
              <a:defRPr sz="1950">
                <a:latin typeface="Roboto Mono"/>
                <a:ea typeface="Roboto Mono"/>
                <a:cs typeface="Roboto Mono"/>
              </a:defRPr>
            </a:lvl7pPr>
            <a:lvl8pPr>
              <a:defRPr sz="1950">
                <a:latin typeface="Roboto Mono"/>
                <a:ea typeface="Roboto Mono"/>
                <a:cs typeface="Roboto Mono"/>
              </a:defRPr>
            </a:lvl8pPr>
            <a:lvl9pPr>
              <a:defRPr sz="1950">
                <a:latin typeface="Roboto Mono"/>
                <a:ea typeface="Roboto Mono"/>
                <a:cs typeface="Roboto Mono"/>
              </a:defRPr>
            </a:lvl9pPr>
          </a:lstStyle>
          <a:p xmlns:a="http://schemas.openxmlformats.org/drawingml/2006/main">
            <a:pPr marL="0" marR="0" lvl="0" indent="0" algn="l">
              <a:spcBef>
                <a:spcPts val="0"/>
              </a:spcBef>
              <a:spcAft>
                <a:spcPts val="0"/>
              </a:spcAft>
              <a:buNone/>
              <a:defRPr sz="1950">
                <a:latin typeface="Roboto Mono"/>
                <a:ea typeface="Roboto Mono"/>
                <a:cs typeface="Roboto Mono"/>
              </a:defRPr>
            </a:pPr>
            <a:r>
              <a:rPr sz="1950">
                <a:solidFill>
                  <a:srgbClr val="203B34"/>
                </a:solidFill>
                <a:latin typeface="Roboto Mono"/>
                <a:ea typeface="Roboto Mono"/>
                <a:cs typeface="Roboto Mono"/>
              </a:rPr>
              <a:t>/bin/env python</a:t>
            </a:r>
            <a:endParaRPr sz="19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50">
                <a:latin typeface="Roboto Mono"/>
                <a:ea typeface="Roboto Mono"/>
                <a:cs typeface="Roboto Mono"/>
              </a:defRPr>
            </a:pPr>
            <a:r>
              <a:rPr sz="1950">
                <a:solidFill>
                  <a:srgbClr val="203B34"/>
                </a:solidFill>
                <a:latin typeface="Roboto Mono"/>
                <a:ea typeface="Roboto Mono"/>
                <a:cs typeface="Roboto Mono"/>
              </a:rPr>
              <a:t>at offset 1</a:t>
            </a:r>
            <a:endParaRPr sz="1900">
              <a:solidFill>
                <a:srgbClr val="203B34"/>
              </a:solidFill>
              <a:latin typeface="Roboto Mono"/>
              <a:ea typeface="Roboto Mono"/>
              <a:cs typeface="Roboto Mono"/>
            </a:endParaRPr>
          </a:p>
        </p:txBody>
      </p:sp>
      <p:sp>
        <p:nvSpPr>
          <p:cNvPr id="51" name="Google Shape;51;p9">
            <a:extLst xmlns:a="http://schemas.openxmlformats.org/drawingml/2006/main">
              <a:ext uri="{FF2B5EF4-FFF2-40B4-BE49-F238E27FC236}">
                <a16:creationId xmlns:a16="http://schemas.microsoft.com/office/drawing/2014/main" id="{5D9793FC-D20C-4A75-99E4-D049FB147C61}"/>
              </a:ext>
            </a:extLst>
          </p:cNvPr>
          <p:cNvSpPr>
            <a:spLocks xmlns:a="http://schemas.openxmlformats.org/drawingml/2006/main" noGrp="1"/>
          </p:cNvSpPr>
          <p:nvPr/>
        </p:nvSpPr>
        <p:spPr>
          <a:xfrm xmlns:a="http://schemas.openxmlformats.org/drawingml/2006/main">
            <a:off x="6604000" y="4673600"/>
            <a:ext cx="4978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800">
                <a:latin typeface="Roboto Mono"/>
                <a:ea typeface="Roboto Mono"/>
                <a:cs typeface="Roboto Mono"/>
              </a:defRPr>
            </a:defPPr>
            <a:lvl1pPr>
              <a:defRPr sz="1800">
                <a:latin typeface="Roboto Mono"/>
                <a:ea typeface="Roboto Mono"/>
                <a:cs typeface="Roboto Mono"/>
              </a:defRPr>
            </a:lvl1pPr>
            <a:lvl2pPr>
              <a:defRPr sz="1800">
                <a:latin typeface="Roboto Mono"/>
                <a:ea typeface="Roboto Mono"/>
                <a:cs typeface="Roboto Mono"/>
              </a:defRPr>
            </a:lvl2pPr>
            <a:lvl3pPr>
              <a:defRPr sz="1800">
                <a:latin typeface="Roboto Mono"/>
                <a:ea typeface="Roboto Mono"/>
                <a:cs typeface="Roboto Mono"/>
              </a:defRPr>
            </a:lvl3pPr>
            <a:lvl4pPr>
              <a:defRPr sz="1800">
                <a:latin typeface="Roboto Mono"/>
                <a:ea typeface="Roboto Mono"/>
                <a:cs typeface="Roboto Mono"/>
              </a:defRPr>
            </a:lvl4pPr>
            <a:lvl5pPr>
              <a:defRPr sz="1800">
                <a:latin typeface="Roboto Mono"/>
                <a:ea typeface="Roboto Mono"/>
                <a:cs typeface="Roboto Mono"/>
              </a:defRPr>
            </a:lvl5pPr>
            <a:lvl6pPr>
              <a:defRPr sz="1800">
                <a:latin typeface="Roboto Mono"/>
                <a:ea typeface="Roboto Mono"/>
                <a:cs typeface="Roboto Mono"/>
              </a:defRPr>
            </a:lvl6pPr>
            <a:lvl7pPr>
              <a:defRPr sz="1800">
                <a:latin typeface="Roboto Mono"/>
                <a:ea typeface="Roboto Mono"/>
                <a:cs typeface="Roboto Mono"/>
              </a:defRPr>
            </a:lvl7pPr>
            <a:lvl8pPr>
              <a:defRPr sz="1800">
                <a:latin typeface="Roboto Mono"/>
                <a:ea typeface="Roboto Mono"/>
                <a:cs typeface="Roboto Mono"/>
              </a:defRPr>
            </a:lvl8pPr>
            <a:lvl9pPr>
              <a:defRPr sz="1800">
                <a:latin typeface="Roboto Mono"/>
                <a:ea typeface="Roboto Mono"/>
                <a:cs typeface="Roboto Mono"/>
              </a:defRPr>
            </a:lvl9pPr>
          </a:lstStyle>
          <a:p xmlns:a="http://schemas.openxmlformats.org/drawingml/2006/main">
            <a:pPr marL="0" marR="0" lvl="0" indent="0" algn="l">
              <a:spcBef>
                <a:spcPts val="0"/>
              </a:spcBef>
              <a:spcAft>
                <a:spcPts val="0"/>
              </a:spcAft>
              <a:buNone/>
              <a:defRPr sz="1800">
                <a:latin typeface="Roboto Mono"/>
                <a:ea typeface="Roboto Mono"/>
                <a:cs typeface="Roboto Mono"/>
              </a:defRPr>
            </a:pPr>
            <a:r>
              <a:rPr sz="1800">
                <a:solidFill>
                  <a:srgbClr val="203B34"/>
                </a:solidFill>
                <a:latin typeface="Roboto Mono"/>
                <a:ea typeface="Roboto Mono"/>
                <a:cs typeface="Roboto Mono"/>
              </a:rPr>
              <a:t>#!/usr/bin/env python</a:t>
            </a:r>
            <a:endParaRPr sz="22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800">
                <a:latin typeface="Roboto Mono"/>
                <a:ea typeface="Roboto Mono"/>
                <a:cs typeface="Roboto Mono"/>
              </a:defRPr>
            </a:pPr>
            <a:r>
              <a:rPr sz="1800">
                <a:solidFill>
                  <a:srgbClr val="203B34"/>
                </a:solidFill>
                <a:latin typeface="Roboto Mono"/>
                <a:ea typeface="Roboto Mono"/>
                <a:cs typeface="Roboto Mono"/>
              </a:rPr>
              <a:t>#! /usr/bin/env python</a:t>
            </a:r>
            <a:endParaRPr sz="2200">
              <a:solidFill>
                <a:srgbClr val="203B34"/>
              </a:solidFill>
              <a:latin typeface="Roboto Mono"/>
              <a:ea typeface="Roboto Mono"/>
              <a:cs typeface="Roboto Mono"/>
            </a:endParaRPr>
          </a:p>
        </p:txBody>
      </p:sp>
      <p:sp>
        <p:nvSpPr>
          <p:cNvPr id="52" name="Google Shape;52;p9">
            <a:extLst xmlns:a="http://schemas.openxmlformats.org/drawingml/2006/main">
              <a:ext uri="{FF2B5EF4-FFF2-40B4-BE49-F238E27FC236}">
                <a16:creationId xmlns:a16="http://schemas.microsoft.com/office/drawing/2014/main" id="{144C3DDD-C040-4974-89DF-3E832254EF11}"/>
              </a:ext>
            </a:extLst>
          </p:cNvPr>
          <p:cNvSpPr>
            <a:spLocks xmlns:a="http://schemas.openxmlformats.org/drawingml/2006/main" noGrp="1"/>
          </p:cNvSpPr>
          <p:nvPr/>
        </p:nvSpPr>
        <p:spPr>
          <a:xfrm xmlns:a="http://schemas.openxmlformats.org/drawingml/2006/main">
            <a:off x="6604000" y="5562600"/>
            <a:ext cx="49785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203B34"/>
                </a:solidFill>
                <a:latin typeface="Roboto Mono"/>
                <a:ea typeface="Roboto Mono"/>
                <a:cs typeface="Roboto Mono"/>
              </a:rPr>
              <a:t>text/x-python</a:t>
            </a:r>
            <a:endParaRPr sz="2600" b="1">
              <a:solidFill>
                <a:srgbClr val="203B34"/>
              </a:solidFill>
              <a:latin typeface="Roboto Mono"/>
              <a:ea typeface="Roboto Mono"/>
              <a:cs typeface="Roboto Mono"/>
            </a:endParaRPr>
          </a:p>
        </p:txBody>
      </p:sp>
      <p:sp>
        <p:nvSpPr>
          <p:cNvPr id="53" name="Google Shape;53;p9">
            <a:extLst xmlns:a="http://schemas.openxmlformats.org/drawingml/2006/main">
              <a:ext uri="{FF2B5EF4-FFF2-40B4-BE49-F238E27FC236}">
                <a16:creationId xmlns:a16="http://schemas.microsoft.com/office/drawing/2014/main" id="{891A0147-F0A1-4ABB-A43C-E67884E61197}"/>
              </a:ext>
            </a:extLst>
          </p:cNvPr>
          <p:cNvSpPr>
            <a:spLocks xmlns:a="http://schemas.openxmlformats.org/drawingml/2006/main" noGrp="1"/>
          </p:cNvSpPr>
          <p:nvPr/>
        </p:nvSpPr>
        <p:spPr>
          <a:xfrm xmlns:a="http://schemas.openxmlformats.org/drawingml/2006/main">
            <a:off x="609600" y="5562600"/>
            <a:ext cx="53340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A14F37"/>
                </a:solidFill>
                <a:latin typeface="Roboto Mono"/>
                <a:ea typeface="Roboto Mono"/>
                <a:cs typeface="Roboto Mono"/>
              </a:rPr>
              <a:t>application/x-sh</a:t>
            </a:r>
            <a:endParaRPr sz="2600" b="1">
              <a:solidFill>
                <a:srgbClr val="A14F37"/>
              </a:solidFill>
              <a:latin typeface="Roboto Mono"/>
              <a:ea typeface="Roboto Mono"/>
              <a:cs typeface="Roboto Mono"/>
            </a:endParaRPr>
          </a:p>
        </p:txBody>
      </p:sp>
      <p:sp>
        <p:nvSpPr>
          <p:cNvPr id="54" name="Google Shape;54;p9">
            <a:extLst xmlns:a="http://schemas.openxmlformats.org/drawingml/2006/main">
              <a:ext uri="{FF2B5EF4-FFF2-40B4-BE49-F238E27FC236}">
                <a16:creationId xmlns:a16="http://schemas.microsoft.com/office/drawing/2014/main" id="{2C6D2F51-FA40-42D0-B0E3-CE24DABECCF3}"/>
              </a:ext>
            </a:extLst>
          </p:cNvPr>
          <p:cNvSpPr>
            <a:spLocks xmlns:a="http://schemas.openxmlformats.org/drawingml/2006/main" noGrp="1"/>
          </p:cNvSpPr>
          <p:nvPr/>
        </p:nvSpPr>
        <p:spPr>
          <a:xfrm xmlns:a="http://schemas.openxmlformats.org/drawingml/2006/main">
            <a:off x="609600" y="3267075"/>
            <a:ext cx="109728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solidFill>
                  <a:srgbClr val="B8C7AB"/>
                </a:solidFill>
                <a:latin typeface="Manrope"/>
                <a:ea typeface="Manrope"/>
                <a:cs typeface="Manrope"/>
              </a:defRPr>
            </a:defPPr>
            <a:lvl1pPr>
              <a:defRPr sz="1900">
                <a:solidFill>
                  <a:srgbClr val="B8C7AB"/>
                </a:solidFill>
                <a:latin typeface="Manrope"/>
                <a:ea typeface="Manrope"/>
                <a:cs typeface="Manrope"/>
              </a:defRPr>
            </a:lvl1pPr>
            <a:lvl2pPr>
              <a:defRPr sz="1900">
                <a:solidFill>
                  <a:srgbClr val="B8C7AB"/>
                </a:solidFill>
                <a:latin typeface="Manrope"/>
                <a:ea typeface="Manrope"/>
                <a:cs typeface="Manrope"/>
              </a:defRPr>
            </a:lvl2pPr>
            <a:lvl3pPr>
              <a:defRPr sz="1900">
                <a:solidFill>
                  <a:srgbClr val="B8C7AB"/>
                </a:solidFill>
                <a:latin typeface="Manrope"/>
                <a:ea typeface="Manrope"/>
                <a:cs typeface="Manrope"/>
              </a:defRPr>
            </a:lvl3pPr>
            <a:lvl4pPr>
              <a:defRPr sz="1900">
                <a:solidFill>
                  <a:srgbClr val="B8C7AB"/>
                </a:solidFill>
                <a:latin typeface="Manrope"/>
                <a:ea typeface="Manrope"/>
                <a:cs typeface="Manrope"/>
              </a:defRPr>
            </a:lvl4pPr>
            <a:lvl5pPr>
              <a:defRPr sz="1900">
                <a:solidFill>
                  <a:srgbClr val="B8C7AB"/>
                </a:solidFill>
                <a:latin typeface="Manrope"/>
                <a:ea typeface="Manrope"/>
                <a:cs typeface="Manrope"/>
              </a:defRPr>
            </a:lvl5pPr>
            <a:lvl6pPr>
              <a:defRPr sz="1900">
                <a:solidFill>
                  <a:srgbClr val="B8C7AB"/>
                </a:solidFill>
                <a:latin typeface="Manrope"/>
                <a:ea typeface="Manrope"/>
                <a:cs typeface="Manrope"/>
              </a:defRPr>
            </a:lvl6pPr>
            <a:lvl7pPr>
              <a:defRPr sz="1900">
                <a:solidFill>
                  <a:srgbClr val="B8C7AB"/>
                </a:solidFill>
                <a:latin typeface="Manrope"/>
                <a:ea typeface="Manrope"/>
                <a:cs typeface="Manrope"/>
              </a:defRPr>
            </a:lvl7pPr>
            <a:lvl8pPr>
              <a:defRPr sz="1900">
                <a:solidFill>
                  <a:srgbClr val="B8C7AB"/>
                </a:solidFill>
                <a:latin typeface="Manrope"/>
                <a:ea typeface="Manrope"/>
                <a:cs typeface="Manrope"/>
              </a:defRPr>
            </a:lvl8pPr>
            <a:lvl9pPr>
              <a:defRPr sz="1900">
                <a:solidFill>
                  <a:srgbClr val="B8C7AB"/>
                </a:solidFill>
                <a:latin typeface="Manrope"/>
                <a:ea typeface="Manrope"/>
                <a:cs typeface="Manrope"/>
              </a:defRPr>
            </a:lvl9pPr>
          </a:lstStyle>
          <a:p xmlns:a="http://schemas.openxmlformats.org/drawingml/2006/main">
            <a:pPr marL="0" marR="0" lvl="0" indent="0" algn="l">
              <a:spcBef>
                <a:spcPts val="0"/>
              </a:spcBef>
              <a:spcAft>
                <a:spcPts val="0"/>
              </a:spcAft>
              <a:buNone/>
              <a:defRPr sz="1900">
                <a:solidFill>
                  <a:srgbClr val="B8C7AB"/>
                </a:solidFill>
                <a:latin typeface="Manrope"/>
                <a:ea typeface="Manrope"/>
                <a:cs typeface="Manrope"/>
              </a:defRPr>
            </a:pPr>
            <a:r>
              <a:rPr sz="1900">
                <a:solidFill>
                  <a:srgbClr val="B8C7AB"/>
                </a:solidFill>
                <a:latin typeface="Manrope"/>
                <a:ea typeface="Manrope"/>
                <a:cs typeface="Manrope"/>
              </a:rPr>
              <a:t>The substring starts at offset 6. The old rule checked offset 1.</a:t>
            </a:r>
            <a:endParaRPr sz="1250">
              <a:solidFill>
                <a:srgbClr val="203B34"/>
              </a:solidFill>
              <a:latin typeface="Manrope"/>
              <a:ea typeface="Manrope"/>
              <a:cs typeface="Manrope"/>
            </a:endParaRPr>
          </a:p>
        </p:txBody>
      </p:sp>
      <p:sp>
        <p:nvSpPr>
          <p:cNvPr id="55" name="cause-takeaway">
            <a:extLst xmlns:a="http://schemas.openxmlformats.org/drawingml/2006/main">
              <a:ext uri="{FF2B5EF4-FFF2-40B4-BE49-F238E27FC236}">
                <a16:creationId xmlns:a16="http://schemas.microsoft.com/office/drawing/2014/main" id="{FA78872B-AEED-4137-9964-050E960AE9CD}"/>
              </a:ext>
            </a:extLst>
          </p:cNvPr>
          <p:cNvSpPr>
            <a:spLocks xmlns:a="http://schemas.openxmlformats.org/drawingml/2006/main" noGrp="1"/>
          </p:cNvSpPr>
          <p:nvPr/>
        </p:nvSpPr>
        <p:spPr>
          <a:xfrm xmlns:a="http://schemas.openxmlformats.org/drawingml/2006/main">
            <a:off x="609600" y="62007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00">
                <a:solidFill>
                  <a:srgbClr val="203B34"/>
                </a:solidFill>
                <a:latin typeface="Manrope"/>
                <a:ea typeface="Manrope"/>
                <a:cs typeface="Manrope"/>
              </a:defRPr>
            </a:defPPr>
            <a:lvl1pPr>
              <a:defRPr sz="1600">
                <a:solidFill>
                  <a:srgbClr val="203B34"/>
                </a:solidFill>
                <a:latin typeface="Manrope"/>
                <a:ea typeface="Manrope"/>
                <a:cs typeface="Manrope"/>
              </a:defRPr>
            </a:lvl1pPr>
            <a:lvl2pPr>
              <a:defRPr sz="1600">
                <a:solidFill>
                  <a:srgbClr val="203B34"/>
                </a:solidFill>
                <a:latin typeface="Manrope"/>
                <a:ea typeface="Manrope"/>
                <a:cs typeface="Manrope"/>
              </a:defRPr>
            </a:lvl2pPr>
            <a:lvl3pPr>
              <a:defRPr sz="1600">
                <a:solidFill>
                  <a:srgbClr val="203B34"/>
                </a:solidFill>
                <a:latin typeface="Manrope"/>
                <a:ea typeface="Manrope"/>
                <a:cs typeface="Manrope"/>
              </a:defRPr>
            </a:lvl3pPr>
            <a:lvl4pPr>
              <a:defRPr sz="1600">
                <a:solidFill>
                  <a:srgbClr val="203B34"/>
                </a:solidFill>
                <a:latin typeface="Manrope"/>
                <a:ea typeface="Manrope"/>
                <a:cs typeface="Manrope"/>
              </a:defRPr>
            </a:lvl4pPr>
            <a:lvl5pPr>
              <a:defRPr sz="1600">
                <a:solidFill>
                  <a:srgbClr val="203B34"/>
                </a:solidFill>
                <a:latin typeface="Manrope"/>
                <a:ea typeface="Manrope"/>
                <a:cs typeface="Manrope"/>
              </a:defRPr>
            </a:lvl5pPr>
            <a:lvl6pPr>
              <a:defRPr sz="1600">
                <a:solidFill>
                  <a:srgbClr val="203B34"/>
                </a:solidFill>
                <a:latin typeface="Manrope"/>
                <a:ea typeface="Manrope"/>
                <a:cs typeface="Manrope"/>
              </a:defRPr>
            </a:lvl6pPr>
            <a:lvl7pPr>
              <a:defRPr sz="1600">
                <a:solidFill>
                  <a:srgbClr val="203B34"/>
                </a:solidFill>
                <a:latin typeface="Manrope"/>
                <a:ea typeface="Manrope"/>
                <a:cs typeface="Manrope"/>
              </a:defRPr>
            </a:lvl7pPr>
            <a:lvl8pPr>
              <a:defRPr sz="1600">
                <a:solidFill>
                  <a:srgbClr val="203B34"/>
                </a:solidFill>
                <a:latin typeface="Manrope"/>
                <a:ea typeface="Manrope"/>
                <a:cs typeface="Manrope"/>
              </a:defRPr>
            </a:lvl8pPr>
            <a:lvl9pPr>
              <a:defRPr sz="1600">
                <a:solidFill>
                  <a:srgbClr val="203B34"/>
                </a:solidFill>
                <a:latin typeface="Manrope"/>
                <a:ea typeface="Manrope"/>
                <a:cs typeface="Manrope"/>
              </a:defRPr>
            </a:lvl9pPr>
          </a:lstStyle>
          <a:p xmlns:a="http://schemas.openxmlformats.org/drawingml/2006/main">
            <a:pPr>
              <a:defRPr sz="1600">
                <a:solidFill>
                  <a:srgbClr val="203B34"/>
                </a:solidFill>
                <a:latin typeface="Manrope"/>
                <a:ea typeface="Manrope"/>
                <a:cs typeface="Manrope"/>
              </a:defRPr>
            </a:pPr>
            <a:r>
              <a:rPr sz="1600">
                <a:solidFill>
                  <a:srgbClr val="203B34"/>
                </a:solidFill>
                <a:latin typeface="Manrope"/>
                <a:ea typeface="Manrope"/>
                <a:cs typeface="Manrope"/>
              </a:rPr>
              <a:t>Two literal prefixes follow the existing direct-path Python rules.</a:t>
            </a:r>
          </a:p>
        </p:txBody>
      </p:sp>
    </p:spTree>
    <p:extLst>
      <p:ext uri="{BB962C8B-B14F-4D97-AF65-F5344CB8AC3E}">
        <p14:creationId xmlns:p14="http://schemas.microsoft.com/office/powerpoint/2010/main" val="1007464614"/>
      </p:ext>
    </p:extLst>
  </p:cSld>
</p:sld>
</file>

<file path=ppt/slides/slide2.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77" name="Google Shape;77;p11">
            <a:extLst xmlns:a="http://schemas.openxmlformats.org/drawingml/2006/main">
              <a:ext uri="{FF2B5EF4-FFF2-40B4-BE49-F238E27FC236}">
                <a16:creationId xmlns:a16="http://schemas.microsoft.com/office/drawing/2014/main" id="{24AFC286-C4DC-47DE-AAD2-5651998C7310}"/>
              </a:ext>
            </a:extLst>
          </p:cNvPr>
          <p:cNvSpPr>
            <a:spLocks xmlns:a="http://schemas.openxmlformats.org/drawingml/2006/main" noGrp="1"/>
          </p:cNvSpPr>
          <p:nvPr/>
        </p:nvSpPr>
        <p:spPr>
          <a:xfrm xmlns:a="http://schemas.openxmlformats.org/drawingml/2006/main">
            <a:off x="609600" y="390525"/>
            <a:ext cx="9048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050" b="1">
                <a:solidFill>
                  <a:srgbClr val="F0E8D9"/>
                </a:solidFill>
                <a:latin typeface="Manrope"/>
                <a:ea typeface="Manrope"/>
                <a:cs typeface="Manrope"/>
              </a:rPr>
              <a:t>TIKA-4408 / DEVELOPMENT CHALLENGES</a:t>
            </a:r>
            <a:endParaRPr sz="1050" b="1">
              <a:solidFill>
                <a:srgbClr val="F0E8D9"/>
              </a:solidFill>
              <a:latin typeface="Manrope"/>
              <a:ea typeface="Manrope"/>
              <a:cs typeface="Manrope"/>
            </a:endParaRPr>
          </a:p>
        </p:txBody>
      </p:sp>
      <p:sp>
        <p:nvSpPr>
          <p:cNvPr id="78" name="Google Shape;78;p11">
            <a:extLst xmlns:a="http://schemas.openxmlformats.org/drawingml/2006/main">
              <a:ext uri="{FF2B5EF4-FFF2-40B4-BE49-F238E27FC236}">
                <a16:creationId xmlns:a16="http://schemas.microsoft.com/office/drawing/2014/main" id="{6E0C3C9E-1533-4FA0-BE79-7C2175E47497}"/>
              </a:ext>
            </a:extLst>
          </p:cNvPr>
          <p:cNvSpPr>
            <a:spLocks xmlns:a="http://schemas.openxmlformats.org/drawingml/2006/main" noGrp="1"/>
          </p:cNvSpPr>
          <p:nvPr/>
        </p:nvSpPr>
        <p:spPr>
          <a:xfrm xmlns:a="http://schemas.openxmlformats.org/drawingml/2006/main">
            <a:off x="10953750" y="390525"/>
            <a:ext cx="6286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B8C7AB"/>
                </a:solidFill>
                <a:latin typeface="Manrope"/>
                <a:ea typeface="Manrope"/>
                <a:cs typeface="Manrope"/>
              </a:rPr>
              <a:t>02</a:t>
            </a:r>
            <a:endParaRPr sz="1000">
              <a:solidFill>
                <a:srgbClr val="B8C7AB"/>
              </a:solidFill>
              <a:latin typeface="Manrope"/>
              <a:ea typeface="Manrope"/>
              <a:cs typeface="Manrope"/>
            </a:endParaRPr>
          </a:p>
        </p:txBody>
      </p:sp>
      <p:sp>
        <p:nvSpPr>
          <p:cNvPr id="79" name="Google Shape;79;p11">
            <a:extLst xmlns:a="http://schemas.openxmlformats.org/drawingml/2006/main">
              <a:ext uri="{FF2B5EF4-FFF2-40B4-BE49-F238E27FC236}">
                <a16:creationId xmlns:a16="http://schemas.microsoft.com/office/drawing/2014/main" id="{AE5251DE-3515-4D3C-885D-2D92AD1010EB}"/>
              </a:ext>
            </a:extLst>
          </p:cNvPr>
          <p:cNvSpPr>
            <a:spLocks xmlns:a="http://schemas.openxmlformats.org/drawingml/2006/main" noGrp="1"/>
          </p:cNvSpPr>
          <p:nvPr>
            <p:ph type="title" idx="0"/>
          </p:nvPr>
        </p:nvSpPr>
        <p:spPr>
          <a:xfrm xmlns:a="http://schemas.openxmlformats.org/drawingml/2006/main">
            <a:off x="609600" y="825500"/>
            <a:ext cx="10972800" cy="1016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Challenge 2: proving the fix</a:t>
            </a:r>
            <a:endParaRPr sz="3200" b="1">
              <a:solidFill>
                <a:srgbClr val="F0E8D9"/>
              </a:solidFill>
              <a:latin typeface="Manrope"/>
              <a:ea typeface="Manrope"/>
              <a:cs typeface="Manrope"/>
            </a:endParaRPr>
          </a:p>
        </p:txBody>
      </p:sp>
      <p:sp>
        <p:nvSpPr>
          <p:cNvPr id="80" name="Google Shape;80;p11">
            <a:extLst xmlns:a="http://schemas.openxmlformats.org/drawingml/2006/main">
              <a:ext uri="{FF2B5EF4-FFF2-40B4-BE49-F238E27FC236}">
                <a16:creationId xmlns:a16="http://schemas.microsoft.com/office/drawing/2014/main" id="{F7EE6444-BEAA-418D-9914-0CD76A877499}"/>
              </a:ext>
            </a:extLst>
          </p:cNvPr>
          <p:cNvSpPr>
            <a:spLocks xmlns:a="http://schemas.openxmlformats.org/drawingml/2006/main" noGrp="1"/>
          </p:cNvSpPr>
          <p:nvPr/>
        </p:nvSpPr>
        <p:spPr>
          <a:xfrm xmlns:a="http://schemas.openxmlformats.org/drawingml/2006/main">
            <a:off x="5238750" y="6486525"/>
            <a:ext cx="6343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B8C7AB"/>
                </a:solidFill>
                <a:latin typeface="Manrope"/>
                <a:ea typeface="Manrope"/>
                <a:cs typeface="Manrope"/>
              </a:rPr>
              <a:t>Jiajun Li / TIKA-4408</a:t>
            </a:r>
            <a:endParaRPr sz="1000">
              <a:solidFill>
                <a:srgbClr val="B8C7AB"/>
              </a:solidFill>
              <a:latin typeface="Manrope"/>
              <a:ea typeface="Manrope"/>
              <a:cs typeface="Manrope"/>
            </a:endParaRPr>
          </a:p>
        </p:txBody>
      </p:sp>
      <p:sp>
        <p:nvSpPr>
          <p:cNvPr id="81" name="Google Shape;81;p11">
            <a:extLst xmlns:a="http://schemas.openxmlformats.org/drawingml/2006/main">
              <a:ext uri="{FF2B5EF4-FFF2-40B4-BE49-F238E27FC236}">
                <a16:creationId xmlns:a16="http://schemas.microsoft.com/office/drawing/2014/main" id="{8A9EA259-6FB4-4B8A-B14F-766042BF42B5}"/>
              </a:ext>
            </a:extLst>
          </p:cNvPr>
          <p:cNvSpPr>
            <a:spLocks xmlns:a="http://schemas.openxmlformats.org/drawingml/2006/main" noGrp="1"/>
          </p:cNvSpPr>
          <p:nvPr/>
        </p:nvSpPr>
        <p:spPr>
          <a:xfrm xmlns:a="http://schemas.openxmlformats.org/drawingml/2006/main">
            <a:off x="609600" y="2032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F0E8D9"/>
                </a:solidFill>
                <a:latin typeface="Roboto Mono"/>
                <a:ea typeface="Roboto Mono"/>
                <a:cs typeface="Roboto Mono"/>
              </a:rPr>
              <a:t>01</a:t>
            </a:r>
            <a:endParaRPr sz="3000" b="1">
              <a:solidFill>
                <a:srgbClr val="F0E8D9"/>
              </a:solidFill>
              <a:latin typeface="Roboto Mono"/>
              <a:ea typeface="Roboto Mono"/>
              <a:cs typeface="Roboto Mono"/>
            </a:endParaRPr>
          </a:p>
        </p:txBody>
      </p:sp>
      <p:sp>
        <p:nvSpPr>
          <p:cNvPr id="82" name="Google Shape;82;p11">
            <a:extLst xmlns:a="http://schemas.openxmlformats.org/drawingml/2006/main">
              <a:ext uri="{FF2B5EF4-FFF2-40B4-BE49-F238E27FC236}">
                <a16:creationId xmlns:a16="http://schemas.microsoft.com/office/drawing/2014/main" id="{6D9D3FDD-C93C-4509-8783-D4D0DEB32FFD}"/>
              </a:ext>
            </a:extLst>
          </p:cNvPr>
          <p:cNvSpPr>
            <a:spLocks xmlns:a="http://schemas.openxmlformats.org/drawingml/2006/main" noGrp="1"/>
          </p:cNvSpPr>
          <p:nvPr/>
        </p:nvSpPr>
        <p:spPr>
          <a:xfrm xmlns:a="http://schemas.openxmlformats.org/drawingml/2006/main">
            <a:off x="1587500" y="2032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F0E8D9"/>
                </a:solidFill>
                <a:latin typeface="Manrope"/>
                <a:ea typeface="Manrope"/>
                <a:cs typeface="Manrope"/>
              </a:rPr>
              <a:t>Separate content from filename hints</a:t>
            </a:r>
            <a:endParaRPr sz="2400" b="1">
              <a:solidFill>
                <a:srgbClr val="F0E8D9"/>
              </a:solidFill>
              <a:latin typeface="Manrope"/>
              <a:ea typeface="Manrope"/>
              <a:cs typeface="Manrope"/>
            </a:endParaRPr>
          </a:p>
        </p:txBody>
      </p:sp>
      <p:sp>
        <p:nvSpPr>
          <p:cNvPr id="83" name="Google Shape;83;p11">
            <a:extLst xmlns:a="http://schemas.openxmlformats.org/drawingml/2006/main">
              <a:ext uri="{FF2B5EF4-FFF2-40B4-BE49-F238E27FC236}">
                <a16:creationId xmlns:a16="http://schemas.microsoft.com/office/drawing/2014/main" id="{417B289C-C86E-4B89-9968-96E5AB32B66B}"/>
              </a:ext>
            </a:extLst>
          </p:cNvPr>
          <p:cNvSpPr>
            <a:spLocks xmlns:a="http://schemas.openxmlformats.org/drawingml/2006/main" noGrp="1"/>
          </p:cNvSpPr>
          <p:nvPr/>
        </p:nvSpPr>
        <p:spPr>
          <a:xfrm xmlns:a="http://schemas.openxmlformats.org/drawingml/2006/main">
            <a:off x="1587500" y="2590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Test each input without a filename, then with script.py.</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This checks the content rule and the effect of metadata.</a:t>
            </a:r>
            <a:endParaRPr sz="1900">
              <a:solidFill>
                <a:srgbClr val="B8C7AB"/>
              </a:solidFill>
              <a:latin typeface="Manrope"/>
              <a:ea typeface="Manrope"/>
              <a:cs typeface="Manrope"/>
            </a:endParaRPr>
          </a:p>
        </p:txBody>
      </p:sp>
      <p:sp>
        <p:nvSpPr>
          <p:cNvPr id="84" name="Google Shape;84;p11">
            <a:extLst xmlns:a="http://schemas.openxmlformats.org/drawingml/2006/main">
              <a:ext uri="{FF2B5EF4-FFF2-40B4-BE49-F238E27FC236}">
                <a16:creationId xmlns:a16="http://schemas.microsoft.com/office/drawing/2014/main" id="{79F93235-188B-4766-BE29-7A079D7F67FC}"/>
              </a:ext>
            </a:extLst>
          </p:cNvPr>
          <p:cNvSpPr>
            <a:spLocks xmlns:a="http://schemas.openxmlformats.org/drawingml/2006/main" noGrp="1"/>
          </p:cNvSpPr>
          <p:nvPr/>
        </p:nvSpPr>
        <p:spPr>
          <a:xfrm xmlns:a="http://schemas.openxmlformats.org/drawingml/2006/main">
            <a:off x="609600" y="3429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F0E8D9"/>
                </a:solidFill>
                <a:latin typeface="Roboto Mono"/>
                <a:ea typeface="Roboto Mono"/>
                <a:cs typeface="Roboto Mono"/>
              </a:rPr>
              <a:t>02</a:t>
            </a:r>
            <a:endParaRPr sz="3000" b="1">
              <a:solidFill>
                <a:srgbClr val="F0E8D9"/>
              </a:solidFill>
              <a:latin typeface="Roboto Mono"/>
              <a:ea typeface="Roboto Mono"/>
              <a:cs typeface="Roboto Mono"/>
            </a:endParaRPr>
          </a:p>
        </p:txBody>
      </p:sp>
      <p:sp>
        <p:nvSpPr>
          <p:cNvPr id="85" name="Google Shape;85;p11">
            <a:extLst xmlns:a="http://schemas.openxmlformats.org/drawingml/2006/main">
              <a:ext uri="{FF2B5EF4-FFF2-40B4-BE49-F238E27FC236}">
                <a16:creationId xmlns:a16="http://schemas.microsoft.com/office/drawing/2014/main" id="{503F3250-1DB3-49CD-81D7-23079AA17209}"/>
              </a:ext>
            </a:extLst>
          </p:cNvPr>
          <p:cNvSpPr>
            <a:spLocks xmlns:a="http://schemas.openxmlformats.org/drawingml/2006/main" noGrp="1"/>
          </p:cNvSpPr>
          <p:nvPr/>
        </p:nvSpPr>
        <p:spPr>
          <a:xfrm xmlns:a="http://schemas.openxmlformats.org/drawingml/2006/main">
            <a:off x="1587500" y="3429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F0E8D9"/>
                </a:solidFill>
                <a:latin typeface="Manrope"/>
                <a:ea typeface="Manrope"/>
                <a:cs typeface="Manrope"/>
              </a:rPr>
              <a:t>Keep working behavior intact</a:t>
            </a:r>
            <a:endParaRPr sz="2400" b="1">
              <a:solidFill>
                <a:srgbClr val="F0E8D9"/>
              </a:solidFill>
              <a:latin typeface="Manrope"/>
              <a:ea typeface="Manrope"/>
              <a:cs typeface="Manrope"/>
            </a:endParaRPr>
          </a:p>
        </p:txBody>
      </p:sp>
      <p:sp>
        <p:nvSpPr>
          <p:cNvPr id="86" name="Google Shape;86;p11">
            <a:extLst xmlns:a="http://schemas.openxmlformats.org/drawingml/2006/main">
              <a:ext uri="{FF2B5EF4-FFF2-40B4-BE49-F238E27FC236}">
                <a16:creationId xmlns:a16="http://schemas.microsoft.com/office/drawing/2014/main" id="{46FE0F30-B444-457F-979A-D852074A2895}"/>
              </a:ext>
            </a:extLst>
          </p:cNvPr>
          <p:cNvSpPr>
            <a:spLocks xmlns:a="http://schemas.openxmlformats.org/drawingml/2006/main" noGrp="1"/>
          </p:cNvSpPr>
          <p:nvPr/>
        </p:nvSpPr>
        <p:spPr>
          <a:xfrm xmlns:a="http://schemas.openxmlformats.org/drawingml/2006/main">
            <a:off x="1587500" y="3987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Check direct Python paths, Shell scripts and an input</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with a newline before the shebang.</a:t>
            </a:r>
            <a:endParaRPr sz="1900">
              <a:solidFill>
                <a:srgbClr val="B8C7AB"/>
              </a:solidFill>
              <a:latin typeface="Manrope"/>
              <a:ea typeface="Manrope"/>
              <a:cs typeface="Manrope"/>
            </a:endParaRPr>
          </a:p>
        </p:txBody>
      </p:sp>
      <p:sp>
        <p:nvSpPr>
          <p:cNvPr id="87" name="Google Shape;87;p11">
            <a:extLst xmlns:a="http://schemas.openxmlformats.org/drawingml/2006/main">
              <a:ext uri="{FF2B5EF4-FFF2-40B4-BE49-F238E27FC236}">
                <a16:creationId xmlns:a16="http://schemas.microsoft.com/office/drawing/2014/main" id="{07629426-1091-4373-9A9D-F21C112CF420}"/>
              </a:ext>
            </a:extLst>
          </p:cNvPr>
          <p:cNvSpPr>
            <a:spLocks xmlns:a="http://schemas.openxmlformats.org/drawingml/2006/main" noGrp="1"/>
          </p:cNvSpPr>
          <p:nvPr/>
        </p:nvSpPr>
        <p:spPr>
          <a:xfrm xmlns:a="http://schemas.openxmlformats.org/drawingml/2006/main">
            <a:off x="609600" y="4826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D99575"/>
                </a:solidFill>
                <a:latin typeface="Roboto Mono"/>
                <a:ea typeface="Roboto Mono"/>
                <a:cs typeface="Roboto Mono"/>
              </a:rPr>
              <a:t>03</a:t>
            </a:r>
            <a:endParaRPr sz="3000" b="1">
              <a:solidFill>
                <a:srgbClr val="D99575"/>
              </a:solidFill>
              <a:latin typeface="Roboto Mono"/>
              <a:ea typeface="Roboto Mono"/>
              <a:cs typeface="Roboto Mono"/>
            </a:endParaRPr>
          </a:p>
        </p:txBody>
      </p:sp>
      <p:sp>
        <p:nvSpPr>
          <p:cNvPr id="88" name="Google Shape;88;p11">
            <a:extLst xmlns:a="http://schemas.openxmlformats.org/drawingml/2006/main">
              <a:ext uri="{FF2B5EF4-FFF2-40B4-BE49-F238E27FC236}">
                <a16:creationId xmlns:a16="http://schemas.microsoft.com/office/drawing/2014/main" id="{76757074-0547-430B-976E-4EC8F196C9D2}"/>
              </a:ext>
            </a:extLst>
          </p:cNvPr>
          <p:cNvSpPr>
            <a:spLocks xmlns:a="http://schemas.openxmlformats.org/drawingml/2006/main" noGrp="1"/>
          </p:cNvSpPr>
          <p:nvPr/>
        </p:nvSpPr>
        <p:spPr>
          <a:xfrm xmlns:a="http://schemas.openxmlformats.org/drawingml/2006/main">
            <a:off x="1587500" y="4826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300"/>
            </a:defPPr>
            <a:lvl1pPr>
              <a:defRPr sz="2300"/>
            </a:lvl1pPr>
            <a:lvl2pPr>
              <a:defRPr sz="2300"/>
            </a:lvl2pPr>
            <a:lvl3pPr>
              <a:defRPr sz="2300"/>
            </a:lvl3pPr>
            <a:lvl4pPr>
              <a:defRPr sz="2300"/>
            </a:lvl4pPr>
            <a:lvl5pPr>
              <a:defRPr sz="2300"/>
            </a:lvl5pPr>
            <a:lvl6pPr>
              <a:defRPr sz="2300"/>
            </a:lvl6pPr>
            <a:lvl7pPr>
              <a:defRPr sz="2300"/>
            </a:lvl7pPr>
            <a:lvl8pPr>
              <a:defRPr sz="2300"/>
            </a:lvl8pPr>
            <a:lvl9pPr>
              <a:defRPr sz="2300"/>
            </a:lvl9pPr>
          </a:lstStyle>
          <a:p xmlns:a="http://schemas.openxmlformats.org/drawingml/2006/main">
            <a:pPr marL="0" marR="0" lvl="0" indent="0" algn="l">
              <a:spcBef>
                <a:spcPts val="0"/>
              </a:spcBef>
              <a:spcAft>
                <a:spcPts val="0"/>
              </a:spcAft>
              <a:buNone/>
              <a:defRPr sz="2300"/>
            </a:pPr>
            <a:r>
              <a:rPr sz="2300" b="1">
                <a:solidFill>
                  <a:srgbClr val="F0E8D9"/>
                </a:solidFill>
                <a:latin typeface="Manrope"/>
                <a:ea typeface="Manrope"/>
                <a:cs typeface="Manrope"/>
              </a:rPr>
              <a:t>Same 18 focused checks: 7 failures before, 0 after</a:t>
            </a:r>
            <a:endParaRPr sz="2400" b="1">
              <a:solidFill>
                <a:srgbClr val="F0E8D9"/>
              </a:solidFill>
              <a:latin typeface="Manrope"/>
              <a:ea typeface="Manrope"/>
              <a:cs typeface="Manrope"/>
            </a:endParaRPr>
          </a:p>
        </p:txBody>
      </p:sp>
      <p:sp>
        <p:nvSpPr>
          <p:cNvPr id="89" name="Google Shape;89;p11">
            <a:extLst xmlns:a="http://schemas.openxmlformats.org/drawingml/2006/main">
              <a:ext uri="{FF2B5EF4-FFF2-40B4-BE49-F238E27FC236}">
                <a16:creationId xmlns:a16="http://schemas.microsoft.com/office/drawing/2014/main" id="{9AB7F8B2-ECE8-42A6-B5CB-7BF342CD72FB}"/>
              </a:ext>
            </a:extLst>
          </p:cNvPr>
          <p:cNvSpPr>
            <a:spLocks xmlns:a="http://schemas.openxmlformats.org/drawingml/2006/main" noGrp="1"/>
          </p:cNvSpPr>
          <p:nvPr/>
        </p:nvSpPr>
        <p:spPr>
          <a:xfrm xmlns:a="http://schemas.openxmlformats.org/drawingml/2006/main">
            <a:off x="1587500" y="5384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B8C7AB"/>
                </a:solidFill>
                <a:latin typeface="Manrope"/>
                <a:ea typeface="Manrope"/>
                <a:cs typeface="Manrope"/>
              </a:rPr>
              <a:t>All 18 passed after the fix. These are local results.</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B8C7AB"/>
                </a:solidFill>
                <a:latin typeface="Manrope"/>
                <a:ea typeface="Manrope"/>
                <a:cs typeface="Manrope"/>
              </a:rPr>
              <a:t>They do not establish remote CI or whole-project validation.</a:t>
            </a:r>
            <a:endParaRPr sz="1900">
              <a:solidFill>
                <a:srgbClr val="B8C7AB"/>
              </a:solidFill>
              <a:latin typeface="Manrope"/>
              <a:ea typeface="Manrope"/>
              <a:cs typeface="Manrope"/>
            </a:endParaRPr>
          </a:p>
        </p:txBody>
      </p:sp>
    </p:spTree>
    <p:extLst>
      <p:ext uri="{BB962C8B-B14F-4D97-AF65-F5344CB8AC3E}">
        <p14:creationId xmlns:p14="http://schemas.microsoft.com/office/powerpoint/2010/main" val="1042123372"/>
      </p:ext>
    </p:extLst>
  </p:cSld>
</p:sld>
</file>

<file path=ppt/slides/slide3.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42" name="Google Shape;42;p9">
            <a:extLst xmlns:a="http://schemas.openxmlformats.org/drawingml/2006/main">
              <a:ext uri="{FF2B5EF4-FFF2-40B4-BE49-F238E27FC236}">
                <a16:creationId xmlns:a16="http://schemas.microsoft.com/office/drawing/2014/main" id="{C649A7DE-3EB6-4F20-99F1-6CCEBCD4FFF0}"/>
              </a:ext>
            </a:extLst>
          </p:cNvPr>
          <p:cNvSpPr>
            <a:spLocks xmlns:a="http://schemas.openxmlformats.org/drawingml/2006/main" noGrp="1"/>
          </p:cNvSpPr>
          <p:nvPr/>
        </p:nvSpPr>
        <p:spPr>
          <a:xfrm xmlns:a="http://schemas.openxmlformats.org/drawingml/2006/main">
            <a:off x="0" y="3835400"/>
            <a:ext cx="12192000" cy="3022500"/>
          </a:xfrm>
          <a:prstGeom xmlns:a="http://schemas.openxmlformats.org/drawingml/2006/main" prst="rect">
            <a:avLst/>
          </a:prstGeom>
          <a:solidFill xmlns:a="http://schemas.openxmlformats.org/drawingml/2006/main">
            <a:srgbClr val="F0E8D9"/>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43" name="Google Shape;43;p9">
            <a:extLst xmlns:a="http://schemas.openxmlformats.org/drawingml/2006/main">
              <a:ext uri="{FF2B5EF4-FFF2-40B4-BE49-F238E27FC236}">
                <a16:creationId xmlns:a16="http://schemas.microsoft.com/office/drawing/2014/main" id="{F563E5C4-AF43-47DB-A4EC-C542AA844741}"/>
              </a:ext>
            </a:extLst>
          </p:cNvPr>
          <p:cNvSpPr>
            <a:spLocks xmlns:a="http://schemas.openxmlformats.org/drawingml/2006/main" noGrp="1"/>
          </p:cNvSpPr>
          <p:nvPr/>
        </p:nvSpPr>
        <p:spPr>
          <a:xfrm xmlns:a="http://schemas.openxmlformats.org/drawingml/2006/main">
            <a:off x="609600" y="330200"/>
            <a:ext cx="96519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00">
                <a:solidFill>
                  <a:srgbClr val="B8C7AB"/>
                </a:solidFill>
                <a:latin typeface="Roboto Mono"/>
                <a:ea typeface="Roboto Mono"/>
                <a:cs typeface="Roboto Mono"/>
              </a:rPr>
              <a:t>TIKA-4408 / LESSONS FROM REVIEW</a:t>
            </a:r>
            <a:endParaRPr sz="1100">
              <a:solidFill>
                <a:srgbClr val="B8C7AB"/>
              </a:solidFill>
              <a:latin typeface="Roboto Mono"/>
              <a:ea typeface="Roboto Mono"/>
              <a:cs typeface="Roboto Mono"/>
            </a:endParaRPr>
          </a:p>
        </p:txBody>
      </p:sp>
      <p:sp>
        <p:nvSpPr>
          <p:cNvPr id="44" name="Google Shape;44;p9">
            <a:extLst xmlns:a="http://schemas.openxmlformats.org/drawingml/2006/main">
              <a:ext uri="{FF2B5EF4-FFF2-40B4-BE49-F238E27FC236}">
                <a16:creationId xmlns:a16="http://schemas.microsoft.com/office/drawing/2014/main" id="{980F5A0C-EB58-44AD-BE53-98BAFE1A5342}"/>
              </a:ext>
            </a:extLst>
          </p:cNvPr>
          <p:cNvSpPr>
            <a:spLocks xmlns:a="http://schemas.openxmlformats.org/drawingml/2006/main" noGrp="1"/>
          </p:cNvSpPr>
          <p:nvPr/>
        </p:nvSpPr>
        <p:spPr>
          <a:xfrm xmlns:a="http://schemas.openxmlformats.org/drawingml/2006/main">
            <a:off x="10871200" y="330200"/>
            <a:ext cx="7113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100">
                <a:solidFill>
                  <a:srgbClr val="B8C7AB"/>
                </a:solidFill>
                <a:latin typeface="Roboto Mono"/>
                <a:ea typeface="Roboto Mono"/>
                <a:cs typeface="Roboto Mono"/>
              </a:rPr>
              <a:t>03</a:t>
            </a:r>
            <a:endParaRPr sz="1100">
              <a:solidFill>
                <a:srgbClr val="B8C7AB"/>
              </a:solidFill>
              <a:latin typeface="Roboto Mono"/>
              <a:ea typeface="Roboto Mono"/>
              <a:cs typeface="Roboto Mono"/>
            </a:endParaRPr>
          </a:p>
        </p:txBody>
      </p:sp>
      <p:sp>
        <p:nvSpPr>
          <p:cNvPr id="45" name="Google Shape;45;p9">
            <a:extLst xmlns:a="http://schemas.openxmlformats.org/drawingml/2006/main">
              <a:ext uri="{FF2B5EF4-FFF2-40B4-BE49-F238E27FC236}">
                <a16:creationId xmlns:a16="http://schemas.microsoft.com/office/drawing/2014/main" id="{33D82BA1-51F6-46A3-A292-B6322244794D}"/>
              </a:ext>
            </a:extLst>
          </p:cNvPr>
          <p:cNvSpPr>
            <a:spLocks xmlns:a="http://schemas.openxmlformats.org/drawingml/2006/main" noGrp="1"/>
          </p:cNvSpPr>
          <p:nvPr>
            <p:ph type="title" idx="0"/>
          </p:nvPr>
        </p:nvSpPr>
        <p:spPr>
          <a:xfrm xmlns:a="http://schemas.openxmlformats.org/drawingml/2006/main">
            <a:off x="609600" y="952500"/>
            <a:ext cx="10972800" cy="9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Negative tests catch false positives</a:t>
            </a:r>
            <a:endParaRPr sz="3500" b="1">
              <a:solidFill>
                <a:srgbClr val="F0E8D9"/>
              </a:solidFill>
              <a:latin typeface="Manrope"/>
              <a:ea typeface="Manrope"/>
              <a:cs typeface="Manrope"/>
            </a:endParaRPr>
          </a:p>
        </p:txBody>
      </p:sp>
      <p:sp>
        <p:nvSpPr>
          <p:cNvPr id="46" name="Google Shape;46;p9">
            <a:extLst xmlns:a="http://schemas.openxmlformats.org/drawingml/2006/main">
              <a:ext uri="{FF2B5EF4-FFF2-40B4-BE49-F238E27FC236}">
                <a16:creationId xmlns:a16="http://schemas.microsoft.com/office/drawing/2014/main" id="{35D0A4BF-CD5A-4522-B7C2-CCF382DD9AEF}"/>
              </a:ext>
            </a:extLst>
          </p:cNvPr>
          <p:cNvSpPr>
            <a:spLocks xmlns:a="http://schemas.openxmlformats.org/drawingml/2006/main" noGrp="1"/>
          </p:cNvSpPr>
          <p:nvPr/>
        </p:nvSpPr>
        <p:spPr>
          <a:xfrm xmlns:a="http://schemas.openxmlformats.org/drawingml/2006/main">
            <a:off x="7620000" y="6578600"/>
            <a:ext cx="3962400" cy="20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900">
                <a:solidFill>
                  <a:srgbClr val="203B34"/>
                </a:solidFill>
                <a:latin typeface="Manrope"/>
                <a:ea typeface="Manrope"/>
                <a:cs typeface="Manrope"/>
              </a:rPr>
              <a:t>Jiajun Li / TIKA-4408</a:t>
            </a:r>
            <a:endParaRPr sz="900">
              <a:solidFill>
                <a:srgbClr val="203B34"/>
              </a:solidFill>
              <a:latin typeface="Manrope"/>
              <a:ea typeface="Manrope"/>
              <a:cs typeface="Manrope"/>
            </a:endParaRPr>
          </a:p>
        </p:txBody>
      </p:sp>
      <p:sp>
        <p:nvSpPr>
          <p:cNvPr id="47" name="Google Shape;47;p9">
            <a:extLst xmlns:a="http://schemas.openxmlformats.org/drawingml/2006/main">
              <a:ext uri="{FF2B5EF4-FFF2-40B4-BE49-F238E27FC236}">
                <a16:creationId xmlns:a16="http://schemas.microsoft.com/office/drawing/2014/main" id="{9CA6DB4B-926F-4A17-9A79-E05731261294}"/>
              </a:ext>
            </a:extLst>
          </p:cNvPr>
          <p:cNvSpPr>
            <a:spLocks xmlns:a="http://schemas.openxmlformats.org/drawingml/2006/main" noGrp="1"/>
          </p:cNvSpPr>
          <p:nvPr/>
        </p:nvSpPr>
        <p:spPr>
          <a:xfrm xmlns:a="http://schemas.openxmlformats.org/drawingml/2006/main">
            <a:off x="609600" y="4152900"/>
            <a:ext cx="50799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A14F37"/>
                </a:solidFill>
                <a:latin typeface="Manrope"/>
                <a:ea typeface="Manrope"/>
                <a:cs typeface="Manrope"/>
              </a:rPr>
              <a:t>OLD RULE: ACCIDENTAL MATCH</a:t>
            </a:r>
            <a:endParaRPr sz="1200" b="1">
              <a:solidFill>
                <a:srgbClr val="A14F37"/>
              </a:solidFill>
              <a:latin typeface="Manrope"/>
              <a:ea typeface="Manrope"/>
              <a:cs typeface="Manrope"/>
            </a:endParaRPr>
          </a:p>
        </p:txBody>
      </p:sp>
      <p:sp>
        <p:nvSpPr>
          <p:cNvPr id="48" name="Google Shape;48;p9">
            <a:extLst xmlns:a="http://schemas.openxmlformats.org/drawingml/2006/main">
              <a:ext uri="{FF2B5EF4-FFF2-40B4-BE49-F238E27FC236}">
                <a16:creationId xmlns:a16="http://schemas.microsoft.com/office/drawing/2014/main" id="{1F616BD8-03FF-4592-AFB6-3DAFFA80CB77}"/>
              </a:ext>
            </a:extLst>
          </p:cNvPr>
          <p:cNvSpPr>
            <a:spLocks xmlns:a="http://schemas.openxmlformats.org/drawingml/2006/main" noGrp="1"/>
          </p:cNvSpPr>
          <p:nvPr/>
        </p:nvSpPr>
        <p:spPr>
          <a:xfrm xmlns:a="http://schemas.openxmlformats.org/drawingml/2006/main">
            <a:off x="6604000" y="4152900"/>
            <a:ext cx="49785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203B34"/>
                </a:solidFill>
                <a:latin typeface="Manrope"/>
                <a:ea typeface="Manrope"/>
                <a:cs typeface="Manrope"/>
              </a:rPr>
              <a:t>EARLIER FIX: FILE-START CHECK</a:t>
            </a:r>
            <a:endParaRPr sz="1200" b="1">
              <a:solidFill>
                <a:srgbClr val="203B34"/>
              </a:solidFill>
              <a:latin typeface="Manrope"/>
              <a:ea typeface="Manrope"/>
              <a:cs typeface="Manrope"/>
            </a:endParaRPr>
          </a:p>
        </p:txBody>
      </p:sp>
      <p:sp>
        <p:nvSpPr>
          <p:cNvPr id="49" name="Google Shape;49;p9">
            <a:extLst xmlns:a="http://schemas.openxmlformats.org/drawingml/2006/main">
              <a:ext uri="{FF2B5EF4-FFF2-40B4-BE49-F238E27FC236}">
                <a16:creationId xmlns:a16="http://schemas.microsoft.com/office/drawing/2014/main" id="{18971D54-D8AE-49CB-9CEC-FA517F7E60AA}"/>
              </a:ext>
            </a:extLst>
          </p:cNvPr>
          <p:cNvSpPr>
            <a:spLocks xmlns:a="http://schemas.openxmlformats.org/drawingml/2006/main" noGrp="1"/>
          </p:cNvSpPr>
          <p:nvPr/>
        </p:nvSpPr>
        <p:spPr>
          <a:xfrm xmlns:a="http://schemas.openxmlformats.org/drawingml/2006/main">
            <a:off x="609600" y="2257425"/>
            <a:ext cx="109728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4800">
                <a:solidFill>
                  <a:srgbClr val="F0E8D9"/>
                </a:solidFill>
                <a:latin typeface="Roboto Mono"/>
                <a:ea typeface="Roboto Mono"/>
                <a:cs typeface="Roboto Mono"/>
              </a:defRPr>
            </a:defPPr>
            <a:lvl1pPr>
              <a:defRPr sz="4800">
                <a:solidFill>
                  <a:srgbClr val="F0E8D9"/>
                </a:solidFill>
                <a:latin typeface="Roboto Mono"/>
                <a:ea typeface="Roboto Mono"/>
                <a:cs typeface="Roboto Mono"/>
              </a:defRPr>
            </a:lvl1pPr>
            <a:lvl2pPr>
              <a:defRPr sz="4800">
                <a:solidFill>
                  <a:srgbClr val="F0E8D9"/>
                </a:solidFill>
                <a:latin typeface="Roboto Mono"/>
                <a:ea typeface="Roboto Mono"/>
                <a:cs typeface="Roboto Mono"/>
              </a:defRPr>
            </a:lvl2pPr>
            <a:lvl3pPr>
              <a:defRPr sz="4800">
                <a:solidFill>
                  <a:srgbClr val="F0E8D9"/>
                </a:solidFill>
                <a:latin typeface="Roboto Mono"/>
                <a:ea typeface="Roboto Mono"/>
                <a:cs typeface="Roboto Mono"/>
              </a:defRPr>
            </a:lvl3pPr>
            <a:lvl4pPr>
              <a:defRPr sz="4800">
                <a:solidFill>
                  <a:srgbClr val="F0E8D9"/>
                </a:solidFill>
                <a:latin typeface="Roboto Mono"/>
                <a:ea typeface="Roboto Mono"/>
                <a:cs typeface="Roboto Mono"/>
              </a:defRPr>
            </a:lvl4pPr>
            <a:lvl5pPr>
              <a:defRPr sz="4800">
                <a:solidFill>
                  <a:srgbClr val="F0E8D9"/>
                </a:solidFill>
                <a:latin typeface="Roboto Mono"/>
                <a:ea typeface="Roboto Mono"/>
                <a:cs typeface="Roboto Mono"/>
              </a:defRPr>
            </a:lvl5pPr>
            <a:lvl6pPr>
              <a:defRPr sz="4800">
                <a:solidFill>
                  <a:srgbClr val="F0E8D9"/>
                </a:solidFill>
                <a:latin typeface="Roboto Mono"/>
                <a:ea typeface="Roboto Mono"/>
                <a:cs typeface="Roboto Mono"/>
              </a:defRPr>
            </a:lvl6pPr>
            <a:lvl7pPr>
              <a:defRPr sz="4800">
                <a:solidFill>
                  <a:srgbClr val="F0E8D9"/>
                </a:solidFill>
                <a:latin typeface="Roboto Mono"/>
                <a:ea typeface="Roboto Mono"/>
                <a:cs typeface="Roboto Mono"/>
              </a:defRPr>
            </a:lvl7pPr>
            <a:lvl8pPr>
              <a:defRPr sz="4800">
                <a:solidFill>
                  <a:srgbClr val="F0E8D9"/>
                </a:solidFill>
                <a:latin typeface="Roboto Mono"/>
                <a:ea typeface="Roboto Mono"/>
                <a:cs typeface="Roboto Mono"/>
              </a:defRPr>
            </a:lvl8pPr>
            <a:lvl9pPr>
              <a:defRPr sz="4800">
                <a:solidFill>
                  <a:srgbClr val="F0E8D9"/>
                </a:solidFill>
                <a:latin typeface="Roboto Mono"/>
                <a:ea typeface="Roboto Mono"/>
                <a:cs typeface="Roboto Mono"/>
              </a:defRPr>
            </a:lvl9pPr>
          </a:lstStyle>
          <a:p xmlns:a="http://schemas.openxmlformats.org/drawingml/2006/main">
            <a:pPr marL="0" marR="0" lvl="0" indent="0" algn="l">
              <a:spcBef>
                <a:spcPts val="0"/>
              </a:spcBef>
              <a:spcAft>
                <a:spcPts val="0"/>
              </a:spcAft>
              <a:buNone/>
              <a:defRPr sz="4800">
                <a:solidFill>
                  <a:srgbClr val="F0E8D9"/>
                </a:solidFill>
                <a:latin typeface="Roboto Mono"/>
                <a:ea typeface="Roboto Mono"/>
                <a:cs typeface="Roboto Mono"/>
              </a:defRPr>
            </a:pPr>
            <a:r>
              <a:rPr sz="4800">
                <a:solidFill>
                  <a:srgbClr val="D99575"/>
                </a:solidFill>
                <a:latin typeface="Roboto Mono"/>
                <a:ea typeface="Roboto Mono"/>
                <a:cs typeface="Roboto Mono"/>
              </a:rPr>
              <a:t>x</a:t>
            </a:r>
            <a:r>
              <a:rPr sz="4800">
                <a:solidFill>
                  <a:srgbClr val="F0E8D9"/>
                </a:solidFill>
                <a:latin typeface="Roboto Mono"/>
                <a:ea typeface="Roboto Mono"/>
                <a:cs typeface="Roboto Mono"/>
              </a:rPr>
              <a:t>/bin/env python</a:t>
            </a:r>
            <a:endParaRPr sz="4800">
              <a:solidFill>
                <a:srgbClr val="F0E8D9"/>
              </a:solidFill>
              <a:latin typeface="Roboto Mono"/>
              <a:ea typeface="Roboto Mono"/>
              <a:cs typeface="Roboto Mono"/>
            </a:endParaRPr>
          </a:p>
        </p:txBody>
      </p:sp>
      <p:sp>
        <p:nvSpPr>
          <p:cNvPr id="50" name="Google Shape;50;p9">
            <a:extLst xmlns:a="http://schemas.openxmlformats.org/drawingml/2006/main">
              <a:ext uri="{FF2B5EF4-FFF2-40B4-BE49-F238E27FC236}">
                <a16:creationId xmlns:a16="http://schemas.microsoft.com/office/drawing/2014/main" id="{11EF46E8-D964-43AC-9470-80C28F10DA9E}"/>
              </a:ext>
            </a:extLst>
          </p:cNvPr>
          <p:cNvSpPr>
            <a:spLocks xmlns:a="http://schemas.openxmlformats.org/drawingml/2006/main" noGrp="1"/>
          </p:cNvSpPr>
          <p:nvPr/>
        </p:nvSpPr>
        <p:spPr>
          <a:xfrm xmlns:a="http://schemas.openxmlformats.org/drawingml/2006/main">
            <a:off x="609600" y="4673600"/>
            <a:ext cx="53340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Matches the text after x</a:t>
            </a:r>
            <a:endParaRPr sz="19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Mistakes ordinary text for Python</a:t>
            </a:r>
            <a:endParaRPr sz="1900">
              <a:solidFill>
                <a:srgbClr val="203B34"/>
              </a:solidFill>
              <a:latin typeface="Roboto Mono"/>
              <a:ea typeface="Roboto Mono"/>
              <a:cs typeface="Roboto Mono"/>
            </a:endParaRPr>
          </a:p>
        </p:txBody>
      </p:sp>
      <p:sp>
        <p:nvSpPr>
          <p:cNvPr id="51" name="Google Shape;51;p9">
            <a:extLst xmlns:a="http://schemas.openxmlformats.org/drawingml/2006/main">
              <a:ext uri="{FF2B5EF4-FFF2-40B4-BE49-F238E27FC236}">
                <a16:creationId xmlns:a16="http://schemas.microsoft.com/office/drawing/2014/main" id="{5D9793FC-D20C-4A75-99E4-D049FB147C61}"/>
              </a:ext>
            </a:extLst>
          </p:cNvPr>
          <p:cNvSpPr>
            <a:spLocks xmlns:a="http://schemas.openxmlformats.org/drawingml/2006/main" noGrp="1"/>
          </p:cNvSpPr>
          <p:nvPr/>
        </p:nvSpPr>
        <p:spPr>
          <a:xfrm xmlns:a="http://schemas.openxmlformats.org/drawingml/2006/main">
            <a:off x="6604000" y="4673600"/>
            <a:ext cx="4978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No #! prefix at the start</a:t>
            </a:r>
            <a:endParaRPr sz="22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The Python rule does not match</a:t>
            </a:r>
            <a:endParaRPr sz="2200">
              <a:solidFill>
                <a:srgbClr val="203B34"/>
              </a:solidFill>
              <a:latin typeface="Roboto Mono"/>
              <a:ea typeface="Roboto Mono"/>
              <a:cs typeface="Roboto Mono"/>
            </a:endParaRPr>
          </a:p>
        </p:txBody>
      </p:sp>
      <p:sp>
        <p:nvSpPr>
          <p:cNvPr id="52" name="Google Shape;52;p9">
            <a:extLst xmlns:a="http://schemas.openxmlformats.org/drawingml/2006/main">
              <a:ext uri="{FF2B5EF4-FFF2-40B4-BE49-F238E27FC236}">
                <a16:creationId xmlns:a16="http://schemas.microsoft.com/office/drawing/2014/main" id="{144C3DDD-C040-4974-89DF-3E832254EF11}"/>
              </a:ext>
            </a:extLst>
          </p:cNvPr>
          <p:cNvSpPr>
            <a:spLocks xmlns:a="http://schemas.openxmlformats.org/drawingml/2006/main" noGrp="1"/>
          </p:cNvSpPr>
          <p:nvPr/>
        </p:nvSpPr>
        <p:spPr>
          <a:xfrm xmlns:a="http://schemas.openxmlformats.org/drawingml/2006/main">
            <a:off x="6604000" y="5562600"/>
            <a:ext cx="49785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203B34"/>
                </a:solidFill>
                <a:latin typeface="Roboto Mono"/>
                <a:ea typeface="Roboto Mono"/>
                <a:cs typeface="Roboto Mono"/>
              </a:rPr>
              <a:t>text/plain</a:t>
            </a:r>
            <a:endParaRPr sz="2600" b="1">
              <a:solidFill>
                <a:srgbClr val="203B34"/>
              </a:solidFill>
              <a:latin typeface="Roboto Mono"/>
              <a:ea typeface="Roboto Mono"/>
              <a:cs typeface="Roboto Mono"/>
            </a:endParaRPr>
          </a:p>
        </p:txBody>
      </p:sp>
      <p:sp>
        <p:nvSpPr>
          <p:cNvPr id="53" name="Google Shape;53;p9">
            <a:extLst xmlns:a="http://schemas.openxmlformats.org/drawingml/2006/main">
              <a:ext uri="{FF2B5EF4-FFF2-40B4-BE49-F238E27FC236}">
                <a16:creationId xmlns:a16="http://schemas.microsoft.com/office/drawing/2014/main" id="{891A0147-F0A1-4ABB-A43C-E67884E61197}"/>
              </a:ext>
            </a:extLst>
          </p:cNvPr>
          <p:cNvSpPr>
            <a:spLocks xmlns:a="http://schemas.openxmlformats.org/drawingml/2006/main" noGrp="1"/>
          </p:cNvSpPr>
          <p:nvPr/>
        </p:nvSpPr>
        <p:spPr>
          <a:xfrm xmlns:a="http://schemas.openxmlformats.org/drawingml/2006/main">
            <a:off x="609600" y="5562600"/>
            <a:ext cx="53340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A14F37"/>
                </a:solidFill>
                <a:latin typeface="Roboto Mono"/>
                <a:ea typeface="Roboto Mono"/>
                <a:cs typeface="Roboto Mono"/>
              </a:rPr>
              <a:t>text/x-python</a:t>
            </a:r>
            <a:endParaRPr sz="2600" b="1">
              <a:solidFill>
                <a:srgbClr val="A14F37"/>
              </a:solidFill>
              <a:latin typeface="Roboto Mono"/>
              <a:ea typeface="Roboto Mono"/>
              <a:cs typeface="Roboto Mono"/>
            </a:endParaRPr>
          </a:p>
        </p:txBody>
      </p:sp>
      <p:sp>
        <p:nvSpPr>
          <p:cNvPr id="54" name="Google Shape;54;p9">
            <a:extLst xmlns:a="http://schemas.openxmlformats.org/drawingml/2006/main">
              <a:ext uri="{FF2B5EF4-FFF2-40B4-BE49-F238E27FC236}">
                <a16:creationId xmlns:a16="http://schemas.microsoft.com/office/drawing/2014/main" id="{2C6D2F51-FA40-42D0-B0E3-CE24DABECCF3}"/>
              </a:ext>
            </a:extLst>
          </p:cNvPr>
          <p:cNvSpPr>
            <a:spLocks xmlns:a="http://schemas.openxmlformats.org/drawingml/2006/main" noGrp="1"/>
          </p:cNvSpPr>
          <p:nvPr/>
        </p:nvSpPr>
        <p:spPr>
          <a:xfrm xmlns:a="http://schemas.openxmlformats.org/drawingml/2006/main">
            <a:off x="609600" y="3267075"/>
            <a:ext cx="109728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solidFill>
                  <a:srgbClr val="B8C7AB"/>
                </a:solidFill>
                <a:latin typeface="Manrope"/>
                <a:ea typeface="Manrope"/>
                <a:cs typeface="Manrope"/>
              </a:defRPr>
            </a:defPPr>
            <a:lvl1pPr>
              <a:defRPr sz="1900">
                <a:solidFill>
                  <a:srgbClr val="B8C7AB"/>
                </a:solidFill>
                <a:latin typeface="Manrope"/>
                <a:ea typeface="Manrope"/>
                <a:cs typeface="Manrope"/>
              </a:defRPr>
            </a:lvl1pPr>
            <a:lvl2pPr>
              <a:defRPr sz="1900">
                <a:solidFill>
                  <a:srgbClr val="B8C7AB"/>
                </a:solidFill>
                <a:latin typeface="Manrope"/>
                <a:ea typeface="Manrope"/>
                <a:cs typeface="Manrope"/>
              </a:defRPr>
            </a:lvl2pPr>
            <a:lvl3pPr>
              <a:defRPr sz="1900">
                <a:solidFill>
                  <a:srgbClr val="B8C7AB"/>
                </a:solidFill>
                <a:latin typeface="Manrope"/>
                <a:ea typeface="Manrope"/>
                <a:cs typeface="Manrope"/>
              </a:defRPr>
            </a:lvl3pPr>
            <a:lvl4pPr>
              <a:defRPr sz="1900">
                <a:solidFill>
                  <a:srgbClr val="B8C7AB"/>
                </a:solidFill>
                <a:latin typeface="Manrope"/>
                <a:ea typeface="Manrope"/>
                <a:cs typeface="Manrope"/>
              </a:defRPr>
            </a:lvl4pPr>
            <a:lvl5pPr>
              <a:defRPr sz="1900">
                <a:solidFill>
                  <a:srgbClr val="B8C7AB"/>
                </a:solidFill>
                <a:latin typeface="Manrope"/>
                <a:ea typeface="Manrope"/>
                <a:cs typeface="Manrope"/>
              </a:defRPr>
            </a:lvl5pPr>
            <a:lvl6pPr>
              <a:defRPr sz="1900">
                <a:solidFill>
                  <a:srgbClr val="B8C7AB"/>
                </a:solidFill>
                <a:latin typeface="Manrope"/>
                <a:ea typeface="Manrope"/>
                <a:cs typeface="Manrope"/>
              </a:defRPr>
            </a:lvl6pPr>
            <a:lvl7pPr>
              <a:defRPr sz="1900">
                <a:solidFill>
                  <a:srgbClr val="B8C7AB"/>
                </a:solidFill>
                <a:latin typeface="Manrope"/>
                <a:ea typeface="Manrope"/>
                <a:cs typeface="Manrope"/>
              </a:defRPr>
            </a:lvl7pPr>
            <a:lvl8pPr>
              <a:defRPr sz="1900">
                <a:solidFill>
                  <a:srgbClr val="B8C7AB"/>
                </a:solidFill>
                <a:latin typeface="Manrope"/>
                <a:ea typeface="Manrope"/>
                <a:cs typeface="Manrope"/>
              </a:defRPr>
            </a:lvl8pPr>
            <a:lvl9pPr>
              <a:defRPr sz="1900">
                <a:solidFill>
                  <a:srgbClr val="B8C7AB"/>
                </a:solidFill>
                <a:latin typeface="Manrope"/>
                <a:ea typeface="Manrope"/>
                <a:cs typeface="Manrope"/>
              </a:defRPr>
            </a:lvl9pPr>
          </a:lstStyle>
          <a:p xmlns:a="http://schemas.openxmlformats.org/drawingml/2006/main">
            <a:pPr marL="0" marR="0" lvl="0" indent="0" algn="l">
              <a:spcBef>
                <a:spcPts val="0"/>
              </a:spcBef>
              <a:spcAft>
                <a:spcPts val="0"/>
              </a:spcAft>
              <a:buNone/>
              <a:defRPr sz="1900">
                <a:solidFill>
                  <a:srgbClr val="B8C7AB"/>
                </a:solidFill>
                <a:latin typeface="Manrope"/>
                <a:ea typeface="Manrope"/>
                <a:cs typeface="Manrope"/>
              </a:defRPr>
            </a:pPr>
            <a:r>
              <a:rPr sz="1900">
                <a:solidFill>
                  <a:srgbClr val="B8C7AB"/>
                </a:solidFill>
                <a:latin typeface="Manrope"/>
                <a:ea typeface="Manrope"/>
                <a:cs typeface="Manrope"/>
              </a:rPr>
              <a:t>x is at offset 0. /bin/env python begins at offset 1.</a:t>
            </a:r>
            <a:endParaRPr sz="1250">
              <a:solidFill>
                <a:srgbClr val="203B34"/>
              </a:solidFill>
              <a:latin typeface="Manrope"/>
              <a:ea typeface="Manrope"/>
              <a:cs typeface="Manrope"/>
            </a:endParaRPr>
          </a:p>
        </p:txBody>
      </p:sp>
      <p:sp>
        <p:nvSpPr>
          <p:cNvPr id="55" name="review-limit">
            <a:extLst xmlns:a="http://schemas.openxmlformats.org/drawingml/2006/main">
              <a:ext uri="{FF2B5EF4-FFF2-40B4-BE49-F238E27FC236}">
                <a16:creationId xmlns:a16="http://schemas.microsoft.com/office/drawing/2014/main" id="{CB801659-53C3-4D16-A259-30A0DA7CA219}"/>
              </a:ext>
            </a:extLst>
          </p:cNvPr>
          <p:cNvSpPr>
            <a:spLocks xmlns:a="http://schemas.openxmlformats.org/drawingml/2006/main" noGrp="1"/>
          </p:cNvSpPr>
          <p:nvPr/>
        </p:nvSpPr>
        <p:spPr>
          <a:xfrm xmlns:a="http://schemas.openxmlformats.org/drawingml/2006/main">
            <a:off x="609600" y="62007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50">
                <a:solidFill>
                  <a:srgbClr val="203B34"/>
                </a:solidFill>
                <a:latin typeface="Manrope"/>
                <a:ea typeface="Manrope"/>
                <a:cs typeface="Manrope"/>
              </a:defRPr>
            </a:defPPr>
            <a:lvl1pPr>
              <a:defRPr sz="1550">
                <a:solidFill>
                  <a:srgbClr val="203B34"/>
                </a:solidFill>
                <a:latin typeface="Manrope"/>
                <a:ea typeface="Manrope"/>
                <a:cs typeface="Manrope"/>
              </a:defRPr>
            </a:lvl1pPr>
            <a:lvl2pPr>
              <a:defRPr sz="1550">
                <a:solidFill>
                  <a:srgbClr val="203B34"/>
                </a:solidFill>
                <a:latin typeface="Manrope"/>
                <a:ea typeface="Manrope"/>
                <a:cs typeface="Manrope"/>
              </a:defRPr>
            </a:lvl2pPr>
            <a:lvl3pPr>
              <a:defRPr sz="1550">
                <a:solidFill>
                  <a:srgbClr val="203B34"/>
                </a:solidFill>
                <a:latin typeface="Manrope"/>
                <a:ea typeface="Manrope"/>
                <a:cs typeface="Manrope"/>
              </a:defRPr>
            </a:lvl3pPr>
            <a:lvl4pPr>
              <a:defRPr sz="1550">
                <a:solidFill>
                  <a:srgbClr val="203B34"/>
                </a:solidFill>
                <a:latin typeface="Manrope"/>
                <a:ea typeface="Manrope"/>
                <a:cs typeface="Manrope"/>
              </a:defRPr>
            </a:lvl4pPr>
            <a:lvl5pPr>
              <a:defRPr sz="1550">
                <a:solidFill>
                  <a:srgbClr val="203B34"/>
                </a:solidFill>
                <a:latin typeface="Manrope"/>
                <a:ea typeface="Manrope"/>
                <a:cs typeface="Manrope"/>
              </a:defRPr>
            </a:lvl5pPr>
            <a:lvl6pPr>
              <a:defRPr sz="1550">
                <a:solidFill>
                  <a:srgbClr val="203B34"/>
                </a:solidFill>
                <a:latin typeface="Manrope"/>
                <a:ea typeface="Manrope"/>
                <a:cs typeface="Manrope"/>
              </a:defRPr>
            </a:lvl6pPr>
            <a:lvl7pPr>
              <a:defRPr sz="1550">
                <a:solidFill>
                  <a:srgbClr val="203B34"/>
                </a:solidFill>
                <a:latin typeface="Manrope"/>
                <a:ea typeface="Manrope"/>
                <a:cs typeface="Manrope"/>
              </a:defRPr>
            </a:lvl7pPr>
            <a:lvl8pPr>
              <a:defRPr sz="1550">
                <a:solidFill>
                  <a:srgbClr val="203B34"/>
                </a:solidFill>
                <a:latin typeface="Manrope"/>
                <a:ea typeface="Manrope"/>
                <a:cs typeface="Manrope"/>
              </a:defRPr>
            </a:lvl8pPr>
            <a:lvl9pPr>
              <a:defRPr sz="1550">
                <a:solidFill>
                  <a:srgbClr val="203B34"/>
                </a:solidFill>
                <a:latin typeface="Manrope"/>
                <a:ea typeface="Manrope"/>
                <a:cs typeface="Manrope"/>
              </a:defRPr>
            </a:lvl9pPr>
          </a:lstStyle>
          <a:p xmlns:a="http://schemas.openxmlformats.org/drawingml/2006/main">
            <a:pPr>
              <a:defRPr sz="1550">
                <a:solidFill>
                  <a:srgbClr val="203B34"/>
                </a:solidFill>
                <a:latin typeface="Manrope"/>
                <a:ea typeface="Manrope"/>
                <a:cs typeface="Manrope"/>
              </a:defRPr>
            </a:pPr>
            <a:r>
              <a:rPr sz="1550">
                <a:solidFill>
                  <a:srgbClr val="203B34"/>
                </a:solidFill>
                <a:latin typeface="Manrope"/>
                <a:ea typeface="Manrope"/>
                <a:cs typeface="Manrope"/>
              </a:rPr>
              <a:t>Kyubin checked the earlier fix separately. A permanent regression test is deferred.</a:t>
            </a:r>
          </a:p>
        </p:txBody>
      </p:sp>
    </p:spTree>
    <p:extLst>
      <p:ext uri="{BB962C8B-B14F-4D97-AF65-F5344CB8AC3E}">
        <p14:creationId xmlns:p14="http://schemas.microsoft.com/office/powerpoint/2010/main" val="1007464614"/>
      </p:ext>
    </p:extLst>
  </p:cSld>
</p:sld>
</file>

<file path=ppt/slides/slide4.xml><?xml version="1.0" encoding="utf-8"?>
<p:sld xmlns:p="http://schemas.openxmlformats.org/presentationml/2006/main">
  <p:cSld>
    <p:bg>
      <p:bgPr>
        <a:solidFill xmlns:a="http://schemas.openxmlformats.org/drawingml/2006/main">
          <a:srgbClr val="F0E8D9"/>
        </a:solidFill>
      </p:bgPr>
    </p:bg>
    <p:spTree>
      <p:nvGrpSpPr>
        <p:cNvPr id="1" name=""/>
        <p:cNvGrpSpPr/>
        <p:nvPr/>
      </p:nvGrpSpPr>
      <p:grpSpPr>
        <a:xfrm xmlns:a="http://schemas.openxmlformats.org/drawingml/2006/main"/>
      </p:grpSpPr>
      <p:sp>
        <p:nvSpPr>
          <p:cNvPr id="60" name="Google Shape;60;p10">
            <a:extLst xmlns:a="http://schemas.openxmlformats.org/drawingml/2006/main">
              <a:ext uri="{FF2B5EF4-FFF2-40B4-BE49-F238E27FC236}">
                <a16:creationId xmlns:a16="http://schemas.microsoft.com/office/drawing/2014/main" id="{EA26F8E9-B2B4-4F71-B282-16387F35F775}"/>
              </a:ext>
            </a:extLst>
          </p:cNvPr>
          <p:cNvSpPr>
            <a:spLocks xmlns:a="http://schemas.openxmlformats.org/drawingml/2006/main" noGrp="1"/>
          </p:cNvSpPr>
          <p:nvPr/>
        </p:nvSpPr>
        <p:spPr>
          <a:xfrm xmlns:a="http://schemas.openxmlformats.org/drawingml/2006/main">
            <a:off x="609600" y="390525"/>
            <a:ext cx="9048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050" b="1">
                <a:solidFill>
                  <a:srgbClr val="203B34"/>
                </a:solidFill>
                <a:latin typeface="Manrope"/>
                <a:ea typeface="Manrope"/>
                <a:cs typeface="Manrope"/>
              </a:rPr>
              <a:t>TIKA-4408 / LESSONS AND NEXT TIME</a:t>
            </a:r>
            <a:endParaRPr sz="1050" b="1">
              <a:solidFill>
                <a:srgbClr val="203B34"/>
              </a:solidFill>
              <a:latin typeface="Manrope"/>
              <a:ea typeface="Manrope"/>
              <a:cs typeface="Manrope"/>
            </a:endParaRPr>
          </a:p>
        </p:txBody>
      </p:sp>
      <p:sp>
        <p:nvSpPr>
          <p:cNvPr id="61" name="Google Shape;61;p10">
            <a:extLst xmlns:a="http://schemas.openxmlformats.org/drawingml/2006/main">
              <a:ext uri="{FF2B5EF4-FFF2-40B4-BE49-F238E27FC236}">
                <a16:creationId xmlns:a16="http://schemas.microsoft.com/office/drawing/2014/main" id="{477ACC48-F0F9-4C9C-8C1D-2C43549D9CDF}"/>
              </a:ext>
            </a:extLst>
          </p:cNvPr>
          <p:cNvSpPr>
            <a:spLocks xmlns:a="http://schemas.openxmlformats.org/drawingml/2006/main" noGrp="1"/>
          </p:cNvSpPr>
          <p:nvPr/>
        </p:nvSpPr>
        <p:spPr>
          <a:xfrm xmlns:a="http://schemas.openxmlformats.org/drawingml/2006/main">
            <a:off x="10953750" y="390525"/>
            <a:ext cx="6286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52665B"/>
                </a:solidFill>
                <a:latin typeface="Manrope"/>
                <a:ea typeface="Manrope"/>
                <a:cs typeface="Manrope"/>
              </a:rPr>
              <a:t>04</a:t>
            </a:r>
            <a:endParaRPr sz="1000">
              <a:solidFill>
                <a:srgbClr val="52665B"/>
              </a:solidFill>
              <a:latin typeface="Manrope"/>
              <a:ea typeface="Manrope"/>
              <a:cs typeface="Manrope"/>
            </a:endParaRPr>
          </a:p>
        </p:txBody>
      </p:sp>
      <p:sp>
        <p:nvSpPr>
          <p:cNvPr id="62" name="Google Shape;62;p10">
            <a:extLst xmlns:a="http://schemas.openxmlformats.org/drawingml/2006/main">
              <a:ext uri="{FF2B5EF4-FFF2-40B4-BE49-F238E27FC236}">
                <a16:creationId xmlns:a16="http://schemas.microsoft.com/office/drawing/2014/main" id="{EE63C3A9-2F82-4443-B657-8A3980D42F4F}"/>
              </a:ext>
            </a:extLst>
          </p:cNvPr>
          <p:cNvSpPr>
            <a:spLocks xmlns:a="http://schemas.openxmlformats.org/drawingml/2006/main" noGrp="1"/>
          </p:cNvSpPr>
          <p:nvPr>
            <p:ph type="title" idx="0"/>
          </p:nvPr>
        </p:nvSpPr>
        <p:spPr>
          <a:xfrm xmlns:a="http://schemas.openxmlformats.org/drawingml/2006/main">
            <a:off x="609600" y="825500"/>
            <a:ext cx="10972800" cy="1016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203B34"/>
                </a:solidFill>
                <a:latin typeface="Manrope"/>
                <a:ea typeface="Manrope"/>
                <a:cs typeface="Manrope"/>
              </a:rPr>
              <a:t>What I learned and would change</a:t>
            </a:r>
            <a:endParaRPr sz="3200" b="1">
              <a:solidFill>
                <a:srgbClr val="203B34"/>
              </a:solidFill>
              <a:latin typeface="Manrope"/>
              <a:ea typeface="Manrope"/>
              <a:cs typeface="Manrope"/>
            </a:endParaRPr>
          </a:p>
        </p:txBody>
      </p:sp>
      <p:sp>
        <p:nvSpPr>
          <p:cNvPr id="63" name="Google Shape;63;p10">
            <a:extLst xmlns:a="http://schemas.openxmlformats.org/drawingml/2006/main">
              <a:ext uri="{FF2B5EF4-FFF2-40B4-BE49-F238E27FC236}">
                <a16:creationId xmlns:a16="http://schemas.microsoft.com/office/drawing/2014/main" id="{750A9B0D-3985-4205-BE33-CDFBB9743C58}"/>
              </a:ext>
            </a:extLst>
          </p:cNvPr>
          <p:cNvSpPr>
            <a:spLocks xmlns:a="http://schemas.openxmlformats.org/drawingml/2006/main" noGrp="1"/>
          </p:cNvSpPr>
          <p:nvPr/>
        </p:nvSpPr>
        <p:spPr>
          <a:xfrm xmlns:a="http://schemas.openxmlformats.org/drawingml/2006/main">
            <a:off x="5238750" y="6486525"/>
            <a:ext cx="6343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52665B"/>
                </a:solidFill>
                <a:latin typeface="Manrope"/>
                <a:ea typeface="Manrope"/>
                <a:cs typeface="Manrope"/>
              </a:rPr>
              <a:t>Jiajun Li / TIKA-4408</a:t>
            </a:r>
            <a:endParaRPr sz="1000">
              <a:solidFill>
                <a:srgbClr val="52665B"/>
              </a:solidFill>
              <a:latin typeface="Manrope"/>
              <a:ea typeface="Manrope"/>
              <a:cs typeface="Manrope"/>
            </a:endParaRPr>
          </a:p>
        </p:txBody>
      </p:sp>
      <p:sp>
        <p:nvSpPr>
          <p:cNvPr id="64" name="Google Shape;64;p10">
            <a:extLst xmlns:a="http://schemas.openxmlformats.org/drawingml/2006/main">
              <a:ext uri="{FF2B5EF4-FFF2-40B4-BE49-F238E27FC236}">
                <a16:creationId xmlns:a16="http://schemas.microsoft.com/office/drawing/2014/main" id="{5ACE5F7A-0897-4BBE-8A51-582A131F91FD}"/>
              </a:ext>
            </a:extLst>
          </p:cNvPr>
          <p:cNvSpPr>
            <a:spLocks xmlns:a="http://schemas.openxmlformats.org/drawingml/2006/main" noGrp="1"/>
          </p:cNvSpPr>
          <p:nvPr/>
        </p:nvSpPr>
        <p:spPr>
          <a:xfrm xmlns:a="http://schemas.openxmlformats.org/drawingml/2006/main">
            <a:off x="609600" y="20320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A14F37"/>
                </a:solidFill>
                <a:latin typeface="Manrope"/>
                <a:ea typeface="Manrope"/>
                <a:cs typeface="Manrope"/>
              </a:rPr>
              <a:t>Understand rule interactions</a:t>
            </a:r>
            <a:endParaRPr sz="1600" b="1">
              <a:solidFill>
                <a:srgbClr val="A14F37"/>
              </a:solidFill>
              <a:latin typeface="Manrope"/>
              <a:ea typeface="Manrope"/>
              <a:cs typeface="Manrope"/>
            </a:endParaRPr>
          </a:p>
        </p:txBody>
      </p:sp>
      <p:sp>
        <p:nvSpPr>
          <p:cNvPr id="65" name="Google Shape;65;p10">
            <a:extLst xmlns:a="http://schemas.openxmlformats.org/drawingml/2006/main">
              <a:ext uri="{FF2B5EF4-FFF2-40B4-BE49-F238E27FC236}">
                <a16:creationId xmlns:a16="http://schemas.microsoft.com/office/drawing/2014/main" id="{5BBC0063-C1C6-4DB9-A57E-7B608277AED8}"/>
              </a:ext>
            </a:extLst>
          </p:cNvPr>
          <p:cNvSpPr>
            <a:spLocks xmlns:a="http://schemas.openxmlformats.org/drawingml/2006/main" noGrp="1"/>
          </p:cNvSpPr>
          <p:nvPr/>
        </p:nvSpPr>
        <p:spPr>
          <a:xfrm xmlns:a="http://schemas.openxmlformats.org/drawingml/2006/main">
            <a:off x="4572000" y="20066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Trace competing rules and write the expected</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behavior before changing the implementation.</a:t>
            </a:r>
            <a:endParaRPr sz="2000">
              <a:solidFill>
                <a:srgbClr val="203B34"/>
              </a:solidFill>
              <a:latin typeface="Manrope"/>
              <a:ea typeface="Manrope"/>
              <a:cs typeface="Manrope"/>
            </a:endParaRPr>
          </a:p>
        </p:txBody>
      </p:sp>
      <p:sp>
        <p:nvSpPr>
          <p:cNvPr id="66" name="Google Shape;66;p10">
            <a:extLst xmlns:a="http://schemas.openxmlformats.org/drawingml/2006/main">
              <a:ext uri="{FF2B5EF4-FFF2-40B4-BE49-F238E27FC236}">
                <a16:creationId xmlns:a16="http://schemas.microsoft.com/office/drawing/2014/main" id="{A4295220-7EB5-4C0C-8827-955D83C60DF6}"/>
              </a:ext>
            </a:extLst>
          </p:cNvPr>
          <p:cNvSpPr>
            <a:spLocks xmlns:a="http://schemas.openxmlformats.org/drawingml/2006/main" noGrp="1"/>
          </p:cNvSpPr>
          <p:nvPr/>
        </p:nvSpPr>
        <p:spPr>
          <a:xfrm xmlns:a="http://schemas.openxmlformats.org/drawingml/2006/main">
            <a:off x="609600" y="30734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Plan broader coverage earlier</a:t>
            </a:r>
            <a:endParaRPr sz="1600" b="1">
              <a:solidFill>
                <a:srgbClr val="203B34"/>
              </a:solidFill>
              <a:latin typeface="Manrope"/>
              <a:ea typeface="Manrope"/>
              <a:cs typeface="Manrope"/>
            </a:endParaRPr>
          </a:p>
        </p:txBody>
      </p:sp>
      <p:sp>
        <p:nvSpPr>
          <p:cNvPr id="67" name="Google Shape;67;p10">
            <a:extLst xmlns:a="http://schemas.openxmlformats.org/drawingml/2006/main">
              <a:ext uri="{FF2B5EF4-FFF2-40B4-BE49-F238E27FC236}">
                <a16:creationId xmlns:a16="http://schemas.microsoft.com/office/drawing/2014/main" id="{204183BF-EBF4-45A3-903A-53FBCCCC9D5C}"/>
              </a:ext>
            </a:extLst>
          </p:cNvPr>
          <p:cNvSpPr>
            <a:spLocks xmlns:a="http://schemas.openxmlformats.org/drawingml/2006/main" noGrp="1"/>
          </p:cNvSpPr>
          <p:nvPr/>
        </p:nvSpPr>
        <p:spPr>
          <a:xfrm xmlns:a="http://schemas.openxmlformats.org/drawingml/2006/main">
            <a:off x="4572000" y="30480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Build an initial test matrix for Python, Shell,</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filename hints and boundary cases.</a:t>
            </a:r>
            <a:endParaRPr sz="2000">
              <a:solidFill>
                <a:srgbClr val="203B34"/>
              </a:solidFill>
              <a:latin typeface="Manrope"/>
              <a:ea typeface="Manrope"/>
              <a:cs typeface="Manrope"/>
            </a:endParaRPr>
          </a:p>
        </p:txBody>
      </p:sp>
      <p:sp>
        <p:nvSpPr>
          <p:cNvPr id="68" name="Google Shape;68;p10">
            <a:extLst xmlns:a="http://schemas.openxmlformats.org/drawingml/2006/main">
              <a:ext uri="{FF2B5EF4-FFF2-40B4-BE49-F238E27FC236}">
                <a16:creationId xmlns:a16="http://schemas.microsoft.com/office/drawing/2014/main" id="{2BB066E7-47F7-4D71-9954-4EFE8EB7E355}"/>
              </a:ext>
            </a:extLst>
          </p:cNvPr>
          <p:cNvSpPr>
            <a:spLocks xmlns:a="http://schemas.openxmlformats.org/drawingml/2006/main" noGrp="1"/>
          </p:cNvSpPr>
          <p:nvPr/>
        </p:nvSpPr>
        <p:spPr>
          <a:xfrm xmlns:a="http://schemas.openxmlformats.org/drawingml/2006/main">
            <a:off x="609600" y="41148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Preserve useful review checks</a:t>
            </a:r>
            <a:endParaRPr sz="1600" b="1">
              <a:solidFill>
                <a:srgbClr val="203B34"/>
              </a:solidFill>
              <a:latin typeface="Manrope"/>
              <a:ea typeface="Manrope"/>
              <a:cs typeface="Manrope"/>
            </a:endParaRPr>
          </a:p>
        </p:txBody>
      </p:sp>
      <p:sp>
        <p:nvSpPr>
          <p:cNvPr id="69" name="Google Shape;69;p10">
            <a:extLst xmlns:a="http://schemas.openxmlformats.org/drawingml/2006/main">
              <a:ext uri="{FF2B5EF4-FFF2-40B4-BE49-F238E27FC236}">
                <a16:creationId xmlns:a16="http://schemas.microsoft.com/office/drawing/2014/main" id="{A3792373-862B-4D1D-B6FC-3A9A99C58C74}"/>
              </a:ext>
            </a:extLst>
          </p:cNvPr>
          <p:cNvSpPr>
            <a:spLocks xmlns:a="http://schemas.openxmlformats.org/drawingml/2006/main" noGrp="1"/>
          </p:cNvSpPr>
          <p:nvPr/>
        </p:nvSpPr>
        <p:spPr>
          <a:xfrm xmlns:a="http://schemas.openxmlformats.org/drawingml/2006/main">
            <a:off x="4572000" y="40894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Turn probes such as x/bin/env python into</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permanent automated regression tests.</a:t>
            </a:r>
            <a:endParaRPr sz="2000">
              <a:solidFill>
                <a:srgbClr val="203B34"/>
              </a:solidFill>
              <a:latin typeface="Manrope"/>
              <a:ea typeface="Manrope"/>
              <a:cs typeface="Manrope"/>
            </a:endParaRPr>
          </a:p>
        </p:txBody>
      </p:sp>
      <p:sp>
        <p:nvSpPr>
          <p:cNvPr id="70" name="Google Shape;70;p10">
            <a:extLst xmlns:a="http://schemas.openxmlformats.org/drawingml/2006/main">
              <a:ext uri="{FF2B5EF4-FFF2-40B4-BE49-F238E27FC236}">
                <a16:creationId xmlns:a16="http://schemas.microsoft.com/office/drawing/2014/main" id="{A805EEED-0476-4E8A-8D52-AAAF0A5E4AB2}"/>
              </a:ext>
            </a:extLst>
          </p:cNvPr>
          <p:cNvSpPr>
            <a:spLocks xmlns:a="http://schemas.openxmlformats.org/drawingml/2006/main" noGrp="1"/>
          </p:cNvSpPr>
          <p:nvPr/>
        </p:nvSpPr>
        <p:spPr>
          <a:xfrm xmlns:a="http://schemas.openxmlformats.org/drawingml/2006/main">
            <a:off x="609600" y="51562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Keep the useful workflow</a:t>
            </a:r>
            <a:endParaRPr sz="1600" b="1">
              <a:solidFill>
                <a:srgbClr val="203B34"/>
              </a:solidFill>
              <a:latin typeface="Manrope"/>
              <a:ea typeface="Manrope"/>
              <a:cs typeface="Manrope"/>
            </a:endParaRPr>
          </a:p>
        </p:txBody>
      </p:sp>
      <p:sp>
        <p:nvSpPr>
          <p:cNvPr id="71" name="Google Shape;71;p10">
            <a:extLst xmlns:a="http://schemas.openxmlformats.org/drawingml/2006/main">
              <a:ext uri="{FF2B5EF4-FFF2-40B4-BE49-F238E27FC236}">
                <a16:creationId xmlns:a16="http://schemas.microsoft.com/office/drawing/2014/main" id="{AD409504-FF7E-451E-AAEF-D674B707033A}"/>
              </a:ext>
            </a:extLst>
          </p:cNvPr>
          <p:cNvSpPr>
            <a:spLocks xmlns:a="http://schemas.openxmlformats.org/drawingml/2006/main" noGrp="1"/>
          </p:cNvSpPr>
          <p:nvPr/>
        </p:nvSpPr>
        <p:spPr>
          <a:xfrm xmlns:a="http://schemas.openxmlformats.org/drawingml/2006/main">
            <a:off x="4572000" y="51308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Continue reproducing first and comparing the</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same checks before and after a focused fix.</a:t>
            </a:r>
            <a:endParaRPr sz="2000">
              <a:solidFill>
                <a:srgbClr val="203B34"/>
              </a:solidFill>
              <a:latin typeface="Manrope"/>
              <a:ea typeface="Manrope"/>
              <a:cs typeface="Manrope"/>
            </a:endParaRPr>
          </a:p>
        </p:txBody>
      </p:sp>
    </p:spTree>
    <p:extLst>
      <p:ext uri="{BB962C8B-B14F-4D97-AF65-F5344CB8AC3E}">
        <p14:creationId xmlns:p14="http://schemas.microsoft.com/office/powerpoint/2010/main" val="875521473"/>
      </p:ext>
    </p:extLst>
  </p:cSld>
</p:sld>
</file>

<file path=ppt/theme/theme1.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2026-10-25T05:57:09.0950000Z</dcterms:created>
  <dcterms:modified xsi:type="dcterms:W3CDTF">2026-10-25T05:57:09.0950000Z</dcterms:modified>
</coreProperties>
</file>