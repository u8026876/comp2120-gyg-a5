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66a159921e414a" /><Relationship Type="http://schemas.openxmlformats.org/officeDocument/2006/relationships/extended-properties" Target="/docProps/app.xml" Id="Rb076c57b88834e03" /><Relationship Type="http://schemas.openxmlformats.org/officeDocument/2006/relationships/officeDocument" Target="/ppt/presentation.xml" Id="Re163d0cff53e44d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11be91e95b84c79"/>
    <p:sldMasterId xmlns:r="http://schemas.openxmlformats.org/officeDocument/2006/relationships" id="2147483650" r:id="R242b9d041b984376"/>
  </p:sldMasterIdLst>
  <p:notesMasterIdLst>
    <p:notesMasterId xmlns:r="http://schemas.openxmlformats.org/officeDocument/2006/relationships" r:id="R340c8313b2d64d02"/>
  </p:notesMasterIdLst>
  <p:sldIdLst>
    <p:sldId xmlns:r="http://schemas.openxmlformats.org/officeDocument/2006/relationships" id="256" r:id="R7131e6d1ac4c4220"/>
  </p:sldIdLst>
  <p:sldSz cx="12192000" cy="6858000"/>
  <p:notesSz cx="6858000" cy="9144000"/>
  <p:embeddedFontLst>
    <p:embeddedFont>
      <p:font typeface="Manrope"/>
      <p:regular xmlns:r="http://schemas.openxmlformats.org/officeDocument/2006/relationships" r:id="Red0c309578984cf8"/>
      <p:bold xmlns:r="http://schemas.openxmlformats.org/officeDocument/2006/relationships" r:id="R7985d421663943c9"/>
    </p:embeddedFont>
    <p:embeddedFont>
      <p:font typeface="Roboto Mono"/>
      <p:regular xmlns:r="http://schemas.openxmlformats.org/officeDocument/2006/relationships" r:id="R1743c18c8b854401"/>
      <p:bold xmlns:r="http://schemas.openxmlformats.org/officeDocument/2006/relationships" r:id="R39e5f509c9144859"/>
      <p:italic xmlns:r="http://schemas.openxmlformats.org/officeDocument/2006/relationships" r:id="R50bd5d81b23f4dc9"/>
      <p:boldItalic xmlns:r="http://schemas.openxmlformats.org/officeDocument/2006/relationships" r:id="R8ba9596a555a4406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948b5dfd1b4012" /><Relationship Type="http://schemas.openxmlformats.org/officeDocument/2006/relationships/slideMaster" Target="/ppt/slideMasters/slideMaster1.xml" Id="R111be91e95b84c79" /><Relationship Type="http://schemas.openxmlformats.org/officeDocument/2006/relationships/slideMaster" Target="/ppt/slideMasters/slideMaster2.xml" Id="R242b9d041b984376" /><Relationship Type="http://schemas.openxmlformats.org/officeDocument/2006/relationships/notesMaster" Target="/ppt/notesMasters/notesMaster1.xml" Id="R340c8313b2d64d02" /><Relationship Type="http://schemas.openxmlformats.org/officeDocument/2006/relationships/presProps" Target="/ppt/presProps.xml" Id="Rd89f34df32764d48" /><Relationship Type="http://schemas.openxmlformats.org/officeDocument/2006/relationships/tableStyles" Target="/ppt/tableStyles.xml" Id="R05e9bc44cf854d22" /><Relationship Type="http://schemas.openxmlformats.org/officeDocument/2006/relationships/font" Target="/ppt/fonts/font.dat" Id="Red0c309578984cf8" /><Relationship Type="http://schemas.openxmlformats.org/officeDocument/2006/relationships/font" Target="/ppt/fonts/font2.dat" Id="R7985d421663943c9" /><Relationship Type="http://schemas.openxmlformats.org/officeDocument/2006/relationships/font" Target="/ppt/fonts/font3.dat" Id="R1743c18c8b854401" /><Relationship Type="http://schemas.openxmlformats.org/officeDocument/2006/relationships/font" Target="/ppt/fonts/font4.dat" Id="R39e5f509c9144859" /><Relationship Type="http://schemas.openxmlformats.org/officeDocument/2006/relationships/font" Target="/ppt/fonts/font5.dat" Id="R50bd5d81b23f4dc9" /><Relationship Type="http://schemas.openxmlformats.org/officeDocument/2006/relationships/font" Target="/ppt/fonts/font6.dat" Id="R8ba9596a555a4406" /><Relationship Type="http://schemas.openxmlformats.org/officeDocument/2006/relationships/slide" Target="/ppt/slides/slide1.xml" Id="R7131e6d1ac4c42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9284af2af0b74b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OMP2120 cream and teal">
      <a:dk1>
        <a:srgbClr val="172033"/>
      </a:dk1>
      <a:lt1>
        <a:srgbClr val="F7F4EE"/>
      </a:lt1>
      <a:dk2>
        <a:srgbClr val="1F5F61"/>
      </a:dk2>
      <a:lt2>
        <a:srgbClr val="FFFFFF"/>
      </a:lt2>
      <a:accent1>
        <a:srgbClr val="1F5F61"/>
      </a:accent1>
      <a:accent2>
        <a:srgbClr val="C58B2A"/>
      </a:accent2>
      <a:accent3>
        <a:srgbClr val="456A91"/>
      </a:accent3>
      <a:accent4>
        <a:srgbClr val="B36B5E"/>
      </a:accent4>
      <a:accent5>
        <a:srgbClr val="67558A"/>
      </a:accent5>
      <a:accent6>
        <a:srgbClr val="63826C"/>
      </a:accent6>
      <a:hlink>
        <a:srgbClr val="1F5F61"/>
      </a:hlink>
      <a:folHlink>
        <a:srgbClr val="6755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MP2120 cream and te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b0051ebe864ef8" /><Relationship Type="http://schemas.openxmlformats.org/officeDocument/2006/relationships/notesMaster" Target="/ppt/notesMasters/notesMaster1.xml" Id="R62db6a2cf0f843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Final Kyubin handoff: slide 3 of 3, after Q1 project choice and Q2 issue choice. The two earlier TIKA-4431 technical slides are separate backups.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Author and presenter: Kyubin Park.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AI assistance: Codex helped clarify URL fragment semantics, draft the slide and suggested script, and adapt the group template.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Suggested speaking script, approximately 55 seconds: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One challenge was deciding what correct behavior should mean when the input is ambiguous. Take filename.txt hash file2.csv. As a filesystem name, the hash belongs to the name and the final extension is CSV. As a URL reference, the path ends at filename.txt and file2.csv is a fragment. That fragment does not automatically identify another CSV file. TIKA-4431 exposed this boundary: adding a hash to a CSV filename changed detection to plain text, even though the content stayed the same. Simply keeping or removing every hash would mishandle one of these interpretations. We needed a policy for filename-like inputs and explicit URLs, then regression tests that protect both. The lesson was that tests can preserve a decision, but first we have to decide what behavior we intend.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Technical scope: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illustrated name is an explanatory example. The reported reproducer is Lorem-Ipsum#123.csv. The slide compares filename extension hints, not a guarantee of file content or server Content-Type.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bare filename-like string can also be a relative URL reference. An explicit example is https://example.test/filename.txt#file2.csv. The fragment semantics depend on the representation, and may be undefined for that particular text resource.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inspected local patch treats a hash before the last raw dot before a question mark as literal when the parsed input has neither a scheme nor an authority. Explicit URLs retain URI fragment semantics. This is the policy represented by the local patch, not a universal way to infer caller intent.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https://issues.apache.org/jira/browse/TIKA-4431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https://www.rfc-editor.org/rfc/rfc3986#section-3.5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https://www.rfc-editor.org/rfc/rfc3986#section-4.2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Implementation reference: tika-core/src/main/java/org/apache/tika/mime/MimeTypes.java, local TIKA-4431 patch, lines 577-590.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Regression reference: tika-core/src/test/java/org/apache/tika/TikaDetectionTest.java, local TIKA-4431 patch, lines 54-77.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No new build or test run is asserted by this slide. No claim of upstream acceptance or merge is made.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3af1b7be1a4e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c4917b915e44cf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3b4c623457847a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bb7c22dd0fa46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7bcd548daef47dc" /></Relationships>
</file>

<file path=ppt/slideLayouts/slideLayout1.xml><?xml version="1.0" encoding="utf-8"?>
<p:sldLayout xmlns:p="http://schemas.openxmlformats.org/presentationml/2006/main" matchingName="A4 - Title">
  <p:cSld name="A4 -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1C100767-00C6-444B-970A-8E277D00A0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1428750"/>
            <a:ext cx="10477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233BC48A-E610-4DCE-B6DB-9C80D2C6FE2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9600" y="3333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matchingName="A4 - Explanation and visual">
  <p:cSld name="A4 - Explanation and visu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4">
            <a:extLst xmlns:a="http://schemas.openxmlformats.org/drawingml/2006/main">
              <a:ext uri="{FF2B5EF4-FFF2-40B4-BE49-F238E27FC236}">
                <a16:creationId xmlns:a16="http://schemas.microsoft.com/office/drawing/2014/main" id="{CED5DE22-EA14-45E7-99D5-92AFE56D87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971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16" name="Google Shape;16;p4">
            <a:extLst xmlns:a="http://schemas.openxmlformats.org/drawingml/2006/main">
              <a:ext uri="{FF2B5EF4-FFF2-40B4-BE49-F238E27FC236}">
                <a16:creationId xmlns:a16="http://schemas.microsoft.com/office/drawing/2014/main" id="{5608EF53-DD0A-4501-91D4-604A742D54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000250"/>
            <a:ext cx="4476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A172251A-9938-4EB6-9D5E-9F8A88CD7E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581650" y="2000250"/>
            <a:ext cx="6000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matchingName="A4 - Two columns">
  <p:cSld name="A4 - Two 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oogle Shape;19;p5">
            <a:extLst xmlns:a="http://schemas.openxmlformats.org/drawingml/2006/main">
              <a:ext uri="{FF2B5EF4-FFF2-40B4-BE49-F238E27FC236}">
                <a16:creationId xmlns:a16="http://schemas.microsoft.com/office/drawing/2014/main" id="{5B151365-FF02-4958-9BF9-74E9946BA5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971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20" name="Google Shape;20;p5">
            <a:extLst xmlns:a="http://schemas.openxmlformats.org/drawingml/2006/main">
              <a:ext uri="{FF2B5EF4-FFF2-40B4-BE49-F238E27FC236}">
                <a16:creationId xmlns:a16="http://schemas.microsoft.com/office/drawing/2014/main" id="{611B93BC-950A-4ACF-833E-C02B77ED06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000250"/>
            <a:ext cx="5238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2394E3D4-6B65-4954-854A-7CB3C0729EE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343650" y="2000250"/>
            <a:ext cx="5238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matchingName="A4 - Title and content">
  <p:cSld name="A4 - 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6">
            <a:extLst xmlns:a="http://schemas.openxmlformats.org/drawingml/2006/main">
              <a:ext uri="{FF2B5EF4-FFF2-40B4-BE49-F238E27FC236}">
                <a16:creationId xmlns:a16="http://schemas.microsoft.com/office/drawing/2014/main" id="{B78F864E-AFC8-4EFC-8409-B2D60924BA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971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24" name="Google Shape;24;p6">
            <a:extLst xmlns:a="http://schemas.openxmlformats.org/drawingml/2006/main">
              <a:ext uri="{FF2B5EF4-FFF2-40B4-BE49-F238E27FC236}">
                <a16:creationId xmlns:a16="http://schemas.microsoft.com/office/drawing/2014/main" id="{F51EBEE0-DF59-4EF5-A9CA-4122C6C1E6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952625"/>
            <a:ext cx="109728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matchingName="A4 - Large visual">
  <p:cSld name="A4 - Large visu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7">
            <a:extLst xmlns:a="http://schemas.openxmlformats.org/drawingml/2006/main">
              <a:ext uri="{FF2B5EF4-FFF2-40B4-BE49-F238E27FC236}">
                <a16:creationId xmlns:a16="http://schemas.microsoft.com/office/drawing/2014/main" id="{81EEA9D0-67EF-4645-B8B1-95B99D8DC9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971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27" name="Google Shape;27;p7">
            <a:extLst xmlns:a="http://schemas.openxmlformats.org/drawingml/2006/main">
              <a:ext uri="{FF2B5EF4-FFF2-40B4-BE49-F238E27FC236}">
                <a16:creationId xmlns:a16="http://schemas.microsoft.com/office/drawing/2014/main" id="{E255E37C-2C47-47C7-8FFF-033A4D99CC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000250"/>
            <a:ext cx="109728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c0c540a1324393" /><Relationship Type="http://schemas.openxmlformats.org/officeDocument/2006/relationships/slideLayout" Target="/ppt/slideLayouts/slideLayout1.xml" Id="Rdd07a395e72d4bf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7986d078b18455f" /><Relationship Type="http://schemas.openxmlformats.org/officeDocument/2006/relationships/slideLayout" Target="/ppt/slideLayouts/slideLayout2.xml" Id="Rb982045a63054d98" /><Relationship Type="http://schemas.openxmlformats.org/officeDocument/2006/relationships/slideLayout" Target="/ppt/slideLayouts/slideLayout3.xml" Id="R9620f5cd9af24f2f" /><Relationship Type="http://schemas.openxmlformats.org/officeDocument/2006/relationships/slideLayout" Target="/ppt/slideLayouts/slideLayout4.xml" Id="R58fa4eccce5b4e16" /><Relationship Type="http://schemas.openxmlformats.org/officeDocument/2006/relationships/slideLayout" Target="/ppt/slideLayouts/slideLayout5.xml" Id="Rba9ae69a2cad4d2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07a395e72d4bf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b982045a63054d98"/>
    <p:sldLayoutId xmlns:r="http://schemas.openxmlformats.org/officeDocument/2006/relationships" id="2147483652" r:id="R9620f5cd9af24f2f"/>
    <p:sldLayoutId xmlns:r="http://schemas.openxmlformats.org/officeDocument/2006/relationships" id="2147483653" r:id="R58fa4eccce5b4e16"/>
    <p:sldLayoutId xmlns:r="http://schemas.openxmlformats.org/officeDocument/2006/relationships" id="2147483654" r:id="Rba9ae69a2cad4d25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OMP2120 cream and teal">
      <a:dk1>
        <a:srgbClr val="172033"/>
      </a:dk1>
      <a:lt1>
        <a:srgbClr val="F7F4EE"/>
      </a:lt1>
      <a:dk2>
        <a:srgbClr val="1F5F61"/>
      </a:dk2>
      <a:lt2>
        <a:srgbClr val="FFFFFF"/>
      </a:lt2>
      <a:accent1>
        <a:srgbClr val="1F5F61"/>
      </a:accent1>
      <a:accent2>
        <a:srgbClr val="C58B2A"/>
      </a:accent2>
      <a:accent3>
        <a:srgbClr val="456A91"/>
      </a:accent3>
      <a:accent4>
        <a:srgbClr val="B36B5E"/>
      </a:accent4>
      <a:accent5>
        <a:srgbClr val="67558A"/>
      </a:accent5>
      <a:accent6>
        <a:srgbClr val="63826C"/>
      </a:accent6>
      <a:hlink>
        <a:srgbClr val="1F5F61"/>
      </a:hlink>
      <a:folHlink>
        <a:srgbClr val="6755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MP2120 cream and te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OMP2120 cream and teal">
      <a:dk1>
        <a:srgbClr val="172033"/>
      </a:dk1>
      <a:lt1>
        <a:srgbClr val="F7F4EE"/>
      </a:lt1>
      <a:dk2>
        <a:srgbClr val="1F5F61"/>
      </a:dk2>
      <a:lt2>
        <a:srgbClr val="FFFFFF"/>
      </a:lt2>
      <a:accent1>
        <a:srgbClr val="1F5F61"/>
      </a:accent1>
      <a:accent2>
        <a:srgbClr val="C58B2A"/>
      </a:accent2>
      <a:accent3>
        <a:srgbClr val="456A91"/>
      </a:accent3>
      <a:accent4>
        <a:srgbClr val="B36B5E"/>
      </a:accent4>
      <a:accent5>
        <a:srgbClr val="67558A"/>
      </a:accent5>
      <a:accent6>
        <a:srgbClr val="63826C"/>
      </a:accent6>
      <a:hlink>
        <a:srgbClr val="1F5F61"/>
      </a:hlink>
      <a:folHlink>
        <a:srgbClr val="6755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MP2120 cream and te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d640e4bbe884e97" /><Relationship Type="http://schemas.openxmlformats.org/officeDocument/2006/relationships/notesSlide" Target="/ppt/notesSlides/notesSlide1.xml" Id="R8f5264579e8c48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3B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9">
            <a:extLst xmlns:a="http://schemas.openxmlformats.org/drawingml/2006/main">
              <a:ext uri="{FF2B5EF4-FFF2-40B4-BE49-F238E27FC236}">
                <a16:creationId xmlns:a16="http://schemas.microsoft.com/office/drawing/2014/main" id="{00800A4B-158C-48C2-9DBB-2E36FB51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35400"/>
            <a:ext cx="12192000" cy="302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9">
            <a:extLst xmlns:a="http://schemas.openxmlformats.org/drawingml/2006/main">
              <a:ext uri="{FF2B5EF4-FFF2-40B4-BE49-F238E27FC236}">
                <a16:creationId xmlns:a16="http://schemas.microsoft.com/office/drawing/2014/main" id="{423D4A9B-5460-41B8-A391-4F29A36E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200"/>
            <a:ext cx="9651900" cy="27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B8C7AB"/>
                </a:solidFill>
                <a:latin typeface="Roboto Mono"/>
                <a:ea typeface="Roboto Mono"/>
                <a:cs typeface="Roboto Mono"/>
              </a:rPr>
              <a:t>PROJECT CHALLENGES / TIKA-4431</a:t>
            </a:r>
            <a:endParaRPr sz="1100">
              <a:solidFill>
                <a:srgbClr val="B8C7AB"/>
              </a:solidFill>
              <a:latin typeface="Roboto Mono"/>
              <a:ea typeface="Roboto Mono"/>
              <a:cs typeface="Roboto Mono"/>
            </a:endParaRPr>
          </a:p>
        </p:txBody>
      </p:sp>
      <p:sp>
        <p:nvSpPr>
          <p:cNvPr id="45" name="Google Shape;45;p9">
            <a:extLst xmlns:a="http://schemas.openxmlformats.org/drawingml/2006/main">
              <a:ext uri="{FF2B5EF4-FFF2-40B4-BE49-F238E27FC236}">
                <a16:creationId xmlns:a16="http://schemas.microsoft.com/office/drawing/2014/main" id="{EFD97C2C-F810-4C31-BA73-E9CA2BA53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952500"/>
            <a:ext cx="10972800" cy="9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500" b="1">
                <a:solidFill>
                  <a:srgbClr val="F0E8D9"/>
                </a:solidFill>
                <a:latin typeface="Manrope"/>
                <a:ea typeface="Manrope"/>
                <a:cs typeface="Manrope"/>
              </a:rPr>
              <a:t>Defining correct behavior</a:t>
            </a:r>
            <a:endParaRPr sz="3500" b="1">
              <a:solidFill>
                <a:srgbClr val="F0E8D9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46" name="Google Shape;46;p9">
            <a:extLst xmlns:a="http://schemas.openxmlformats.org/drawingml/2006/main">
              <a:ext uri="{FF2B5EF4-FFF2-40B4-BE49-F238E27FC236}">
                <a16:creationId xmlns:a16="http://schemas.microsoft.com/office/drawing/2014/main" id="{759DC111-B1E6-4874-A349-437F901E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78600"/>
            <a:ext cx="3962400" cy="20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Kyubin Park</a:t>
            </a:r>
            <a:endParaRPr sz="900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47" name="Google Shape;47;p9">
            <a:extLst xmlns:a="http://schemas.openxmlformats.org/drawingml/2006/main">
              <a:ext uri="{FF2B5EF4-FFF2-40B4-BE49-F238E27FC236}">
                <a16:creationId xmlns:a16="http://schemas.microsoft.com/office/drawing/2014/main" id="{673DA78F-E67A-4FA0-8580-B0A11254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5079900" cy="33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A14F37"/>
                </a:solidFill>
                <a:latin typeface="Manrope"/>
                <a:ea typeface="Manrope"/>
                <a:cs typeface="Manrope"/>
              </a:rPr>
              <a:t>LITERAL FILENAME</a:t>
            </a:r>
            <a:endParaRPr sz="1200" b="1">
              <a:solidFill>
                <a:srgbClr val="A14F37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48" name="Google Shape;48;p9">
            <a:extLst xmlns:a="http://schemas.openxmlformats.org/drawingml/2006/main">
              <a:ext uri="{FF2B5EF4-FFF2-40B4-BE49-F238E27FC236}">
                <a16:creationId xmlns:a16="http://schemas.microsoft.com/office/drawing/2014/main" id="{0582C36B-24EA-4464-99D1-10889F19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4152900"/>
            <a:ext cx="4978500" cy="33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URL REFERENCE</a:t>
            </a:r>
            <a:endParaRPr sz="1200" b="1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49" name="Google Shape;49;p9">
            <a:extLst xmlns:a="http://schemas.openxmlformats.org/drawingml/2006/main">
              <a:ext uri="{FF2B5EF4-FFF2-40B4-BE49-F238E27FC236}">
                <a16:creationId xmlns:a16="http://schemas.microsoft.com/office/drawing/2014/main" id="{BB19D36D-E11D-46EE-A5D5-FD8FC3CC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972800" cy="105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800">
                <a:solidFill>
                  <a:srgbClr val="F0E8D9"/>
                </a:solidFill>
                <a:latin typeface="Roboto Mono"/>
                <a:ea typeface="Roboto Mono"/>
                <a:cs typeface="Roboto Mono"/>
              </a:rPr>
              <a:t>filename.txt</a:t>
            </a:r>
            <a:r>
              <a:rPr sz="4800">
                <a:solidFill>
                  <a:srgbClr val="D99575"/>
                </a:solidFill>
                <a:latin typeface="Roboto Mono"/>
                <a:ea typeface="Roboto Mono"/>
                <a:cs typeface="Roboto Mono"/>
              </a:rPr>
              <a:t>#</a:t>
            </a:r>
            <a:r>
              <a:rPr sz="4800">
                <a:solidFill>
                  <a:srgbClr val="F0E8D9"/>
                </a:solidFill>
                <a:latin typeface="Roboto Mono"/>
                <a:ea typeface="Roboto Mono"/>
                <a:cs typeface="Roboto Mono"/>
              </a:rPr>
              <a:t>file2.csv</a:t>
            </a:r>
            <a:endParaRPr sz="4800">
              <a:solidFill>
                <a:srgbClr val="F0E8D9"/>
              </a:solidFill>
              <a:latin typeface="Roboto Mono"/>
              <a:ea typeface="Roboto Mono"/>
              <a:cs typeface="Roboto Mono"/>
            </a:endParaRPr>
          </a:p>
        </p:txBody>
      </p:sp>
      <p:sp>
        <p:nvSpPr>
          <p:cNvPr id="50" name="Google Shape;50;p9">
            <a:extLst xmlns:a="http://schemas.openxmlformats.org/drawingml/2006/main">
              <a:ext uri="{FF2B5EF4-FFF2-40B4-BE49-F238E27FC236}">
                <a16:creationId xmlns:a16="http://schemas.microsoft.com/office/drawing/2014/main" id="{C7E6C191-CF51-44BE-B418-AEAF4A48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360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rPr>
              <a:t>filename.txt#file2.csv</a:t>
            </a:r>
            <a:endParaRPr sz="1900">
              <a:solidFill>
                <a:srgbClr val="203B34"/>
              </a:solidFill>
              <a:latin typeface="Roboto Mono"/>
              <a:ea typeface="Roboto Mono"/>
              <a:cs typeface="Roboto Mono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rPr>
              <a:t># belongs to the name</a:t>
            </a:r>
            <a:endParaRPr sz="1900">
              <a:solidFill>
                <a:srgbClr val="203B34"/>
              </a:solidFill>
              <a:latin typeface="Roboto Mono"/>
              <a:ea typeface="Roboto Mono"/>
              <a:cs typeface="Roboto Mono"/>
            </a:endParaRPr>
          </a:p>
        </p:txBody>
      </p:sp>
      <p:sp>
        <p:nvSpPr>
          <p:cNvPr id="51" name="Google Shape;51;p9">
            <a:extLst xmlns:a="http://schemas.openxmlformats.org/drawingml/2006/main">
              <a:ext uri="{FF2B5EF4-FFF2-40B4-BE49-F238E27FC236}">
                <a16:creationId xmlns:a16="http://schemas.microsoft.com/office/drawing/2014/main" id="{37CCD4EE-621A-4267-B7CB-11929F01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4673600"/>
            <a:ext cx="497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t">
            <a:noAutofit/>
          </a:bodyPr>
          <a:lstStyle xmlns:a="http://schemas.openxmlformats.org/drawingml/2006/main">
            <a:defPPr>
              <a:def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defRPr>
            </a:defPPr>
            <a:lvl1pPr>
              <a:def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defRPr>
            </a:lvl1pPr>
            <a:lvl2pPr>
              <a:def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defRPr>
            </a:lvl2pPr>
            <a:lvl3pPr>
              <a:def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defRPr>
            </a:lvl3pPr>
            <a:lvl4pPr>
              <a:def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defRPr>
            </a:lvl4pPr>
            <a:lvl5pPr>
              <a:def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defRPr>
            </a:lvl5pPr>
            <a:lvl6pPr>
              <a:def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defRPr>
            </a:lvl6pPr>
            <a:lvl7pPr>
              <a:def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defRPr>
            </a:lvl7pPr>
            <a:lvl8pPr>
              <a:def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defRPr>
            </a:lvl8pPr>
            <a:lvl9pPr>
              <a:def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defRPr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defRPr>
            </a:pPr>
            <a:r>
              <a: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rPr>
              <a:t>path: filename.txt</a:t>
            </a:r>
            <a:endParaRPr sz="2200">
              <a:solidFill>
                <a:srgbClr val="203B34"/>
              </a:solidFill>
              <a:latin typeface="Roboto Mono"/>
              <a:ea typeface="Roboto Mono"/>
              <a:cs typeface="Roboto Mono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defRPr>
            </a:pPr>
            <a:r>
              <a:rPr sz="1900">
                <a:solidFill>
                  <a:srgbClr val="203B34"/>
                </a:solidFill>
                <a:latin typeface="Roboto Mono"/>
                <a:ea typeface="Roboto Mono"/>
                <a:cs typeface="Roboto Mono"/>
              </a:rPr>
              <a:t>fragment: file2.csv</a:t>
            </a:r>
            <a:endParaRPr sz="2200">
              <a:solidFill>
                <a:srgbClr val="203B34"/>
              </a:solidFill>
              <a:latin typeface="Roboto Mono"/>
              <a:ea typeface="Roboto Mono"/>
              <a:cs typeface="Roboto Mono"/>
            </a:endParaRPr>
          </a:p>
        </p:txBody>
      </p:sp>
      <p:sp>
        <p:nvSpPr>
          <p:cNvPr id="52" name="Google Shape;52;p9">
            <a:extLst xmlns:a="http://schemas.openxmlformats.org/drawingml/2006/main">
              <a:ext uri="{FF2B5EF4-FFF2-40B4-BE49-F238E27FC236}">
                <a16:creationId xmlns:a16="http://schemas.microsoft.com/office/drawing/2014/main" id="{57C00220-F9E9-4F9A-98D0-B6D74940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5562600"/>
            <a:ext cx="4978500" cy="55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203B34"/>
                </a:solidFill>
                <a:latin typeface="Roboto Mono"/>
                <a:ea typeface="Roboto Mono"/>
                <a:cs typeface="Roboto Mono"/>
              </a:rPr>
              <a:t>TXT extension</a:t>
            </a:r>
            <a:endParaRPr sz="2600" b="1">
              <a:solidFill>
                <a:srgbClr val="203B34"/>
              </a:solidFill>
              <a:latin typeface="Roboto Mono"/>
              <a:ea typeface="Roboto Mono"/>
              <a:cs typeface="Roboto Mono"/>
            </a:endParaRPr>
          </a:p>
        </p:txBody>
      </p:sp>
      <p:sp>
        <p:nvSpPr>
          <p:cNvPr id="53" name="Google Shape;53;p9">
            <a:extLst xmlns:a="http://schemas.openxmlformats.org/drawingml/2006/main">
              <a:ext uri="{FF2B5EF4-FFF2-40B4-BE49-F238E27FC236}">
                <a16:creationId xmlns:a16="http://schemas.microsoft.com/office/drawing/2014/main" id="{4F7EE224-A1CC-47FD-92C2-FB6E8754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5334000" cy="55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A14F37"/>
                </a:solidFill>
                <a:latin typeface="Roboto Mono"/>
                <a:ea typeface="Roboto Mono"/>
                <a:cs typeface="Roboto Mono"/>
              </a:rPr>
              <a:t>CSV extension</a:t>
            </a:r>
            <a:endParaRPr sz="2600" b="1">
              <a:solidFill>
                <a:srgbClr val="A14F37"/>
              </a:solidFill>
              <a:latin typeface="Roboto Mono"/>
              <a:ea typeface="Roboto Mono"/>
              <a:cs typeface="Roboto Mono"/>
            </a:endParaRPr>
          </a:p>
        </p:txBody>
      </p:sp>
      <p:sp>
        <p:nvSpPr>
          <p:cNvPr id="54" name="Google Shape;54;p9">
            <a:extLst xmlns:a="http://schemas.openxmlformats.org/drawingml/2006/main">
              <a:ext uri="{FF2B5EF4-FFF2-40B4-BE49-F238E27FC236}">
                <a16:creationId xmlns:a16="http://schemas.microsoft.com/office/drawing/2014/main" id="{CEF19A96-4FA8-438B-AC56-C8E3718E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7600"/>
            <a:ext cx="10972800" cy="35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b="1"/>
            </a:defPPr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  <a:lvl6pPr>
              <a:defRPr b="1"/>
            </a:lvl6pPr>
            <a:lvl7pPr>
              <a:defRPr b="1"/>
            </a:lvl7pPr>
            <a:lvl8pPr>
              <a:defRPr b="1"/>
            </a:lvl8pPr>
            <a:lvl9pPr>
              <a:defRPr b="1"/>
            </a:lvl9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b="1"/>
            </a:pPr>
            <a:r>
              <a:rPr sz="1250" b="1">
                <a:solidFill>
                  <a:srgbClr val="203B34"/>
                </a:solidFill>
                <a:latin typeface="Manrope"/>
                <a:ea typeface="Manrope"/>
                <a:cs typeface="Manrope"/>
              </a:rPr>
              <a:t>We needed a policy for ambiguous input, then tests for both interpretations.</a:t>
            </a:r>
            <a:endParaRPr sz="1250">
              <a:solidFill>
                <a:srgbClr val="203B34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2" name="final-handoff-slide-number">
            <a:extLst xmlns:a="http://schemas.openxmlformats.org/drawingml/2006/main">
              <a:ext uri="{FF2B5EF4-FFF2-40B4-BE49-F238E27FC236}">
                <a16:creationId xmlns:a16="http://schemas.microsoft.com/office/drawing/2014/main" id="{5289803D-4E40-4670-BBC8-CF77B95C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168" y="330232"/>
            <a:ext cx="711327" cy="279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00">
                <a:solidFill>
                  <a:srgbClr val="B8C7AB"/>
                </a:solidFill>
                <a:latin typeface="Roboto Mono"/>
                <a:ea typeface="Roboto Mono"/>
                <a:cs typeface="Roboto Mono"/>
              </a:defRPr>
            </a:defPPr>
            <a:lvl1pPr algn="r">
              <a:defRPr sz="1100">
                <a:solidFill>
                  <a:srgbClr val="B8C7AB"/>
                </a:solidFill>
                <a:latin typeface="Roboto Mono"/>
                <a:ea typeface="Roboto Mono"/>
                <a:cs typeface="Roboto Mono"/>
              </a:defRPr>
            </a:lvl1pPr>
            <a:lvl2pPr algn="r">
              <a:defRPr sz="1100">
                <a:solidFill>
                  <a:srgbClr val="B8C7AB"/>
                </a:solidFill>
                <a:latin typeface="Roboto Mono"/>
                <a:ea typeface="Roboto Mono"/>
                <a:cs typeface="Roboto Mono"/>
              </a:defRPr>
            </a:lvl2pPr>
            <a:lvl3pPr algn="r">
              <a:defRPr sz="1100">
                <a:solidFill>
                  <a:srgbClr val="B8C7AB"/>
                </a:solidFill>
                <a:latin typeface="Roboto Mono"/>
                <a:ea typeface="Roboto Mono"/>
                <a:cs typeface="Roboto Mono"/>
              </a:defRPr>
            </a:lvl3pPr>
            <a:lvl4pPr algn="r">
              <a:defRPr sz="1100">
                <a:solidFill>
                  <a:srgbClr val="B8C7AB"/>
                </a:solidFill>
                <a:latin typeface="Roboto Mono"/>
                <a:ea typeface="Roboto Mono"/>
                <a:cs typeface="Roboto Mono"/>
              </a:defRPr>
            </a:lvl4pPr>
            <a:lvl5pPr algn="r">
              <a:defRPr sz="1100">
                <a:solidFill>
                  <a:srgbClr val="B8C7AB"/>
                </a:solidFill>
                <a:latin typeface="Roboto Mono"/>
                <a:ea typeface="Roboto Mono"/>
                <a:cs typeface="Roboto Mono"/>
              </a:defRPr>
            </a:lvl5pPr>
            <a:lvl6pPr algn="r">
              <a:defRPr sz="1100">
                <a:solidFill>
                  <a:srgbClr val="B8C7AB"/>
                </a:solidFill>
                <a:latin typeface="Roboto Mono"/>
                <a:ea typeface="Roboto Mono"/>
                <a:cs typeface="Roboto Mono"/>
              </a:defRPr>
            </a:lvl6pPr>
            <a:lvl7pPr algn="r">
              <a:defRPr sz="1100">
                <a:solidFill>
                  <a:srgbClr val="B8C7AB"/>
                </a:solidFill>
                <a:latin typeface="Roboto Mono"/>
                <a:ea typeface="Roboto Mono"/>
                <a:cs typeface="Roboto Mono"/>
              </a:defRPr>
            </a:lvl7pPr>
            <a:lvl8pPr algn="r">
              <a:defRPr sz="1100">
                <a:solidFill>
                  <a:srgbClr val="B8C7AB"/>
                </a:solidFill>
                <a:latin typeface="Roboto Mono"/>
                <a:ea typeface="Roboto Mono"/>
                <a:cs typeface="Roboto Mono"/>
              </a:defRPr>
            </a:lvl8pPr>
            <a:lvl9pPr algn="r">
              <a:defRPr sz="1100">
                <a:solidFill>
                  <a:srgbClr val="B8C7AB"/>
                </a:solidFill>
                <a:latin typeface="Roboto Mono"/>
                <a:ea typeface="Roboto Mono"/>
                <a:cs typeface="Roboto Mono"/>
              </a:defRPr>
            </a:lvl9pPr>
          </a:lstStyle>
          <a:p xmlns:a="http://schemas.openxmlformats.org/drawingml/2006/main">
            <a:pPr algn="r">
              <a:defRPr sz="1100">
                <a:solidFill>
                  <a:srgbClr val="B8C7AB"/>
                </a:solidFill>
                <a:latin typeface="Roboto Mono"/>
                <a:ea typeface="Roboto Mono"/>
                <a:cs typeface="Roboto Mono"/>
              </a:defRPr>
            </a:pPr>
            <a:r>
              <a:rPr sz="1100">
                <a:solidFill>
                  <a:srgbClr val="B8C7AB"/>
                </a:solidFill>
                <a:latin typeface="Roboto Mono"/>
                <a:ea typeface="Roboto Mono"/>
                <a:cs typeface="Roboto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43491825"/>
      </p:ext>
    </p:extLst>
  </p:cSld>
</p:sld>
</file>

<file path=ppt/theme/theme1.xml><?xml version="1.0" encoding="utf-8"?>
<a:theme xmlns:a="http://schemas.openxmlformats.org/drawingml/2006/main" name="ChatGPT">
  <a:themeElements>
    <a:clrScheme name="COMP2120 cream and teal">
      <a:dk1>
        <a:srgbClr val="172033"/>
      </a:dk1>
      <a:lt1>
        <a:srgbClr val="F7F4EE"/>
      </a:lt1>
      <a:dk2>
        <a:srgbClr val="1F5F61"/>
      </a:dk2>
      <a:lt2>
        <a:srgbClr val="FFFFFF"/>
      </a:lt2>
      <a:accent1>
        <a:srgbClr val="1F5F61"/>
      </a:accent1>
      <a:accent2>
        <a:srgbClr val="C58B2A"/>
      </a:accent2>
      <a:accent3>
        <a:srgbClr val="456A91"/>
      </a:accent3>
      <a:accent4>
        <a:srgbClr val="B36B5E"/>
      </a:accent4>
      <a:accent5>
        <a:srgbClr val="67558A"/>
      </a:accent5>
      <a:accent6>
        <a:srgbClr val="63826C"/>
      </a:accent6>
      <a:hlink>
        <a:srgbClr val="1F5F61"/>
      </a:hlink>
      <a:folHlink>
        <a:srgbClr val="6755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MP2120 cream and te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2026-10-25T10:14:59.0650000Z</dcterms:created>
  <dcterms:modified xsi:type="dcterms:W3CDTF">2026-10-25T10:14:59.0650000Z</dcterms:modified>
</coreProperties>
</file>