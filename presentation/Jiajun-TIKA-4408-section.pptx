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7c6124338a4b8f" /><Relationship Type="http://schemas.openxmlformats.org/officeDocument/2006/relationships/extended-properties" Target="/docProps/app.xml" Id="R494eab5a7b3e4ed3" /><Relationship Type="http://schemas.openxmlformats.org/officeDocument/2006/relationships/officeDocument" Target="/ppt/presentation.xml" Id="Raf29c614ab50421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49851b5c380416f"/>
    <p:sldMasterId xmlns:r="http://schemas.openxmlformats.org/officeDocument/2006/relationships" id="2147483650" r:id="R05265bdbafa84269"/>
  </p:sldMasterIdLst>
  <p:notesMasterIdLst>
    <p:notesMasterId xmlns:r="http://schemas.openxmlformats.org/officeDocument/2006/relationships" r:id="Rcfb62667cd864ef6"/>
  </p:notesMasterIdLst>
  <p:sldIdLst>
    <p:sldId xmlns:r="http://schemas.openxmlformats.org/officeDocument/2006/relationships" id="256" r:id="R9db96786411a4e3d"/>
    <p:sldId xmlns:r="http://schemas.openxmlformats.org/officeDocument/2006/relationships" id="257" r:id="R67058dd9418a455a"/>
    <p:sldId xmlns:r="http://schemas.openxmlformats.org/officeDocument/2006/relationships" id="258" r:id="R25da52b2ca1347de"/>
    <p:sldId xmlns:r="http://schemas.openxmlformats.org/officeDocument/2006/relationships" id="259" r:id="R0b690752bc564561"/>
  </p:sldIdLst>
  <p:sldSz cx="12192000" cy="6858000"/>
  <p:notesSz cx="6858000" cy="9144000"/>
  <p:embeddedFontLst>
    <p:embeddedFont>
      <p:font typeface="Manrope"/>
      <p:regular xmlns:r="http://schemas.openxmlformats.org/officeDocument/2006/relationships" r:id="Rf798f33f4b054dbf"/>
      <p:bold xmlns:r="http://schemas.openxmlformats.org/officeDocument/2006/relationships" r:id="Re4a8b335cf2540b8"/>
    </p:embeddedFont>
    <p:embeddedFont>
      <p:font typeface="Roboto Mono"/>
      <p:regular xmlns:r="http://schemas.openxmlformats.org/officeDocument/2006/relationships" r:id="R68f84b6bca7a446b"/>
      <p:bold xmlns:r="http://schemas.openxmlformats.org/officeDocument/2006/relationships" r:id="Rb04f4d52a10445a1"/>
      <p:italic xmlns:r="http://schemas.openxmlformats.org/officeDocument/2006/relationships" r:id="Rb2845851964c4ce0"/>
      <p:boldItalic xmlns:r="http://schemas.openxmlformats.org/officeDocument/2006/relationships" r:id="R664e02aff8614d0c"/>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9acaeb214b44da" /><Relationship Type="http://schemas.openxmlformats.org/officeDocument/2006/relationships/slideMaster" Target="/ppt/slideMasters/slideMaster1.xml" Id="Rd49851b5c380416f" /><Relationship Type="http://schemas.openxmlformats.org/officeDocument/2006/relationships/slideMaster" Target="/ppt/slideMasters/slideMaster2.xml" Id="R05265bdbafa84269" /><Relationship Type="http://schemas.openxmlformats.org/officeDocument/2006/relationships/notesMaster" Target="/ppt/notesMasters/notesMaster1.xml" Id="Rcfb62667cd864ef6" /><Relationship Type="http://schemas.openxmlformats.org/officeDocument/2006/relationships/presProps" Target="/ppt/presProps.xml" Id="Re66dc00a3db64534" /><Relationship Type="http://schemas.openxmlformats.org/officeDocument/2006/relationships/tableStyles" Target="/ppt/tableStyles.xml" Id="R7c2f79e626f349fa" /><Relationship Type="http://schemas.openxmlformats.org/officeDocument/2006/relationships/font" Target="/ppt/fonts/font.dat" Id="Rf798f33f4b054dbf" /><Relationship Type="http://schemas.openxmlformats.org/officeDocument/2006/relationships/font" Target="/ppt/fonts/font2.dat" Id="Re4a8b335cf2540b8" /><Relationship Type="http://schemas.openxmlformats.org/officeDocument/2006/relationships/font" Target="/ppt/fonts/font3.dat" Id="R68f84b6bca7a446b" /><Relationship Type="http://schemas.openxmlformats.org/officeDocument/2006/relationships/font" Target="/ppt/fonts/font4.dat" Id="Rb04f4d52a10445a1" /><Relationship Type="http://schemas.openxmlformats.org/officeDocument/2006/relationships/font" Target="/ppt/fonts/font5.dat" Id="Rb2845851964c4ce0" /><Relationship Type="http://schemas.openxmlformats.org/officeDocument/2006/relationships/font" Target="/ppt/fonts/font6.dat" Id="R664e02aff8614d0c" /><Relationship Type="http://schemas.openxmlformats.org/officeDocument/2006/relationships/slide" Target="/ppt/slides/slide1.xml" Id="R9db96786411a4e3d" /><Relationship Type="http://schemas.openxmlformats.org/officeDocument/2006/relationships/slide" Target="/ppt/slides/slide2.xml" Id="R67058dd9418a455a" /><Relationship Type="http://schemas.openxmlformats.org/officeDocument/2006/relationships/slide" Target="/ppt/slides/slide3.xml" Id="R25da52b2ca1347de" /><Relationship Type="http://schemas.openxmlformats.org/officeDocument/2006/relationships/slide" Target="/ppt/slides/slide4.xml" Id="R0b690752bc5645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eac41bd9318046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8b404776b944bc" /><Relationship Type="http://schemas.openxmlformats.org/officeDocument/2006/relationships/notesMaster" Target="/ppt/notesMasters/notesMaster1.xml" Id="R52ba0cea35c547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354e1aa8d94005" /><Relationship Type="http://schemas.openxmlformats.org/officeDocument/2006/relationships/notesMaster" Target="/ppt/notesMasters/notesMaster1.xml" Id="R818e1b78b2ed4e10"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d10dfd074641df" /><Relationship Type="http://schemas.openxmlformats.org/officeDocument/2006/relationships/notesMaster" Target="/ppt/notesMasters/notesMaster1.xml" Id="Rd90ca9dd7db248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8425c957b2904c9c" /><Relationship Type="http://schemas.openxmlformats.org/officeDocument/2006/relationships/notesMaster" Target="/ppt/notesMasters/notesMaster1.xml" Id="R95ae7f0392bb44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first challenge was understanding why Tika identified this Python script as Shell. A shebang is the first line that names the interpreter. The old Python rule searched for slash bin slash env python at offset one. Offset means the starting position, counted from zero. In this input, that substring actually starts at offset six, so the Python rule missed it and a Shell rule matched instead. The narrowed fix checks the complete no-space env python3 prefix at the start of the file. Prefix matching also covers python3.11. Understanding the existing rules made it possible to define this limited scope clearly.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先说明现象：Python 首行却识别成 Shell。offset 是从 0 开始数的位置。原规则检查位置 1，但 /bin/env python 实际从位置 6 开始，所以 Python 规则没命中。当前修复只从文件开头匹配无空格的 #!/usr/bin/env python3 前缀，因此也匹配 python3.11。单空格、多空格、Tab 和 env python 不属于本次修复范围。这是原始 issue 的部分修复。</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Current scope confirmed 25 October 2026: one literal #!/usr/bin/env python3 prefix at offset 0. Existing direct-path Python rules remain unchanged. Bare env python, whitespace after #!, and env options such as env -S are outside this patch; the original ticket contains additional cases that remain uncovered.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https://github.com/u8026876/comp2120-gyg-a5/commit/4115d9325295bf4a6a26ba8a1a05f5969ec953f2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narrowed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A successful result for one Python example would leave important questions unanswered. The regression checks covered env python3 and python3.11, existing direct Python paths, and Shell scripts. They separated content-only detection from detection with a dot-py filename hint, because metadata can affect the result. A leading-newline control checked that the rule required the start of the file. Running the same fourteen checks with the original broken rule and then the narrowed fix gave a clear comparison: four failed before the change, and all fourteen passed afterwards. This evidence shows the repair within the chosen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这页讲如何证明当前收窄后的修复可靠。content-only 是不给文件名，只靠内容识别；filename hint 是额外给 script.py。两种方式分开测，防止文件名掩盖内容规则的问题。还测原本正常的 Python 路径、Shell，以及前面多一个换行的输入。当前 14 项测试在原 offset 1 规则下有 4 项失败，换成 python3 前缀规则后全通过。不要再使用之前 18 项、7 项失败的数据描述当前版本。</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 14 checks are parameterized regression cases, not 14 separate test methods. On 25 October 2026, the negative control kept these tests and temporarily restored only the original /bin/env python rule at offset 1: 4 failures, 0 errors. The Python 3-only rule in commit 4115d9325295bf4a6a26ba8a1a05f5969ec953f2 then passed all 14 checks. Full local core clean install with pedantic checks and randomized locale passed: 1,373 tests, 0 failures/errors, 2 skipped; alternate Xerces checks: 12 tests, 2 skipped; TikaIT: 1 passed; annotation-processor tests: 8 passed; quality checks passed. Kyubin's earlier approval covered cefa669, not this narrowed revision. No full Tika repository test or remote CI claim is made.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https://github.com/u8026876/comp2120-gyg-a5/commit/4115d9325295bf4a6a26ba8a1a05f5969ec953f2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narrowed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Terry suggested an ordinary-text example that tested the opposite direction: could Tika incorrectly call this Python? The x occupies position zero, so slash bin slash env python begins exactly at position one, where the old rule expected it. That accidental match produced a false positive. A negative test checks that unsuitable input does not trigger the Python rule. Kyubin separately verified this example on the earlier fix: the original rules returned text slash x-python, while that reviewed version returned text slash plain. The lesson is to preserve useful review examples as automated tests; this permanent test is currently deferred.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这不是要执行的 Python 代码，而是故意构造的普通文本。x 占位置 0，后面的 /bin/env python 正好在位置 1，因此旧规则会误报为 Python。false positive 就是误报。Terry 提议把它加入长期测试，Kyubin 对早先 cefa669 版本做过独立验证。图中结果引用的是那次历史验证，不表示他已批准当前收窄版本。该反例未进入当前 14 项测试，永久回归测试暂缓。</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observed results refer only to Kyubin's earlier separate content-only probe on cefa669 and the original MIME registry. They are historical review evidence, not a fresh test or approval of the narrowed Python 3-only revision. The permanent regression test remains deferred.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narrowed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main lesson is that a small code change can affect several kinds of input. Next time, I would plan that range earlier by writing a test matrix with expected outcomes, including misleading ordinary text and boundary cases. I would also review the extra examples raised by teammates and decide which should become permanent tests. I would keep the approach that worked here: establish a baseline, reproduce the problem, make a focused change, and compare the same checks afterwards. The improvement is earlier and more complete coverage, together with lasting evidence from review.</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不要说“下次才先写测试”，因为这次已经先复现再修复。真正的改进是更早考虑完整输入分类，特别是反例和边界情况，并把 review 的有效验证保留在自动测试中。保留已有效的流程：baseline、复现、针对性修改、相同测试前后对比。</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are proposed process improvements. The misleading-text regression has not been added as part of preparing this presentation. This section uses TIKA-4408 as Jiajun's concrete example and does not claim identical experiences for every group member.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https://github.com/u8026876/comp2120-gyg-a5/tree/main/presentation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of the earlier version; the narrowed revision needs renewed human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f08a6b4cd1415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2.xml" Id="R6893d96017154e5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2.xml" Id="Rfc7165c8dc8d4f7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2.xml" Id="R581050fa7e294d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2.xml" Id="R21fb358dd01d4ef2" /></Relationships>
</file>

<file path=ppt/slideLayouts/slideLayout1.xml><?xml version="1.0" encoding="utf-8"?>
<p:sldLayout xmlns:p="http://schemas.openxmlformats.org/presentationml/2006/main" matchingName="A4 - Title">
  <p:cSld name="A4 - Title">
    <p:spTree>
      <p:nvGrpSpPr>
        <p:cNvPr id="1" name=""/>
        <p:cNvGrpSpPr/>
        <p:nvPr/>
      </p:nvGrpSpPr>
      <p:grpSpPr>
        <a:xfrm xmlns:a="http://schemas.openxmlformats.org/drawingml/2006/main"/>
      </p:grpSpPr>
      <p:sp>
        <p:nvSpPr>
          <p:cNvPr id="11" name="Google Shape;11;p2">
            <a:extLst xmlns:a="http://schemas.openxmlformats.org/drawingml/2006/main">
              <a:ext uri="{FF2B5EF4-FFF2-40B4-BE49-F238E27FC236}">
                <a16:creationId xmlns:a16="http://schemas.microsoft.com/office/drawing/2014/main" id="{0CF5E1AD-AD99-4F7A-90CC-2CE801AAF480}"/>
              </a:ext>
            </a:extLst>
          </p:cNvPr>
          <p:cNvSpPr>
            <a:spLocks xmlns:a="http://schemas.openxmlformats.org/drawingml/2006/main" noGrp="1"/>
          </p:cNvSpPr>
          <p:nvPr>
            <p:ph type="title" idx="0"/>
          </p:nvPr>
        </p:nvSpPr>
        <p:spPr>
          <a:xfrm xmlns:a="http://schemas.openxmlformats.org/drawingml/2006/main">
            <a:off x="609600" y="1428750"/>
            <a:ext cx="10477500" cy="1543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7DC7EA1D-32E4-4CC2-8EEC-E2E6FFAA8859}"/>
              </a:ext>
            </a:extLst>
          </p:cNvPr>
          <p:cNvSpPr>
            <a:spLocks xmlns:a="http://schemas.openxmlformats.org/drawingml/2006/main" noGrp="1"/>
          </p:cNvSpPr>
          <p:nvPr>
            <p:ph type="subTitle" idx="1"/>
          </p:nvPr>
        </p:nvSpPr>
        <p:spPr>
          <a:xfrm xmlns:a="http://schemas.openxmlformats.org/drawingml/2006/main">
            <a:off x="609600" y="3333750"/>
            <a:ext cx="104775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2.xml><?xml version="1.0" encoding="utf-8"?>
<p:sldLayout xmlns:p="http://schemas.openxmlformats.org/presentationml/2006/main" matchingName="A4 - Explanation and visual">
  <p:cSld name="A4 - Explanation and visual">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E33E2926-912D-4F77-A9D9-D4DD398294FB}"/>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4498C1E9-15DD-4DC6-8260-3C1DB6900880}"/>
              </a:ext>
            </a:extLst>
          </p:cNvPr>
          <p:cNvSpPr>
            <a:spLocks xmlns:a="http://schemas.openxmlformats.org/drawingml/2006/main" noGrp="1"/>
          </p:cNvSpPr>
          <p:nvPr>
            <p:ph type="body" idx="1"/>
          </p:nvPr>
        </p:nvSpPr>
        <p:spPr>
          <a:xfrm xmlns:a="http://schemas.openxmlformats.org/drawingml/2006/main">
            <a:off x="609600" y="2000250"/>
            <a:ext cx="4476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17" name="Google Shape;17;p4">
            <a:extLst xmlns:a="http://schemas.openxmlformats.org/drawingml/2006/main">
              <a:ext uri="{FF2B5EF4-FFF2-40B4-BE49-F238E27FC236}">
                <a16:creationId xmlns:a16="http://schemas.microsoft.com/office/drawing/2014/main" id="{AC2DEB2E-F396-4D8D-B4C3-DFE2D6864C79}"/>
              </a:ext>
            </a:extLst>
          </p:cNvPr>
          <p:cNvSpPr>
            <a:spLocks xmlns:a="http://schemas.openxmlformats.org/drawingml/2006/main" noGrp="1"/>
          </p:cNvSpPr>
          <p:nvPr>
            <p:ph type="body" idx="2"/>
          </p:nvPr>
        </p:nvSpPr>
        <p:spPr>
          <a:xfrm xmlns:a="http://schemas.openxmlformats.org/drawingml/2006/main">
            <a:off x="5581650" y="2000250"/>
            <a:ext cx="6000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3.xml><?xml version="1.0" encoding="utf-8"?>
<p:sldLayout xmlns:p="http://schemas.openxmlformats.org/presentationml/2006/main" matchingName="A4 - Two columns">
  <p:cSld name="A4 - Two columns">
    <p:spTree>
      <p:nvGrpSpPr>
        <p:cNvPr id="1" name=""/>
        <p:cNvGrpSpPr/>
        <p:nvPr/>
      </p:nvGrpSpPr>
      <p:grpSpPr>
        <a:xfrm xmlns:a="http://schemas.openxmlformats.org/drawingml/2006/main"/>
      </p:grpSpPr>
      <p:sp>
        <p:nvSpPr>
          <p:cNvPr id="19" name="Google Shape;19;p5">
            <a:extLst xmlns:a="http://schemas.openxmlformats.org/drawingml/2006/main">
              <a:ext uri="{FF2B5EF4-FFF2-40B4-BE49-F238E27FC236}">
                <a16:creationId xmlns:a16="http://schemas.microsoft.com/office/drawing/2014/main" id="{9A25414B-A5D4-4652-B611-709154D431AB}"/>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F9971FB0-4910-4704-82FE-35A77DF8C572}"/>
              </a:ext>
            </a:extLst>
          </p:cNvPr>
          <p:cNvSpPr>
            <a:spLocks xmlns:a="http://schemas.openxmlformats.org/drawingml/2006/main" noGrp="1"/>
          </p:cNvSpPr>
          <p:nvPr>
            <p:ph type="body" idx="1"/>
          </p:nvPr>
        </p:nvSpPr>
        <p:spPr>
          <a:xfrm xmlns:a="http://schemas.openxmlformats.org/drawingml/2006/main">
            <a:off x="60960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21" name="Google Shape;21;p5">
            <a:extLst xmlns:a="http://schemas.openxmlformats.org/drawingml/2006/main">
              <a:ext uri="{FF2B5EF4-FFF2-40B4-BE49-F238E27FC236}">
                <a16:creationId xmlns:a16="http://schemas.microsoft.com/office/drawing/2014/main" id="{C4807A8C-3A3A-49E2-AD60-51202A83C580}"/>
              </a:ext>
            </a:extLst>
          </p:cNvPr>
          <p:cNvSpPr>
            <a:spLocks xmlns:a="http://schemas.openxmlformats.org/drawingml/2006/main" noGrp="1"/>
          </p:cNvSpPr>
          <p:nvPr>
            <p:ph type="body" idx="2"/>
          </p:nvPr>
        </p:nvSpPr>
        <p:spPr>
          <a:xfrm xmlns:a="http://schemas.openxmlformats.org/drawingml/2006/main">
            <a:off x="634365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4.xml><?xml version="1.0" encoding="utf-8"?>
<p:sldLayout xmlns:p="http://schemas.openxmlformats.org/presentationml/2006/main" matchingName="A4 - Title and content">
  <p:cSld name="A4 - Title and content">
    <p:spTree>
      <p:nvGrpSpPr>
        <p:cNvPr id="1" name=""/>
        <p:cNvGrpSpPr/>
        <p:nvPr/>
      </p:nvGrpSpPr>
      <p:grpSpPr>
        <a:xfrm xmlns:a="http://schemas.openxmlformats.org/drawingml/2006/main"/>
      </p:grpSpPr>
      <p:sp>
        <p:nvSpPr>
          <p:cNvPr id="23" name="Google Shape;23;p6">
            <a:extLst xmlns:a="http://schemas.openxmlformats.org/drawingml/2006/main">
              <a:ext uri="{FF2B5EF4-FFF2-40B4-BE49-F238E27FC236}">
                <a16:creationId xmlns:a16="http://schemas.microsoft.com/office/drawing/2014/main" id="{E940F8E1-F24D-4A83-9589-5AEA59DADB68}"/>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CD668096-E874-4C8A-BF2F-24946C6C645D}"/>
              </a:ext>
            </a:extLst>
          </p:cNvPr>
          <p:cNvSpPr>
            <a:spLocks xmlns:a="http://schemas.openxmlformats.org/drawingml/2006/main" noGrp="1"/>
          </p:cNvSpPr>
          <p:nvPr>
            <p:ph type="body" idx="1"/>
          </p:nvPr>
        </p:nvSpPr>
        <p:spPr>
          <a:xfrm xmlns:a="http://schemas.openxmlformats.org/drawingml/2006/main">
            <a:off x="609600" y="1952625"/>
            <a:ext cx="10972800" cy="409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5.xml><?xml version="1.0" encoding="utf-8"?>
<p:sldLayout xmlns:p="http://schemas.openxmlformats.org/presentationml/2006/main" matchingName="A4 - Large visual">
  <p:cSld name="A4 - Large visual">
    <p:spTree>
      <p:nvGrpSpPr>
        <p:cNvPr id="1" name=""/>
        <p:cNvGrpSpPr/>
        <p:nvPr/>
      </p:nvGrpSpPr>
      <p:grpSpPr>
        <a:xfrm xmlns:a="http://schemas.openxmlformats.org/drawingml/2006/main"/>
      </p:grpSpPr>
      <p:sp>
        <p:nvSpPr>
          <p:cNvPr id="26" name="Google Shape;26;p7">
            <a:extLst xmlns:a="http://schemas.openxmlformats.org/drawingml/2006/main">
              <a:ext uri="{FF2B5EF4-FFF2-40B4-BE49-F238E27FC236}">
                <a16:creationId xmlns:a16="http://schemas.microsoft.com/office/drawing/2014/main" id="{919CC0DE-ABAD-4C7E-8B7F-3B7045C154C9}"/>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7" name="Google Shape;27;p7">
            <a:extLst xmlns:a="http://schemas.openxmlformats.org/drawingml/2006/main">
              <a:ext uri="{FF2B5EF4-FFF2-40B4-BE49-F238E27FC236}">
                <a16:creationId xmlns:a16="http://schemas.microsoft.com/office/drawing/2014/main" id="{088D7DD5-D341-49E7-A5F9-F318A8E1207B}"/>
              </a:ext>
            </a:extLst>
          </p:cNvPr>
          <p:cNvSpPr>
            <a:spLocks xmlns:a="http://schemas.openxmlformats.org/drawingml/2006/main" noGrp="1"/>
          </p:cNvSpPr>
          <p:nvPr>
            <p:ph type="body" idx="1"/>
          </p:nvPr>
        </p:nvSpPr>
        <p:spPr>
          <a:xfrm xmlns:a="http://schemas.openxmlformats.org/drawingml/2006/main">
            <a:off x="609600" y="2000250"/>
            <a:ext cx="1097280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b4fdd55c4d47f5" /><Relationship Type="http://schemas.openxmlformats.org/officeDocument/2006/relationships/slideLayout" Target="/ppt/slideLayouts/slideLayout1.xml" Id="R68e20a153dfd44ca"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c05373c274024581" /><Relationship Type="http://schemas.openxmlformats.org/officeDocument/2006/relationships/slideLayout" Target="/ppt/slideLayouts/slideLayout2.xml" Id="Rc461ede2a7774f10" /><Relationship Type="http://schemas.openxmlformats.org/officeDocument/2006/relationships/slideLayout" Target="/ppt/slideLayouts/slideLayout3.xml" Id="Rb75320dbc4894863" /><Relationship Type="http://schemas.openxmlformats.org/officeDocument/2006/relationships/slideLayout" Target="/ppt/slideLayouts/slideLayout4.xml" Id="R24cf339b31294936" /><Relationship Type="http://schemas.openxmlformats.org/officeDocument/2006/relationships/slideLayout" Target="/ppt/slideLayouts/slideLayout5.xml" Id="R0c13650087024d51"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68e20a153dfd44c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51" r:id="Rc461ede2a7774f10"/>
    <p:sldLayoutId xmlns:r="http://schemas.openxmlformats.org/officeDocument/2006/relationships" id="2147483652" r:id="Rb75320dbc4894863"/>
    <p:sldLayoutId xmlns:r="http://schemas.openxmlformats.org/officeDocument/2006/relationships" id="2147483653" r:id="R24cf339b31294936"/>
    <p:sldLayoutId xmlns:r="http://schemas.openxmlformats.org/officeDocument/2006/relationships" id="2147483654" r:id="R0c13650087024d51"/>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75d3396da3914d37" /><Relationship Type="http://schemas.openxmlformats.org/officeDocument/2006/relationships/notesSlide" Target="/ppt/notesSlides/notesSlide1.xml" Id="R1c2553f08cf947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4e63109dc6a14dc1" /><Relationship Type="http://schemas.openxmlformats.org/officeDocument/2006/relationships/notesSlide" Target="/ppt/notesSlides/notesSlide2.xml" Id="Ra390469007d747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372128af060b4e9e" /><Relationship Type="http://schemas.openxmlformats.org/officeDocument/2006/relationships/notesSlide" Target="/ppt/notesSlides/notesSlide3.xml" Id="R4fad8ca8d9a54db5"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078f635800ed45d4" /><Relationship Type="http://schemas.openxmlformats.org/officeDocument/2006/relationships/notesSlide" Target="/ppt/notesSlides/notesSlide4.xml" Id="R8748c51487e54ba6" /></Relationships>
</file>

<file path=ppt/slides/slide1.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DFE48758-14A9-44C0-A2CC-836A15F68535}"/>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5986D919-E229-4ABA-96CD-001E2F2E8546}"/>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DEVELOPMENT CHALLENGES</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FBB1A3B3-2DA4-489E-8EFB-017BA1B25CE4}"/>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01</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2309D870-D76B-445E-BE76-8749D84DDF9F}"/>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1: finding the real cause</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299F6F40-C40A-4490-81A8-D1EA28D49980}"/>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9C9B5724-1456-4814-9E5D-A225757015F4}"/>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WRONG POSITION</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2D339E40-78FD-49E0-A147-4B915366E107}"/>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FIXED RULE: START OF FILE</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FA08A004-7705-4E49-86B0-E8A3E12601BA}"/>
              </a:ext>
            </a:extLst>
          </p:cNvPr>
          <p:cNvSpPr>
            <a:spLocks xmlns:a="http://schemas.openxmlformats.org/drawingml/2006/main" noGrp="1"/>
          </p:cNvSpPr>
          <p:nvPr/>
        </p:nvSpPr>
        <p:spPr>
          <a:xfrm xmlns:a="http://schemas.openxmlformats.org/drawingml/2006/main">
            <a:off x="609600" y="2257425"/>
            <a:ext cx="109728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200">
                <a:solidFill>
                  <a:srgbClr val="F0E8D9"/>
                </a:solidFill>
                <a:latin typeface="Roboto Mono"/>
                <a:ea typeface="Roboto Mono"/>
                <a:cs typeface="Roboto Mono"/>
              </a:defRPr>
            </a:defPPr>
            <a:lvl1pPr>
              <a:defRPr sz="4200">
                <a:solidFill>
                  <a:srgbClr val="F0E8D9"/>
                </a:solidFill>
                <a:latin typeface="Roboto Mono"/>
                <a:ea typeface="Roboto Mono"/>
                <a:cs typeface="Roboto Mono"/>
              </a:defRPr>
            </a:lvl1pPr>
            <a:lvl2pPr>
              <a:defRPr sz="4200">
                <a:solidFill>
                  <a:srgbClr val="F0E8D9"/>
                </a:solidFill>
                <a:latin typeface="Roboto Mono"/>
                <a:ea typeface="Roboto Mono"/>
                <a:cs typeface="Roboto Mono"/>
              </a:defRPr>
            </a:lvl2pPr>
            <a:lvl3pPr>
              <a:defRPr sz="4200">
                <a:solidFill>
                  <a:srgbClr val="F0E8D9"/>
                </a:solidFill>
                <a:latin typeface="Roboto Mono"/>
                <a:ea typeface="Roboto Mono"/>
                <a:cs typeface="Roboto Mono"/>
              </a:defRPr>
            </a:lvl3pPr>
            <a:lvl4pPr>
              <a:defRPr sz="4200">
                <a:solidFill>
                  <a:srgbClr val="F0E8D9"/>
                </a:solidFill>
                <a:latin typeface="Roboto Mono"/>
                <a:ea typeface="Roboto Mono"/>
                <a:cs typeface="Roboto Mono"/>
              </a:defRPr>
            </a:lvl4pPr>
            <a:lvl5pPr>
              <a:defRPr sz="4200">
                <a:solidFill>
                  <a:srgbClr val="F0E8D9"/>
                </a:solidFill>
                <a:latin typeface="Roboto Mono"/>
                <a:ea typeface="Roboto Mono"/>
                <a:cs typeface="Roboto Mono"/>
              </a:defRPr>
            </a:lvl5pPr>
            <a:lvl6pPr>
              <a:defRPr sz="4200">
                <a:solidFill>
                  <a:srgbClr val="F0E8D9"/>
                </a:solidFill>
                <a:latin typeface="Roboto Mono"/>
                <a:ea typeface="Roboto Mono"/>
                <a:cs typeface="Roboto Mono"/>
              </a:defRPr>
            </a:lvl6pPr>
            <a:lvl7pPr>
              <a:defRPr sz="4200">
                <a:solidFill>
                  <a:srgbClr val="F0E8D9"/>
                </a:solidFill>
                <a:latin typeface="Roboto Mono"/>
                <a:ea typeface="Roboto Mono"/>
                <a:cs typeface="Roboto Mono"/>
              </a:defRPr>
            </a:lvl7pPr>
            <a:lvl8pPr>
              <a:defRPr sz="4200">
                <a:solidFill>
                  <a:srgbClr val="F0E8D9"/>
                </a:solidFill>
                <a:latin typeface="Roboto Mono"/>
                <a:ea typeface="Roboto Mono"/>
                <a:cs typeface="Roboto Mono"/>
              </a:defRPr>
            </a:lvl8pPr>
            <a:lvl9pPr>
              <a:defRPr sz="42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200">
                <a:solidFill>
                  <a:srgbClr val="F0E8D9"/>
                </a:solidFill>
                <a:latin typeface="Roboto Mono"/>
                <a:ea typeface="Roboto Mono"/>
                <a:cs typeface="Roboto Mono"/>
              </a:defRPr>
            </a:pPr>
            <a:r>
              <a:rPr sz="4200">
                <a:solidFill>
                  <a:srgbClr val="F0E8D9"/>
                </a:solidFill>
                <a:latin typeface="Roboto Mono"/>
                <a:ea typeface="Roboto Mono"/>
                <a:cs typeface="Roboto Mono"/>
              </a:rPr>
              <a:t>#!/usr</a:t>
            </a:r>
            <a:r>
              <a:rPr sz="4200">
                <a:solidFill>
                  <a:srgbClr val="D99575"/>
                </a:solidFill>
                <a:latin typeface="Roboto Mono"/>
                <a:ea typeface="Roboto Mono"/>
                <a:cs typeface="Roboto Mono"/>
              </a:rPr>
              <a:t>/bin/env python</a:t>
            </a:r>
            <a:r>
              <a:rPr sz="4200">
                <a:solidFill>
                  <a:srgbClr val="F0E8D9"/>
                </a:solidFill>
                <a:latin typeface="Roboto Mono"/>
                <a:ea typeface="Roboto Mono"/>
                <a:cs typeface="Roboto Mono"/>
              </a:rPr>
              <a:t>3</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D4E8937C-10F5-4DAF-B7D2-7757E2EDA0AF}"/>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50">
                <a:latin typeface="Roboto Mono"/>
                <a:ea typeface="Roboto Mono"/>
                <a:cs typeface="Roboto Mono"/>
              </a:defRPr>
            </a:defPPr>
            <a:lvl1pPr>
              <a:defRPr sz="1950">
                <a:latin typeface="Roboto Mono"/>
                <a:ea typeface="Roboto Mono"/>
                <a:cs typeface="Roboto Mono"/>
              </a:defRPr>
            </a:lvl1pPr>
            <a:lvl2pPr>
              <a:defRPr sz="1950">
                <a:latin typeface="Roboto Mono"/>
                <a:ea typeface="Roboto Mono"/>
                <a:cs typeface="Roboto Mono"/>
              </a:defRPr>
            </a:lvl2pPr>
            <a:lvl3pPr>
              <a:defRPr sz="1950">
                <a:latin typeface="Roboto Mono"/>
                <a:ea typeface="Roboto Mono"/>
                <a:cs typeface="Roboto Mono"/>
              </a:defRPr>
            </a:lvl3pPr>
            <a:lvl4pPr>
              <a:defRPr sz="1950">
                <a:latin typeface="Roboto Mono"/>
                <a:ea typeface="Roboto Mono"/>
                <a:cs typeface="Roboto Mono"/>
              </a:defRPr>
            </a:lvl4pPr>
            <a:lvl5pPr>
              <a:defRPr sz="1950">
                <a:latin typeface="Roboto Mono"/>
                <a:ea typeface="Roboto Mono"/>
                <a:cs typeface="Roboto Mono"/>
              </a:defRPr>
            </a:lvl5pPr>
            <a:lvl6pPr>
              <a:defRPr sz="1950">
                <a:latin typeface="Roboto Mono"/>
                <a:ea typeface="Roboto Mono"/>
                <a:cs typeface="Roboto Mono"/>
              </a:defRPr>
            </a:lvl6pPr>
            <a:lvl7pPr>
              <a:defRPr sz="1950">
                <a:latin typeface="Roboto Mono"/>
                <a:ea typeface="Roboto Mono"/>
                <a:cs typeface="Roboto Mono"/>
              </a:defRPr>
            </a:lvl7pPr>
            <a:lvl8pPr>
              <a:defRPr sz="1950">
                <a:latin typeface="Roboto Mono"/>
                <a:ea typeface="Roboto Mono"/>
                <a:cs typeface="Roboto Mono"/>
              </a:defRPr>
            </a:lvl8pPr>
            <a:lvl9pPr>
              <a:defRPr sz="1950">
                <a:latin typeface="Roboto Mono"/>
                <a:ea typeface="Roboto Mono"/>
                <a:cs typeface="Roboto Mono"/>
              </a:defRPr>
            </a:lvl9pPr>
          </a:lstStyle>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/bin/env python</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at offset 1</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FC2F51B2-E2A8-4C51-976A-9286CEBFE1BD}"/>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800">
                <a:latin typeface="Roboto Mono"/>
                <a:ea typeface="Roboto Mono"/>
                <a:cs typeface="Roboto Mono"/>
              </a:defRPr>
            </a:defPPr>
            <a:lvl1pPr>
              <a:defRPr sz="1800">
                <a:latin typeface="Roboto Mono"/>
                <a:ea typeface="Roboto Mono"/>
                <a:cs typeface="Roboto Mono"/>
              </a:defRPr>
            </a:lvl1pPr>
            <a:lvl2pPr>
              <a:defRPr sz="1800">
                <a:latin typeface="Roboto Mono"/>
                <a:ea typeface="Roboto Mono"/>
                <a:cs typeface="Roboto Mono"/>
              </a:defRPr>
            </a:lvl2pPr>
            <a:lvl3pPr>
              <a:defRPr sz="1800">
                <a:latin typeface="Roboto Mono"/>
                <a:ea typeface="Roboto Mono"/>
                <a:cs typeface="Roboto Mono"/>
              </a:defRPr>
            </a:lvl3pPr>
            <a:lvl4pPr>
              <a:defRPr sz="1800">
                <a:latin typeface="Roboto Mono"/>
                <a:ea typeface="Roboto Mono"/>
                <a:cs typeface="Roboto Mono"/>
              </a:defRPr>
            </a:lvl4pPr>
            <a:lvl5pPr>
              <a:defRPr sz="1800">
                <a:latin typeface="Roboto Mono"/>
                <a:ea typeface="Roboto Mono"/>
                <a:cs typeface="Roboto Mono"/>
              </a:defRPr>
            </a:lvl5pPr>
            <a:lvl6pPr>
              <a:defRPr sz="1800">
                <a:latin typeface="Roboto Mono"/>
                <a:ea typeface="Roboto Mono"/>
                <a:cs typeface="Roboto Mono"/>
              </a:defRPr>
            </a:lvl6pPr>
            <a:lvl7pPr>
              <a:defRPr sz="1800">
                <a:latin typeface="Roboto Mono"/>
                <a:ea typeface="Roboto Mono"/>
                <a:cs typeface="Roboto Mono"/>
              </a:defRPr>
            </a:lvl7pPr>
            <a:lvl8pPr>
              <a:defRPr sz="1800">
                <a:latin typeface="Roboto Mono"/>
                <a:ea typeface="Roboto Mono"/>
                <a:cs typeface="Roboto Mono"/>
              </a:defRPr>
            </a:lvl8pPr>
            <a:lvl9pPr>
              <a:defRPr sz="1800">
                <a:latin typeface="Roboto Mono"/>
                <a:ea typeface="Roboto Mono"/>
                <a:cs typeface="Roboto Mono"/>
              </a:defRPr>
            </a:lvl9pPr>
          </a:lstStyle>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#!/usr/bin/env python3</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at offset 0</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4343A830-9923-4DE0-8366-FDCD02F0FBA8}"/>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text/x-python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1B8336E6-0542-4A7F-9852-13AE4656980E}"/>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application/x-sh</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B2F3B98C-85E9-435E-BF31-287C6A2D2F57}"/>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The substring starts at offset 6. The old rule checked offset 1.</a:t>
            </a:r>
            <a:endParaRPr sz="1250">
              <a:solidFill>
                <a:srgbClr val="203B34"/>
              </a:solidFill>
              <a:latin typeface="Manrope"/>
              <a:ea typeface="Manrope"/>
              <a:cs typeface="Manrope"/>
            </a:endParaRPr>
          </a:p>
        </p:txBody>
      </p:sp>
      <p:sp>
        <p:nvSpPr>
          <p:cNvPr id="55" name="cause-takeaway">
            <a:extLst xmlns:a="http://schemas.openxmlformats.org/drawingml/2006/main">
              <a:ext uri="{FF2B5EF4-FFF2-40B4-BE49-F238E27FC236}">
                <a16:creationId xmlns:a16="http://schemas.microsoft.com/office/drawing/2014/main" id="{EB5656FF-A0E4-447E-BD86-770EFDC39EFC}"/>
              </a:ext>
            </a:extLst>
          </p:cNvPr>
          <p:cNvSpPr>
            <a:spLocks xmlns:a="http://schemas.openxmlformats.org/drawingml/2006/main" noGrp="1"/>
          </p:cNvSpPr>
          <p:nvPr/>
        </p:nvSpPr>
        <p:spPr>
          <a:xfrm xmlns:a="http://schemas.openxmlformats.org/drawingml/2006/main">
            <a:off x="609600" y="62007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00">
                <a:solidFill>
                  <a:srgbClr val="203B34"/>
                </a:solidFill>
                <a:latin typeface="Manrope"/>
                <a:ea typeface="Manrope"/>
                <a:cs typeface="Manrope"/>
              </a:defRPr>
            </a:defPPr>
            <a:lvl1pPr>
              <a:defRPr sz="1600">
                <a:solidFill>
                  <a:srgbClr val="203B34"/>
                </a:solidFill>
                <a:latin typeface="Manrope"/>
                <a:ea typeface="Manrope"/>
                <a:cs typeface="Manrope"/>
              </a:defRPr>
            </a:lvl1pPr>
            <a:lvl2pPr>
              <a:defRPr sz="1600">
                <a:solidFill>
                  <a:srgbClr val="203B34"/>
                </a:solidFill>
                <a:latin typeface="Manrope"/>
                <a:ea typeface="Manrope"/>
                <a:cs typeface="Manrope"/>
              </a:defRPr>
            </a:lvl2pPr>
            <a:lvl3pPr>
              <a:defRPr sz="1600">
                <a:solidFill>
                  <a:srgbClr val="203B34"/>
                </a:solidFill>
                <a:latin typeface="Manrope"/>
                <a:ea typeface="Manrope"/>
                <a:cs typeface="Manrope"/>
              </a:defRPr>
            </a:lvl3pPr>
            <a:lvl4pPr>
              <a:defRPr sz="1600">
                <a:solidFill>
                  <a:srgbClr val="203B34"/>
                </a:solidFill>
                <a:latin typeface="Manrope"/>
                <a:ea typeface="Manrope"/>
                <a:cs typeface="Manrope"/>
              </a:defRPr>
            </a:lvl4pPr>
            <a:lvl5pPr>
              <a:defRPr sz="1600">
                <a:solidFill>
                  <a:srgbClr val="203B34"/>
                </a:solidFill>
                <a:latin typeface="Manrope"/>
                <a:ea typeface="Manrope"/>
                <a:cs typeface="Manrope"/>
              </a:defRPr>
            </a:lvl5pPr>
            <a:lvl6pPr>
              <a:defRPr sz="1600">
                <a:solidFill>
                  <a:srgbClr val="203B34"/>
                </a:solidFill>
                <a:latin typeface="Manrope"/>
                <a:ea typeface="Manrope"/>
                <a:cs typeface="Manrope"/>
              </a:defRPr>
            </a:lvl6pPr>
            <a:lvl7pPr>
              <a:defRPr sz="1600">
                <a:solidFill>
                  <a:srgbClr val="203B34"/>
                </a:solidFill>
                <a:latin typeface="Manrope"/>
                <a:ea typeface="Manrope"/>
                <a:cs typeface="Manrope"/>
              </a:defRPr>
            </a:lvl7pPr>
            <a:lvl8pPr>
              <a:defRPr sz="1600">
                <a:solidFill>
                  <a:srgbClr val="203B34"/>
                </a:solidFill>
                <a:latin typeface="Manrope"/>
                <a:ea typeface="Manrope"/>
                <a:cs typeface="Manrope"/>
              </a:defRPr>
            </a:lvl8pPr>
            <a:lvl9pPr>
              <a:defRPr sz="1600">
                <a:solidFill>
                  <a:srgbClr val="203B34"/>
                </a:solidFill>
                <a:latin typeface="Manrope"/>
                <a:ea typeface="Manrope"/>
                <a:cs typeface="Manrope"/>
              </a:defRPr>
            </a:lvl9pPr>
          </a:lstStyle>
          <a:p xmlns:a="http://schemas.openxmlformats.org/drawingml/2006/main">
            <a:pPr>
              <a:defRPr sz="1600">
                <a:solidFill>
                  <a:srgbClr val="203B34"/>
                </a:solidFill>
                <a:latin typeface="Manrope"/>
                <a:ea typeface="Manrope"/>
                <a:cs typeface="Manrope"/>
              </a:defRPr>
            </a:pPr>
            <a:r>
              <a:rPr sz="1600">
                <a:solidFill>
                  <a:srgbClr val="203B34"/>
                </a:solidFill>
                <a:latin typeface="Manrope"/>
                <a:ea typeface="Manrope"/>
                <a:cs typeface="Manrope"/>
              </a:rPr>
              <a:t>Scope: no-space python3 prefix; python3.11 is also covered.</a:t>
            </a:r>
          </a:p>
        </p:txBody>
      </p:sp>
    </p:spTree>
    <p:extLst>
      <p:ext uri="{BB962C8B-B14F-4D97-AF65-F5344CB8AC3E}">
        <p14:creationId xmlns:p14="http://schemas.microsoft.com/office/powerpoint/2010/main" val="263949053"/>
      </p:ext>
    </p:extLst>
  </p:cSld>
</p:sld>
</file>

<file path=ppt/slides/slide2.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77" name="Google Shape;77;p11">
            <a:extLst xmlns:a="http://schemas.openxmlformats.org/drawingml/2006/main">
              <a:ext uri="{FF2B5EF4-FFF2-40B4-BE49-F238E27FC236}">
                <a16:creationId xmlns:a16="http://schemas.microsoft.com/office/drawing/2014/main" id="{85B4C56A-0F69-420B-ADE7-0E3EBAF2A874}"/>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F0E8D9"/>
                </a:solidFill>
                <a:latin typeface="Manrope"/>
                <a:ea typeface="Manrope"/>
                <a:cs typeface="Manrope"/>
              </a:rPr>
              <a:t>TIKA-4408 / DEVELOPMENT CHALLENGES</a:t>
            </a:r>
            <a:endParaRPr sz="1050" b="1">
              <a:solidFill>
                <a:srgbClr val="F0E8D9"/>
              </a:solidFill>
              <a:latin typeface="Manrope"/>
              <a:ea typeface="Manrope"/>
              <a:cs typeface="Manrope"/>
            </a:endParaRPr>
          </a:p>
        </p:txBody>
      </p:sp>
      <p:sp>
        <p:nvSpPr>
          <p:cNvPr id="78" name="Google Shape;78;p11">
            <a:extLst xmlns:a="http://schemas.openxmlformats.org/drawingml/2006/main">
              <a:ext uri="{FF2B5EF4-FFF2-40B4-BE49-F238E27FC236}">
                <a16:creationId xmlns:a16="http://schemas.microsoft.com/office/drawing/2014/main" id="{6D1021EB-F500-4DF7-9169-55BA2B49232D}"/>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02</a:t>
            </a:r>
            <a:endParaRPr sz="1000">
              <a:solidFill>
                <a:srgbClr val="B8C7AB"/>
              </a:solidFill>
              <a:latin typeface="Manrope"/>
              <a:ea typeface="Manrope"/>
              <a:cs typeface="Manrope"/>
            </a:endParaRPr>
          </a:p>
        </p:txBody>
      </p:sp>
      <p:sp>
        <p:nvSpPr>
          <p:cNvPr id="79" name="Google Shape;79;p11">
            <a:extLst xmlns:a="http://schemas.openxmlformats.org/drawingml/2006/main">
              <a:ext uri="{FF2B5EF4-FFF2-40B4-BE49-F238E27FC236}">
                <a16:creationId xmlns:a16="http://schemas.microsoft.com/office/drawing/2014/main" id="{F4F76437-5963-4990-908B-6E8A970AF7D9}"/>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2: proving the fix</a:t>
            </a:r>
            <a:endParaRPr sz="3200" b="1">
              <a:solidFill>
                <a:srgbClr val="F0E8D9"/>
              </a:solidFill>
              <a:latin typeface="Manrope"/>
              <a:ea typeface="Manrope"/>
              <a:cs typeface="Manrope"/>
            </a:endParaRPr>
          </a:p>
        </p:txBody>
      </p:sp>
      <p:sp>
        <p:nvSpPr>
          <p:cNvPr id="80" name="Google Shape;80;p11">
            <a:extLst xmlns:a="http://schemas.openxmlformats.org/drawingml/2006/main">
              <a:ext uri="{FF2B5EF4-FFF2-40B4-BE49-F238E27FC236}">
                <a16:creationId xmlns:a16="http://schemas.microsoft.com/office/drawing/2014/main" id="{E2F3BB4C-1A6B-435F-80B9-A3E318254DCC}"/>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Jiajun Li / TIKA-4408</a:t>
            </a:r>
            <a:endParaRPr sz="1000">
              <a:solidFill>
                <a:srgbClr val="B8C7AB"/>
              </a:solidFill>
              <a:latin typeface="Manrope"/>
              <a:ea typeface="Manrope"/>
              <a:cs typeface="Manrope"/>
            </a:endParaRPr>
          </a:p>
        </p:txBody>
      </p:sp>
      <p:sp>
        <p:nvSpPr>
          <p:cNvPr id="81" name="Google Shape;81;p11">
            <a:extLst xmlns:a="http://schemas.openxmlformats.org/drawingml/2006/main">
              <a:ext uri="{FF2B5EF4-FFF2-40B4-BE49-F238E27FC236}">
                <a16:creationId xmlns:a16="http://schemas.microsoft.com/office/drawing/2014/main" id="{EEDBB18F-9A0C-4EDE-9B17-B1D2EF44F85E}"/>
              </a:ext>
            </a:extLst>
          </p:cNvPr>
          <p:cNvSpPr>
            <a:spLocks xmlns:a="http://schemas.openxmlformats.org/drawingml/2006/main" noGrp="1"/>
          </p:cNvSpPr>
          <p:nvPr/>
        </p:nvSpPr>
        <p:spPr>
          <a:xfrm xmlns:a="http://schemas.openxmlformats.org/drawingml/2006/main">
            <a:off x="609600" y="2032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01</a:t>
            </a:r>
            <a:endParaRPr sz="3000" b="1">
              <a:solidFill>
                <a:srgbClr val="F0E8D9"/>
              </a:solidFill>
              <a:latin typeface="Roboto Mono"/>
              <a:ea typeface="Roboto Mono"/>
              <a:cs typeface="Roboto Mono"/>
            </a:endParaRPr>
          </a:p>
        </p:txBody>
      </p:sp>
      <p:sp>
        <p:nvSpPr>
          <p:cNvPr id="82" name="Google Shape;82;p11">
            <a:extLst xmlns:a="http://schemas.openxmlformats.org/drawingml/2006/main">
              <a:ext uri="{FF2B5EF4-FFF2-40B4-BE49-F238E27FC236}">
                <a16:creationId xmlns:a16="http://schemas.microsoft.com/office/drawing/2014/main" id="{D2D7D429-E746-4778-86E7-CCEB99DC4F9E}"/>
              </a:ext>
            </a:extLst>
          </p:cNvPr>
          <p:cNvSpPr>
            <a:spLocks xmlns:a="http://schemas.openxmlformats.org/drawingml/2006/main" noGrp="1"/>
          </p:cNvSpPr>
          <p:nvPr/>
        </p:nvSpPr>
        <p:spPr>
          <a:xfrm xmlns:a="http://schemas.openxmlformats.org/drawingml/2006/main">
            <a:off x="1587500" y="2032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Separate content from filename hints</a:t>
            </a:r>
            <a:endParaRPr sz="2400" b="1">
              <a:solidFill>
                <a:srgbClr val="F0E8D9"/>
              </a:solidFill>
              <a:latin typeface="Manrope"/>
              <a:ea typeface="Manrope"/>
              <a:cs typeface="Manrope"/>
            </a:endParaRPr>
          </a:p>
        </p:txBody>
      </p:sp>
      <p:sp>
        <p:nvSpPr>
          <p:cNvPr id="83" name="Google Shape;83;p11">
            <a:extLst xmlns:a="http://schemas.openxmlformats.org/drawingml/2006/main">
              <a:ext uri="{FF2B5EF4-FFF2-40B4-BE49-F238E27FC236}">
                <a16:creationId xmlns:a16="http://schemas.microsoft.com/office/drawing/2014/main" id="{77E09756-5E2B-460C-9132-93A24F74064F}"/>
              </a:ext>
            </a:extLst>
          </p:cNvPr>
          <p:cNvSpPr>
            <a:spLocks xmlns:a="http://schemas.openxmlformats.org/drawingml/2006/main" noGrp="1"/>
          </p:cNvSpPr>
          <p:nvPr/>
        </p:nvSpPr>
        <p:spPr>
          <a:xfrm xmlns:a="http://schemas.openxmlformats.org/drawingml/2006/main">
            <a:off x="1587500" y="2590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Test each input without a filename, then with script.py.</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This checks the content rule and the effect of metadata.</a:t>
            </a:r>
            <a:endParaRPr sz="1900">
              <a:solidFill>
                <a:srgbClr val="B8C7AB"/>
              </a:solidFill>
              <a:latin typeface="Manrope"/>
              <a:ea typeface="Manrope"/>
              <a:cs typeface="Manrope"/>
            </a:endParaRPr>
          </a:p>
        </p:txBody>
      </p:sp>
      <p:sp>
        <p:nvSpPr>
          <p:cNvPr id="84" name="Google Shape;84;p11">
            <a:extLst xmlns:a="http://schemas.openxmlformats.org/drawingml/2006/main">
              <a:ext uri="{FF2B5EF4-FFF2-40B4-BE49-F238E27FC236}">
                <a16:creationId xmlns:a16="http://schemas.microsoft.com/office/drawing/2014/main" id="{D4A5914B-0218-4B8E-9E2E-EA6BD86A48FB}"/>
              </a:ext>
            </a:extLst>
          </p:cNvPr>
          <p:cNvSpPr>
            <a:spLocks xmlns:a="http://schemas.openxmlformats.org/drawingml/2006/main" noGrp="1"/>
          </p:cNvSpPr>
          <p:nvPr/>
        </p:nvSpPr>
        <p:spPr>
          <a:xfrm xmlns:a="http://schemas.openxmlformats.org/drawingml/2006/main">
            <a:off x="609600" y="3429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02</a:t>
            </a:r>
            <a:endParaRPr sz="3000" b="1">
              <a:solidFill>
                <a:srgbClr val="F0E8D9"/>
              </a:solidFill>
              <a:latin typeface="Roboto Mono"/>
              <a:ea typeface="Roboto Mono"/>
              <a:cs typeface="Roboto Mono"/>
            </a:endParaRPr>
          </a:p>
        </p:txBody>
      </p:sp>
      <p:sp>
        <p:nvSpPr>
          <p:cNvPr id="85" name="Google Shape;85;p11">
            <a:extLst xmlns:a="http://schemas.openxmlformats.org/drawingml/2006/main">
              <a:ext uri="{FF2B5EF4-FFF2-40B4-BE49-F238E27FC236}">
                <a16:creationId xmlns:a16="http://schemas.microsoft.com/office/drawing/2014/main" id="{38297A2C-1C72-4F50-A6FC-13FA3E49E66D}"/>
              </a:ext>
            </a:extLst>
          </p:cNvPr>
          <p:cNvSpPr>
            <a:spLocks xmlns:a="http://schemas.openxmlformats.org/drawingml/2006/main" noGrp="1"/>
          </p:cNvSpPr>
          <p:nvPr/>
        </p:nvSpPr>
        <p:spPr>
          <a:xfrm xmlns:a="http://schemas.openxmlformats.org/drawingml/2006/main">
            <a:off x="1587500" y="3429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Keep working behavior intact</a:t>
            </a:r>
            <a:endParaRPr sz="2400" b="1">
              <a:solidFill>
                <a:srgbClr val="F0E8D9"/>
              </a:solidFill>
              <a:latin typeface="Manrope"/>
              <a:ea typeface="Manrope"/>
              <a:cs typeface="Manrope"/>
            </a:endParaRPr>
          </a:p>
        </p:txBody>
      </p:sp>
      <p:sp>
        <p:nvSpPr>
          <p:cNvPr id="86" name="Google Shape;86;p11">
            <a:extLst xmlns:a="http://schemas.openxmlformats.org/drawingml/2006/main">
              <a:ext uri="{FF2B5EF4-FFF2-40B4-BE49-F238E27FC236}">
                <a16:creationId xmlns:a16="http://schemas.microsoft.com/office/drawing/2014/main" id="{C9220618-1408-4C33-B304-16BA6BE95639}"/>
              </a:ext>
            </a:extLst>
          </p:cNvPr>
          <p:cNvSpPr>
            <a:spLocks xmlns:a="http://schemas.openxmlformats.org/drawingml/2006/main" noGrp="1"/>
          </p:cNvSpPr>
          <p:nvPr/>
        </p:nvSpPr>
        <p:spPr>
          <a:xfrm xmlns:a="http://schemas.openxmlformats.org/drawingml/2006/main">
            <a:off x="1587500" y="3987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Check direct Python paths, Shell scripts and an input</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with a newline before the shebang.</a:t>
            </a:r>
            <a:endParaRPr sz="1900">
              <a:solidFill>
                <a:srgbClr val="B8C7AB"/>
              </a:solidFill>
              <a:latin typeface="Manrope"/>
              <a:ea typeface="Manrope"/>
              <a:cs typeface="Manrope"/>
            </a:endParaRPr>
          </a:p>
        </p:txBody>
      </p:sp>
      <p:sp>
        <p:nvSpPr>
          <p:cNvPr id="87" name="Google Shape;87;p11">
            <a:extLst xmlns:a="http://schemas.openxmlformats.org/drawingml/2006/main">
              <a:ext uri="{FF2B5EF4-FFF2-40B4-BE49-F238E27FC236}">
                <a16:creationId xmlns:a16="http://schemas.microsoft.com/office/drawing/2014/main" id="{177D11EB-CCA6-40BA-8845-0001869CD58F}"/>
              </a:ext>
            </a:extLst>
          </p:cNvPr>
          <p:cNvSpPr>
            <a:spLocks xmlns:a="http://schemas.openxmlformats.org/drawingml/2006/main" noGrp="1"/>
          </p:cNvSpPr>
          <p:nvPr/>
        </p:nvSpPr>
        <p:spPr>
          <a:xfrm xmlns:a="http://schemas.openxmlformats.org/drawingml/2006/main">
            <a:off x="609600" y="4826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D99575"/>
                </a:solidFill>
                <a:latin typeface="Roboto Mono"/>
                <a:ea typeface="Roboto Mono"/>
                <a:cs typeface="Roboto Mono"/>
              </a:rPr>
              <a:t>03</a:t>
            </a:r>
            <a:endParaRPr sz="3000" b="1">
              <a:solidFill>
                <a:srgbClr val="D99575"/>
              </a:solidFill>
              <a:latin typeface="Roboto Mono"/>
              <a:ea typeface="Roboto Mono"/>
              <a:cs typeface="Roboto Mono"/>
            </a:endParaRPr>
          </a:p>
        </p:txBody>
      </p:sp>
      <p:sp>
        <p:nvSpPr>
          <p:cNvPr id="88" name="Google Shape;88;p11">
            <a:extLst xmlns:a="http://schemas.openxmlformats.org/drawingml/2006/main">
              <a:ext uri="{FF2B5EF4-FFF2-40B4-BE49-F238E27FC236}">
                <a16:creationId xmlns:a16="http://schemas.microsoft.com/office/drawing/2014/main" id="{C29F6DDA-1872-4E6C-82C7-F1FFB3791F50}"/>
              </a:ext>
            </a:extLst>
          </p:cNvPr>
          <p:cNvSpPr>
            <a:spLocks xmlns:a="http://schemas.openxmlformats.org/drawingml/2006/main" noGrp="1"/>
          </p:cNvSpPr>
          <p:nvPr/>
        </p:nvSpPr>
        <p:spPr>
          <a:xfrm xmlns:a="http://schemas.openxmlformats.org/drawingml/2006/main">
            <a:off x="1587500" y="4826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300"/>
            </a:defPPr>
            <a:lvl1pPr>
              <a:defRPr sz="2300"/>
            </a:lvl1pPr>
            <a:lvl2pPr>
              <a:defRPr sz="2300"/>
            </a:lvl2pPr>
            <a:lvl3pPr>
              <a:defRPr sz="2300"/>
            </a:lvl3pPr>
            <a:lvl4pPr>
              <a:defRPr sz="2300"/>
            </a:lvl4pPr>
            <a:lvl5pPr>
              <a:defRPr sz="2300"/>
            </a:lvl5pPr>
            <a:lvl6pPr>
              <a:defRPr sz="2300"/>
            </a:lvl6pPr>
            <a:lvl7pPr>
              <a:defRPr sz="2300"/>
            </a:lvl7pPr>
            <a:lvl8pPr>
              <a:defRPr sz="2300"/>
            </a:lvl8pPr>
            <a:lvl9pPr>
              <a:defRPr sz="2300"/>
            </a:lvl9pPr>
          </a:lstStyle>
          <a:p xmlns:a="http://schemas.openxmlformats.org/drawingml/2006/main">
            <a:pPr marL="0" marR="0" lvl="0" indent="0" algn="l">
              <a:spcBef>
                <a:spcPts val="0"/>
              </a:spcBef>
              <a:spcAft>
                <a:spcPts val="0"/>
              </a:spcAft>
              <a:buNone/>
              <a:defRPr sz="2300"/>
            </a:pPr>
            <a:r>
              <a:rPr sz="2300" b="1">
                <a:solidFill>
                  <a:srgbClr val="F0E8D9"/>
                </a:solidFill>
                <a:latin typeface="Manrope"/>
                <a:ea typeface="Manrope"/>
                <a:cs typeface="Manrope"/>
              </a:rPr>
              <a:t>Same 14 focused checks: 4 failures before, 0 after</a:t>
            </a:r>
            <a:endParaRPr sz="2400" b="1">
              <a:solidFill>
                <a:srgbClr val="F0E8D9"/>
              </a:solidFill>
              <a:latin typeface="Manrope"/>
              <a:ea typeface="Manrope"/>
              <a:cs typeface="Manrope"/>
            </a:endParaRPr>
          </a:p>
        </p:txBody>
      </p:sp>
      <p:sp>
        <p:nvSpPr>
          <p:cNvPr id="89" name="Google Shape;89;p11">
            <a:extLst xmlns:a="http://schemas.openxmlformats.org/drawingml/2006/main">
              <a:ext uri="{FF2B5EF4-FFF2-40B4-BE49-F238E27FC236}">
                <a16:creationId xmlns:a16="http://schemas.microsoft.com/office/drawing/2014/main" id="{03595C2E-E22E-485E-9381-AA659690AAB1}"/>
              </a:ext>
            </a:extLst>
          </p:cNvPr>
          <p:cNvSpPr>
            <a:spLocks xmlns:a="http://schemas.openxmlformats.org/drawingml/2006/main" noGrp="1"/>
          </p:cNvSpPr>
          <p:nvPr/>
        </p:nvSpPr>
        <p:spPr>
          <a:xfrm xmlns:a="http://schemas.openxmlformats.org/drawingml/2006/main">
            <a:off x="1587500" y="5384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All 14 passed after the fix. These are local results.</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They do not establish remote CI or whole-project validation.</a:t>
            </a:r>
            <a:endParaRPr sz="1900">
              <a:solidFill>
                <a:srgbClr val="B8C7AB"/>
              </a:solidFill>
              <a:latin typeface="Manrope"/>
              <a:ea typeface="Manrope"/>
              <a:cs typeface="Manrope"/>
            </a:endParaRPr>
          </a:p>
        </p:txBody>
      </p:sp>
    </p:spTree>
    <p:extLst>
      <p:ext uri="{BB962C8B-B14F-4D97-AF65-F5344CB8AC3E}">
        <p14:creationId xmlns:p14="http://schemas.microsoft.com/office/powerpoint/2010/main" val="307552279"/>
      </p:ext>
    </p:extLst>
  </p:cSld>
</p:sld>
</file>

<file path=ppt/slides/slide3.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DFE48758-14A9-44C0-A2CC-836A15F68535}"/>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5986D919-E229-4ABA-96CD-001E2F2E8546}"/>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LESSONS FROM REVIEW</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FBB1A3B3-2DA4-489E-8EFB-017BA1B25CE4}"/>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03</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2309D870-D76B-445E-BE76-8749D84DDF9F}"/>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Negative tests catch false positives</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299F6F40-C40A-4490-81A8-D1EA28D49980}"/>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9C9B5724-1456-4814-9E5D-A225757015F4}"/>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ACCIDENTAL MATCH</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2D339E40-78FD-49E0-A147-4B915366E107}"/>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EARLIER FIX: FILE-START CHECK</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FA08A004-7705-4E49-86B0-E8A3E12601BA}"/>
              </a:ext>
            </a:extLst>
          </p:cNvPr>
          <p:cNvSpPr>
            <a:spLocks xmlns:a="http://schemas.openxmlformats.org/drawingml/2006/main" noGrp="1"/>
          </p:cNvSpPr>
          <p:nvPr/>
        </p:nvSpPr>
        <p:spPr>
          <a:xfrm xmlns:a="http://schemas.openxmlformats.org/drawingml/2006/main">
            <a:off x="609600" y="2257425"/>
            <a:ext cx="1097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800">
                <a:solidFill>
                  <a:srgbClr val="F0E8D9"/>
                </a:solidFill>
                <a:latin typeface="Roboto Mono"/>
                <a:ea typeface="Roboto Mono"/>
                <a:cs typeface="Roboto Mono"/>
              </a:defRPr>
            </a:defPPr>
            <a:lvl1pPr>
              <a:defRPr sz="4800">
                <a:solidFill>
                  <a:srgbClr val="F0E8D9"/>
                </a:solidFill>
                <a:latin typeface="Roboto Mono"/>
                <a:ea typeface="Roboto Mono"/>
                <a:cs typeface="Roboto Mono"/>
              </a:defRPr>
            </a:lvl1pPr>
            <a:lvl2pPr>
              <a:defRPr sz="4800">
                <a:solidFill>
                  <a:srgbClr val="F0E8D9"/>
                </a:solidFill>
                <a:latin typeface="Roboto Mono"/>
                <a:ea typeface="Roboto Mono"/>
                <a:cs typeface="Roboto Mono"/>
              </a:defRPr>
            </a:lvl2pPr>
            <a:lvl3pPr>
              <a:defRPr sz="4800">
                <a:solidFill>
                  <a:srgbClr val="F0E8D9"/>
                </a:solidFill>
                <a:latin typeface="Roboto Mono"/>
                <a:ea typeface="Roboto Mono"/>
                <a:cs typeface="Roboto Mono"/>
              </a:defRPr>
            </a:lvl3pPr>
            <a:lvl4pPr>
              <a:defRPr sz="4800">
                <a:solidFill>
                  <a:srgbClr val="F0E8D9"/>
                </a:solidFill>
                <a:latin typeface="Roboto Mono"/>
                <a:ea typeface="Roboto Mono"/>
                <a:cs typeface="Roboto Mono"/>
              </a:defRPr>
            </a:lvl4pPr>
            <a:lvl5pPr>
              <a:defRPr sz="4800">
                <a:solidFill>
                  <a:srgbClr val="F0E8D9"/>
                </a:solidFill>
                <a:latin typeface="Roboto Mono"/>
                <a:ea typeface="Roboto Mono"/>
                <a:cs typeface="Roboto Mono"/>
              </a:defRPr>
            </a:lvl5pPr>
            <a:lvl6pPr>
              <a:defRPr sz="4800">
                <a:solidFill>
                  <a:srgbClr val="F0E8D9"/>
                </a:solidFill>
                <a:latin typeface="Roboto Mono"/>
                <a:ea typeface="Roboto Mono"/>
                <a:cs typeface="Roboto Mono"/>
              </a:defRPr>
            </a:lvl6pPr>
            <a:lvl7pPr>
              <a:defRPr sz="4800">
                <a:solidFill>
                  <a:srgbClr val="F0E8D9"/>
                </a:solidFill>
                <a:latin typeface="Roboto Mono"/>
                <a:ea typeface="Roboto Mono"/>
                <a:cs typeface="Roboto Mono"/>
              </a:defRPr>
            </a:lvl7pPr>
            <a:lvl8pPr>
              <a:defRPr sz="4800">
                <a:solidFill>
                  <a:srgbClr val="F0E8D9"/>
                </a:solidFill>
                <a:latin typeface="Roboto Mono"/>
                <a:ea typeface="Roboto Mono"/>
                <a:cs typeface="Roboto Mono"/>
              </a:defRPr>
            </a:lvl8pPr>
            <a:lvl9pPr>
              <a:defRPr sz="48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800">
                <a:solidFill>
                  <a:srgbClr val="F0E8D9"/>
                </a:solidFill>
                <a:latin typeface="Roboto Mono"/>
                <a:ea typeface="Roboto Mono"/>
                <a:cs typeface="Roboto Mono"/>
              </a:defRPr>
            </a:pPr>
            <a:r>
              <a:rPr sz="4800">
                <a:solidFill>
                  <a:srgbClr val="D99575"/>
                </a:solidFill>
                <a:latin typeface="Roboto Mono"/>
                <a:ea typeface="Roboto Mono"/>
                <a:cs typeface="Roboto Mono"/>
              </a:rPr>
              <a:t>x</a:t>
            </a:r>
            <a:r>
              <a:rPr sz="4800">
                <a:solidFill>
                  <a:srgbClr val="F0E8D9"/>
                </a:solidFill>
                <a:latin typeface="Roboto Mono"/>
                <a:ea typeface="Roboto Mono"/>
                <a:cs typeface="Roboto Mono"/>
              </a:rPr>
              <a:t>/bin/env python</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D4E8937C-10F5-4DAF-B7D2-7757E2EDA0AF}"/>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Matches the text after x</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Mistakes ordinary text for Python</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FC2F51B2-E2A8-4C51-976A-9286CEBFE1BD}"/>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No #! prefix at the start</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The Python rule does not match</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4343A830-9923-4DE0-8366-FDCD02F0FBA8}"/>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text/plain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1B8336E6-0542-4A7F-9852-13AE4656980E}"/>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text/x-python</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B2F3B98C-85E9-435E-BF31-287C6A2D2F57}"/>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x is at offset 0. /bin/env python begins at offset 1.</a:t>
            </a:r>
            <a:endParaRPr sz="1250">
              <a:solidFill>
                <a:srgbClr val="203B34"/>
              </a:solidFill>
              <a:latin typeface="Manrope"/>
              <a:ea typeface="Manrope"/>
              <a:cs typeface="Manrope"/>
            </a:endParaRPr>
          </a:p>
        </p:txBody>
      </p:sp>
      <p:sp>
        <p:nvSpPr>
          <p:cNvPr id="55" name="review-limit">
            <a:extLst xmlns:a="http://schemas.openxmlformats.org/drawingml/2006/main">
              <a:ext uri="{FF2B5EF4-FFF2-40B4-BE49-F238E27FC236}">
                <a16:creationId xmlns:a16="http://schemas.microsoft.com/office/drawing/2014/main" id="{9BD8D7BE-0AEA-4376-8424-1F685A25D622}"/>
              </a:ext>
            </a:extLst>
          </p:cNvPr>
          <p:cNvSpPr>
            <a:spLocks xmlns:a="http://schemas.openxmlformats.org/drawingml/2006/main" noGrp="1"/>
          </p:cNvSpPr>
          <p:nvPr/>
        </p:nvSpPr>
        <p:spPr>
          <a:xfrm xmlns:a="http://schemas.openxmlformats.org/drawingml/2006/main">
            <a:off x="609600" y="62007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50">
                <a:solidFill>
                  <a:srgbClr val="203B34"/>
                </a:solidFill>
                <a:latin typeface="Manrope"/>
                <a:ea typeface="Manrope"/>
                <a:cs typeface="Manrope"/>
              </a:defRPr>
            </a:defPPr>
            <a:lvl1pPr>
              <a:defRPr sz="1550">
                <a:solidFill>
                  <a:srgbClr val="203B34"/>
                </a:solidFill>
                <a:latin typeface="Manrope"/>
                <a:ea typeface="Manrope"/>
                <a:cs typeface="Manrope"/>
              </a:defRPr>
            </a:lvl1pPr>
            <a:lvl2pPr>
              <a:defRPr sz="1550">
                <a:solidFill>
                  <a:srgbClr val="203B34"/>
                </a:solidFill>
                <a:latin typeface="Manrope"/>
                <a:ea typeface="Manrope"/>
                <a:cs typeface="Manrope"/>
              </a:defRPr>
            </a:lvl2pPr>
            <a:lvl3pPr>
              <a:defRPr sz="1550">
                <a:solidFill>
                  <a:srgbClr val="203B34"/>
                </a:solidFill>
                <a:latin typeface="Manrope"/>
                <a:ea typeface="Manrope"/>
                <a:cs typeface="Manrope"/>
              </a:defRPr>
            </a:lvl3pPr>
            <a:lvl4pPr>
              <a:defRPr sz="1550">
                <a:solidFill>
                  <a:srgbClr val="203B34"/>
                </a:solidFill>
                <a:latin typeface="Manrope"/>
                <a:ea typeface="Manrope"/>
                <a:cs typeface="Manrope"/>
              </a:defRPr>
            </a:lvl4pPr>
            <a:lvl5pPr>
              <a:defRPr sz="1550">
                <a:solidFill>
                  <a:srgbClr val="203B34"/>
                </a:solidFill>
                <a:latin typeface="Manrope"/>
                <a:ea typeface="Manrope"/>
                <a:cs typeface="Manrope"/>
              </a:defRPr>
            </a:lvl5pPr>
            <a:lvl6pPr>
              <a:defRPr sz="1550">
                <a:solidFill>
                  <a:srgbClr val="203B34"/>
                </a:solidFill>
                <a:latin typeface="Manrope"/>
                <a:ea typeface="Manrope"/>
                <a:cs typeface="Manrope"/>
              </a:defRPr>
            </a:lvl6pPr>
            <a:lvl7pPr>
              <a:defRPr sz="1550">
                <a:solidFill>
                  <a:srgbClr val="203B34"/>
                </a:solidFill>
                <a:latin typeface="Manrope"/>
                <a:ea typeface="Manrope"/>
                <a:cs typeface="Manrope"/>
              </a:defRPr>
            </a:lvl7pPr>
            <a:lvl8pPr>
              <a:defRPr sz="1550">
                <a:solidFill>
                  <a:srgbClr val="203B34"/>
                </a:solidFill>
                <a:latin typeface="Manrope"/>
                <a:ea typeface="Manrope"/>
                <a:cs typeface="Manrope"/>
              </a:defRPr>
            </a:lvl8pPr>
            <a:lvl9pPr>
              <a:defRPr sz="1550">
                <a:solidFill>
                  <a:srgbClr val="203B34"/>
                </a:solidFill>
                <a:latin typeface="Manrope"/>
                <a:ea typeface="Manrope"/>
                <a:cs typeface="Manrope"/>
              </a:defRPr>
            </a:lvl9pPr>
          </a:lstStyle>
          <a:p xmlns:a="http://schemas.openxmlformats.org/drawingml/2006/main">
            <a:pPr>
              <a:defRPr sz="1550">
                <a:solidFill>
                  <a:srgbClr val="203B34"/>
                </a:solidFill>
                <a:latin typeface="Manrope"/>
                <a:ea typeface="Manrope"/>
                <a:cs typeface="Manrope"/>
              </a:defRPr>
            </a:pPr>
            <a:r>
              <a:rPr sz="1550">
                <a:solidFill>
                  <a:srgbClr val="203B34"/>
                </a:solidFill>
                <a:latin typeface="Manrope"/>
                <a:ea typeface="Manrope"/>
                <a:cs typeface="Manrope"/>
              </a:rPr>
              <a:t>Kyubin checked the earlier fix separately. A permanent regression test is deferred.</a:t>
            </a:r>
          </a:p>
        </p:txBody>
      </p:sp>
    </p:spTree>
    <p:extLst>
      <p:ext uri="{BB962C8B-B14F-4D97-AF65-F5344CB8AC3E}">
        <p14:creationId xmlns:p14="http://schemas.microsoft.com/office/powerpoint/2010/main" val="263949053"/>
      </p:ext>
    </p:extLst>
  </p:cSld>
</p:sld>
</file>

<file path=ppt/slides/slide4.xml><?xml version="1.0" encoding="utf-8"?>
<p:sld xmlns:p="http://schemas.openxmlformats.org/presentationml/2006/main">
  <p:cSld>
    <p:bg>
      <p:bgPr>
        <a:solidFill xmlns:a="http://schemas.openxmlformats.org/drawingml/2006/main">
          <a:srgbClr val="F0E8D9"/>
        </a:solidFill>
      </p:bgPr>
    </p:bg>
    <p:spTree>
      <p:nvGrpSpPr>
        <p:cNvPr id="1" name=""/>
        <p:cNvGrpSpPr/>
        <p:nvPr/>
      </p:nvGrpSpPr>
      <p:grpSpPr>
        <a:xfrm xmlns:a="http://schemas.openxmlformats.org/drawingml/2006/main"/>
      </p:grpSpPr>
      <p:sp>
        <p:nvSpPr>
          <p:cNvPr id="60" name="Google Shape;60;p10">
            <a:extLst xmlns:a="http://schemas.openxmlformats.org/drawingml/2006/main">
              <a:ext uri="{FF2B5EF4-FFF2-40B4-BE49-F238E27FC236}">
                <a16:creationId xmlns:a16="http://schemas.microsoft.com/office/drawing/2014/main" id="{D780B256-EC9E-420E-A747-E3927BC58D66}"/>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203B34"/>
                </a:solidFill>
                <a:latin typeface="Manrope"/>
                <a:ea typeface="Manrope"/>
                <a:cs typeface="Manrope"/>
              </a:rPr>
              <a:t>TIKA-4408 / LESSONS AND NEXT TIME</a:t>
            </a:r>
            <a:endParaRPr sz="1050" b="1">
              <a:solidFill>
                <a:srgbClr val="203B34"/>
              </a:solidFill>
              <a:latin typeface="Manrope"/>
              <a:ea typeface="Manrope"/>
              <a:cs typeface="Manrope"/>
            </a:endParaRPr>
          </a:p>
        </p:txBody>
      </p:sp>
      <p:sp>
        <p:nvSpPr>
          <p:cNvPr id="61" name="Google Shape;61;p10">
            <a:extLst xmlns:a="http://schemas.openxmlformats.org/drawingml/2006/main">
              <a:ext uri="{FF2B5EF4-FFF2-40B4-BE49-F238E27FC236}">
                <a16:creationId xmlns:a16="http://schemas.microsoft.com/office/drawing/2014/main" id="{96C02A87-4351-418E-B26B-F3C8063A86A2}"/>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04</a:t>
            </a:r>
            <a:endParaRPr sz="1000">
              <a:solidFill>
                <a:srgbClr val="52665B"/>
              </a:solidFill>
              <a:latin typeface="Manrope"/>
              <a:ea typeface="Manrope"/>
              <a:cs typeface="Manrope"/>
            </a:endParaRPr>
          </a:p>
        </p:txBody>
      </p:sp>
      <p:sp>
        <p:nvSpPr>
          <p:cNvPr id="62" name="Google Shape;62;p10">
            <a:extLst xmlns:a="http://schemas.openxmlformats.org/drawingml/2006/main">
              <a:ext uri="{FF2B5EF4-FFF2-40B4-BE49-F238E27FC236}">
                <a16:creationId xmlns:a16="http://schemas.microsoft.com/office/drawing/2014/main" id="{0122C7E9-8C16-4483-B227-1E2A81DB304E}"/>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203B34"/>
                </a:solidFill>
                <a:latin typeface="Manrope"/>
                <a:ea typeface="Manrope"/>
                <a:cs typeface="Manrope"/>
              </a:rPr>
              <a:t>What I learned and would change</a:t>
            </a:r>
            <a:endParaRPr sz="3200" b="1">
              <a:solidFill>
                <a:srgbClr val="203B34"/>
              </a:solidFill>
              <a:latin typeface="Manrope"/>
              <a:ea typeface="Manrope"/>
              <a:cs typeface="Manrope"/>
            </a:endParaRPr>
          </a:p>
        </p:txBody>
      </p:sp>
      <p:sp>
        <p:nvSpPr>
          <p:cNvPr id="63" name="Google Shape;63;p10">
            <a:extLst xmlns:a="http://schemas.openxmlformats.org/drawingml/2006/main">
              <a:ext uri="{FF2B5EF4-FFF2-40B4-BE49-F238E27FC236}">
                <a16:creationId xmlns:a16="http://schemas.microsoft.com/office/drawing/2014/main" id="{1A57919E-0F93-4978-9620-FDC78E696AF3}"/>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Jiajun Li / TIKA-4408</a:t>
            </a:r>
            <a:endParaRPr sz="1000">
              <a:solidFill>
                <a:srgbClr val="52665B"/>
              </a:solidFill>
              <a:latin typeface="Manrope"/>
              <a:ea typeface="Manrope"/>
              <a:cs typeface="Manrope"/>
            </a:endParaRPr>
          </a:p>
        </p:txBody>
      </p:sp>
      <p:sp>
        <p:nvSpPr>
          <p:cNvPr id="64" name="Google Shape;64;p10">
            <a:extLst xmlns:a="http://schemas.openxmlformats.org/drawingml/2006/main">
              <a:ext uri="{FF2B5EF4-FFF2-40B4-BE49-F238E27FC236}">
                <a16:creationId xmlns:a16="http://schemas.microsoft.com/office/drawing/2014/main" id="{DA9B0A24-0670-4ACB-8608-1734C82B2435}"/>
              </a:ext>
            </a:extLst>
          </p:cNvPr>
          <p:cNvSpPr>
            <a:spLocks xmlns:a="http://schemas.openxmlformats.org/drawingml/2006/main" noGrp="1"/>
          </p:cNvSpPr>
          <p:nvPr/>
        </p:nvSpPr>
        <p:spPr>
          <a:xfrm xmlns:a="http://schemas.openxmlformats.org/drawingml/2006/main">
            <a:off x="609600" y="20320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A14F37"/>
                </a:solidFill>
                <a:latin typeface="Manrope"/>
                <a:ea typeface="Manrope"/>
                <a:cs typeface="Manrope"/>
              </a:rPr>
              <a:t>Understand rule interactions</a:t>
            </a:r>
            <a:endParaRPr sz="1600" b="1">
              <a:solidFill>
                <a:srgbClr val="A14F37"/>
              </a:solidFill>
              <a:latin typeface="Manrope"/>
              <a:ea typeface="Manrope"/>
              <a:cs typeface="Manrope"/>
            </a:endParaRPr>
          </a:p>
        </p:txBody>
      </p:sp>
      <p:sp>
        <p:nvSpPr>
          <p:cNvPr id="65" name="Google Shape;65;p10">
            <a:extLst xmlns:a="http://schemas.openxmlformats.org/drawingml/2006/main">
              <a:ext uri="{FF2B5EF4-FFF2-40B4-BE49-F238E27FC236}">
                <a16:creationId xmlns:a16="http://schemas.microsoft.com/office/drawing/2014/main" id="{9B9DA8E0-75C6-4D14-BE86-5437516505BC}"/>
              </a:ext>
            </a:extLst>
          </p:cNvPr>
          <p:cNvSpPr>
            <a:spLocks xmlns:a="http://schemas.openxmlformats.org/drawingml/2006/main" noGrp="1"/>
          </p:cNvSpPr>
          <p:nvPr/>
        </p:nvSpPr>
        <p:spPr>
          <a:xfrm xmlns:a="http://schemas.openxmlformats.org/drawingml/2006/main">
            <a:off x="4572000" y="20066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Trace competing rules and write the expected</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behavior before changing the implementation.</a:t>
            </a:r>
            <a:endParaRPr sz="2000">
              <a:solidFill>
                <a:srgbClr val="203B34"/>
              </a:solidFill>
              <a:latin typeface="Manrope"/>
              <a:ea typeface="Manrope"/>
              <a:cs typeface="Manrope"/>
            </a:endParaRPr>
          </a:p>
        </p:txBody>
      </p:sp>
      <p:sp>
        <p:nvSpPr>
          <p:cNvPr id="66" name="Google Shape;66;p10">
            <a:extLst xmlns:a="http://schemas.openxmlformats.org/drawingml/2006/main">
              <a:ext uri="{FF2B5EF4-FFF2-40B4-BE49-F238E27FC236}">
                <a16:creationId xmlns:a16="http://schemas.microsoft.com/office/drawing/2014/main" id="{9CD38A49-C457-413D-BD78-A51D2EF43CA6}"/>
              </a:ext>
            </a:extLst>
          </p:cNvPr>
          <p:cNvSpPr>
            <a:spLocks xmlns:a="http://schemas.openxmlformats.org/drawingml/2006/main" noGrp="1"/>
          </p:cNvSpPr>
          <p:nvPr/>
        </p:nvSpPr>
        <p:spPr>
          <a:xfrm xmlns:a="http://schemas.openxmlformats.org/drawingml/2006/main">
            <a:off x="609600" y="30734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Plan broader coverage earlier</a:t>
            </a:r>
            <a:endParaRPr sz="1600" b="1">
              <a:solidFill>
                <a:srgbClr val="203B34"/>
              </a:solidFill>
              <a:latin typeface="Manrope"/>
              <a:ea typeface="Manrope"/>
              <a:cs typeface="Manrope"/>
            </a:endParaRPr>
          </a:p>
        </p:txBody>
      </p:sp>
      <p:sp>
        <p:nvSpPr>
          <p:cNvPr id="67" name="Google Shape;67;p10">
            <a:extLst xmlns:a="http://schemas.openxmlformats.org/drawingml/2006/main">
              <a:ext uri="{FF2B5EF4-FFF2-40B4-BE49-F238E27FC236}">
                <a16:creationId xmlns:a16="http://schemas.microsoft.com/office/drawing/2014/main" id="{5326D100-6C1D-4DE2-94DB-7DEACEE915B4}"/>
              </a:ext>
            </a:extLst>
          </p:cNvPr>
          <p:cNvSpPr>
            <a:spLocks xmlns:a="http://schemas.openxmlformats.org/drawingml/2006/main" noGrp="1"/>
          </p:cNvSpPr>
          <p:nvPr/>
        </p:nvSpPr>
        <p:spPr>
          <a:xfrm xmlns:a="http://schemas.openxmlformats.org/drawingml/2006/main">
            <a:off x="4572000" y="30480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Build an initial test matrix for Python, Shell,</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filename hints and boundary cases.</a:t>
            </a:r>
            <a:endParaRPr sz="2000">
              <a:solidFill>
                <a:srgbClr val="203B34"/>
              </a:solidFill>
              <a:latin typeface="Manrope"/>
              <a:ea typeface="Manrope"/>
              <a:cs typeface="Manrope"/>
            </a:endParaRPr>
          </a:p>
        </p:txBody>
      </p:sp>
      <p:sp>
        <p:nvSpPr>
          <p:cNvPr id="68" name="Google Shape;68;p10">
            <a:extLst xmlns:a="http://schemas.openxmlformats.org/drawingml/2006/main">
              <a:ext uri="{FF2B5EF4-FFF2-40B4-BE49-F238E27FC236}">
                <a16:creationId xmlns:a16="http://schemas.microsoft.com/office/drawing/2014/main" id="{B4837A24-8F79-417F-8240-E2D90F609D37}"/>
              </a:ext>
            </a:extLst>
          </p:cNvPr>
          <p:cNvSpPr>
            <a:spLocks xmlns:a="http://schemas.openxmlformats.org/drawingml/2006/main" noGrp="1"/>
          </p:cNvSpPr>
          <p:nvPr/>
        </p:nvSpPr>
        <p:spPr>
          <a:xfrm xmlns:a="http://schemas.openxmlformats.org/drawingml/2006/main">
            <a:off x="609600" y="41148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Preserve useful review checks</a:t>
            </a:r>
            <a:endParaRPr sz="1600" b="1">
              <a:solidFill>
                <a:srgbClr val="203B34"/>
              </a:solidFill>
              <a:latin typeface="Manrope"/>
              <a:ea typeface="Manrope"/>
              <a:cs typeface="Manrope"/>
            </a:endParaRPr>
          </a:p>
        </p:txBody>
      </p:sp>
      <p:sp>
        <p:nvSpPr>
          <p:cNvPr id="69" name="Google Shape;69;p10">
            <a:extLst xmlns:a="http://schemas.openxmlformats.org/drawingml/2006/main">
              <a:ext uri="{FF2B5EF4-FFF2-40B4-BE49-F238E27FC236}">
                <a16:creationId xmlns:a16="http://schemas.microsoft.com/office/drawing/2014/main" id="{2AFE3487-E02B-4EB7-A5FE-D106829FF781}"/>
              </a:ext>
            </a:extLst>
          </p:cNvPr>
          <p:cNvSpPr>
            <a:spLocks xmlns:a="http://schemas.openxmlformats.org/drawingml/2006/main" noGrp="1"/>
          </p:cNvSpPr>
          <p:nvPr/>
        </p:nvSpPr>
        <p:spPr>
          <a:xfrm xmlns:a="http://schemas.openxmlformats.org/drawingml/2006/main">
            <a:off x="4572000" y="40894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Turn probes such as x/bin/env python into</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permanent automated regression tests.</a:t>
            </a:r>
            <a:endParaRPr sz="2000">
              <a:solidFill>
                <a:srgbClr val="203B34"/>
              </a:solidFill>
              <a:latin typeface="Manrope"/>
              <a:ea typeface="Manrope"/>
              <a:cs typeface="Manrope"/>
            </a:endParaRPr>
          </a:p>
        </p:txBody>
      </p:sp>
      <p:sp>
        <p:nvSpPr>
          <p:cNvPr id="70" name="Google Shape;70;p10">
            <a:extLst xmlns:a="http://schemas.openxmlformats.org/drawingml/2006/main">
              <a:ext uri="{FF2B5EF4-FFF2-40B4-BE49-F238E27FC236}">
                <a16:creationId xmlns:a16="http://schemas.microsoft.com/office/drawing/2014/main" id="{FF7504C3-DFE5-490E-A973-4705DCC78783}"/>
              </a:ext>
            </a:extLst>
          </p:cNvPr>
          <p:cNvSpPr>
            <a:spLocks xmlns:a="http://schemas.openxmlformats.org/drawingml/2006/main" noGrp="1"/>
          </p:cNvSpPr>
          <p:nvPr/>
        </p:nvSpPr>
        <p:spPr>
          <a:xfrm xmlns:a="http://schemas.openxmlformats.org/drawingml/2006/main">
            <a:off x="609600" y="51562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Keep the useful workflow</a:t>
            </a:r>
            <a:endParaRPr sz="1600" b="1">
              <a:solidFill>
                <a:srgbClr val="203B34"/>
              </a:solidFill>
              <a:latin typeface="Manrope"/>
              <a:ea typeface="Manrope"/>
              <a:cs typeface="Manrope"/>
            </a:endParaRPr>
          </a:p>
        </p:txBody>
      </p:sp>
      <p:sp>
        <p:nvSpPr>
          <p:cNvPr id="71" name="Google Shape;71;p10">
            <a:extLst xmlns:a="http://schemas.openxmlformats.org/drawingml/2006/main">
              <a:ext uri="{FF2B5EF4-FFF2-40B4-BE49-F238E27FC236}">
                <a16:creationId xmlns:a16="http://schemas.microsoft.com/office/drawing/2014/main" id="{935884B8-6389-4BC6-B711-9413E3DC09BC}"/>
              </a:ext>
            </a:extLst>
          </p:cNvPr>
          <p:cNvSpPr>
            <a:spLocks xmlns:a="http://schemas.openxmlformats.org/drawingml/2006/main" noGrp="1"/>
          </p:cNvSpPr>
          <p:nvPr/>
        </p:nvSpPr>
        <p:spPr>
          <a:xfrm xmlns:a="http://schemas.openxmlformats.org/drawingml/2006/main">
            <a:off x="4572000" y="51308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Continue reproducing first and comparing the</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same checks before and after a focused fix.</a:t>
            </a:r>
            <a:endParaRPr sz="2000">
              <a:solidFill>
                <a:srgbClr val="203B34"/>
              </a:solidFill>
              <a:latin typeface="Manrope"/>
              <a:ea typeface="Manrope"/>
              <a:cs typeface="Manrope"/>
            </a:endParaRPr>
          </a:p>
        </p:txBody>
      </p:sp>
    </p:spTree>
    <p:extLst>
      <p:ext uri="{BB962C8B-B14F-4D97-AF65-F5344CB8AC3E}">
        <p14:creationId xmlns:p14="http://schemas.microsoft.com/office/powerpoint/2010/main" val="376606384"/>
      </p:ext>
    </p:extLst>
  </p:cSld>
</p:sld>
</file>

<file path=ppt/theme/theme1.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2026-10-25T00:34:40.6300000Z</dcterms:created>
  <dcterms:modified xsi:type="dcterms:W3CDTF">2026-10-25T00:34:40.6300000Z</dcterms:modified>
</coreProperties>
</file>