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6d3b5855484976" /><Relationship Type="http://schemas.openxmlformats.org/officeDocument/2006/relationships/extended-properties" Target="/docProps/app.xml" Id="Rbc7ccb18cd0d4dcc" /><Relationship Type="http://schemas.openxmlformats.org/officeDocument/2006/relationships/officeDocument" Target="/ppt/presentation.xml" Id="R2f4b9b6d612e4a8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2aebb96aa654afe"/>
    <p:sldMasterId xmlns:r="http://schemas.openxmlformats.org/officeDocument/2006/relationships" id="2147483650" r:id="R9b317e4680844705"/>
  </p:sldMasterIdLst>
  <p:notesMasterIdLst>
    <p:notesMasterId xmlns:r="http://schemas.openxmlformats.org/officeDocument/2006/relationships" r:id="R366200491ee54460"/>
  </p:notesMasterIdLst>
  <p:sldIdLst>
    <p:sldId xmlns:r="http://schemas.openxmlformats.org/officeDocument/2006/relationships" id="256" r:id="Rfa9ad06b10af4ad6"/>
  </p:sldIdLst>
  <p:sldSz cx="12192000" cy="6858000"/>
  <p:notesSz cx="6858000" cy="9144000"/>
  <p:embeddedFontLst>
    <p:embeddedFont>
      <p:font typeface="Manrope"/>
      <p:regular xmlns:r="http://schemas.openxmlformats.org/officeDocument/2006/relationships" r:id="R5a681580fe0f45fd"/>
      <p:bold xmlns:r="http://schemas.openxmlformats.org/officeDocument/2006/relationships" r:id="Rc08e8c2c71a64a81"/>
    </p:embeddedFont>
    <p:embeddedFont>
      <p:font typeface="Roboto Mono"/>
      <p:regular xmlns:r="http://schemas.openxmlformats.org/officeDocument/2006/relationships" r:id="R1be7e00b06aa4e9b"/>
      <p:bold xmlns:r="http://schemas.openxmlformats.org/officeDocument/2006/relationships" r:id="Reb2104c9a57d43a9"/>
      <p:italic xmlns:r="http://schemas.openxmlformats.org/officeDocument/2006/relationships" r:id="Rfa292389e5384754"/>
      <p:boldItalic xmlns:r="http://schemas.openxmlformats.org/officeDocument/2006/relationships" r:id="R4428c0c4b8764df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bdb4058a50453b" /><Relationship Type="http://schemas.openxmlformats.org/officeDocument/2006/relationships/slideMaster" Target="/ppt/slideMasters/slideMaster1.xml" Id="R52aebb96aa654afe" /><Relationship Type="http://schemas.openxmlformats.org/officeDocument/2006/relationships/slideMaster" Target="/ppt/slideMasters/slideMaster2.xml" Id="R9b317e4680844705" /><Relationship Type="http://schemas.openxmlformats.org/officeDocument/2006/relationships/notesMaster" Target="/ppt/notesMasters/notesMaster1.xml" Id="R366200491ee54460" /><Relationship Type="http://schemas.openxmlformats.org/officeDocument/2006/relationships/presProps" Target="/ppt/presProps.xml" Id="R4919334c004746cb" /><Relationship Type="http://schemas.openxmlformats.org/officeDocument/2006/relationships/tableStyles" Target="/ppt/tableStyles.xml" Id="Rc6166b94eaf54015" /><Relationship Type="http://schemas.openxmlformats.org/officeDocument/2006/relationships/font" Target="/ppt/fonts/font.dat" Id="R5a681580fe0f45fd" /><Relationship Type="http://schemas.openxmlformats.org/officeDocument/2006/relationships/font" Target="/ppt/fonts/font2.dat" Id="Rc08e8c2c71a64a81" /><Relationship Type="http://schemas.openxmlformats.org/officeDocument/2006/relationships/font" Target="/ppt/fonts/font3.dat" Id="R1be7e00b06aa4e9b" /><Relationship Type="http://schemas.openxmlformats.org/officeDocument/2006/relationships/font" Target="/ppt/fonts/font4.dat" Id="Reb2104c9a57d43a9" /><Relationship Type="http://schemas.openxmlformats.org/officeDocument/2006/relationships/font" Target="/ppt/fonts/font5.dat" Id="Rfa292389e5384754" /><Relationship Type="http://schemas.openxmlformats.org/officeDocument/2006/relationships/font" Target="/ppt/fonts/font6.dat" Id="R4428c0c4b8764dfa" /><Relationship Type="http://schemas.openxmlformats.org/officeDocument/2006/relationships/slide" Target="/ppt/slides/slide1.xml" Id="Rfa9ad06b10af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9bc7479cbf4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283a8f7b04754" /><Relationship Type="http://schemas.openxmlformats.org/officeDocument/2006/relationships/notesMaster" Target="/ppt/notesMasters/notesMaster1.xml" Id="R1648bcd0dbcb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Author and presenter: Kyubin Park.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assistance: Codex helped clarify URL fragment semantics, draft the slide and suggested script, and adapt the group template.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Suggested speaking script, approximately 55 seconds: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challenge was deciding what correct behavior should mean when the input is ambiguous. Take filename.txt hash file2.csv. As a filesystem name, the hash belongs to the name and the final extension is CSV. As a URL reference, the path ends at filename.txt and file2.csv is a fragment. That fragment does not automatically identify another CSV file. TIKA-4431 exposed this boundary: adding a hash to a CSV filename changed detection to plain text, even though the content stayed the same. Simply keeping or removing every hash would mishandle one of these interpretations. We needed a policy for filename-like inputs and explicit URLs, then regression tests that protect both. The lesson was that tests can preserve a decision, but first we have to decide what behavior we intend.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scope: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illustrated name is an explanatory example. The reported reproducer is Lorem-Ipsum#123.csv. The slide compares filename extension hints, not a guarantee of file content or server Content-Type.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bare filename-like string can also be a relative URL reference. An explicit example is https://example.test/filename.txt#file2.csv. The fragment semantics depend on the representation, and may be undefined for that particular text resource.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inspected local patch treats a hash before the last raw dot before a question mark as literal when the parsed input has neither a scheme nor an authority. Explicit URLs retain URI fragment semantics. This is the policy represented by the local patch, not a universal way to infer caller intent.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https://issues.apache.org/jira/browse/TIKA-4431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https://www.rfc-editor.org/rfc/rfc3986#section-3.5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https://www.rfc-editor.org/rfc/rfc3986#section-4.2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reference: tika-core/src/main/java/org/apache/tika/mime/MimeTypes.java, local TIKA-4431 patch, lines 577-590.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Regression reference: tika-core/src/test/java/org/apache/tika/TikaDetectionTest.java, local TIKA-4431 patch, lines 54-77.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new build or test run is asserted by this slide. No claim of upstream acceptance or merge is made.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e39a715234e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1d0987e9ae40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35e13f008547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871d7bb214f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b304be652a4b77" /></Relationships>
</file>

<file path=ppt/slideLayouts/slideLayout1.xml><?xml version="1.0" encoding="utf-8"?>
<p:sldLayout xmlns:p="http://schemas.openxmlformats.org/presentationml/2006/main" matchingName="A4 - Title">
  <p:cSld name="A4 -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C100767-00C6-444B-970A-8E277D00A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428750"/>
            <a:ext cx="10477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33BC48A-E610-4DCE-B6DB-9C80D2C6FE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A4 - Explanation and visual">
  <p:cSld name="A4 - Explanation and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CED5DE22-EA14-45E7-99D5-92AFE56D8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5608EF53-DD0A-4501-91D4-604A742D54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4476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172251A-9938-4EB6-9D5E-9F8A88CD7E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581650" y="2000250"/>
            <a:ext cx="6000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A4 - Two columns">
  <p:cSld name="A4 -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5B151365-FF02-4958-9BF9-74E9946BA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611B93BC-950A-4ACF-833E-C02B77ED06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394E3D4-6B65-4954-854A-7CB3C0729E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4365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A4 - Title and content">
  <p:cSld name="A4 -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B78F864E-AFC8-4EFC-8409-B2D60924B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F51EBEE0-DF59-4EF5-A9CA-4122C6C1E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52625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A4 - Large visual">
  <p:cSld name="A4 - Large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81EEA9D0-67EF-4645-B8B1-95B99D8DC9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E255E37C-2C47-47C7-8FFF-033A4D99C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52c8cf1f64118" /><Relationship Type="http://schemas.openxmlformats.org/officeDocument/2006/relationships/slideLayout" Target="/ppt/slideLayouts/slideLayout1.xml" Id="Refde41c4791f4ca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03a7864a7a14d4e" /><Relationship Type="http://schemas.openxmlformats.org/officeDocument/2006/relationships/slideLayout" Target="/ppt/slideLayouts/slideLayout2.xml" Id="R5351ea83658a4313" /><Relationship Type="http://schemas.openxmlformats.org/officeDocument/2006/relationships/slideLayout" Target="/ppt/slideLayouts/slideLayout3.xml" Id="R2e893ca62d964bc7" /><Relationship Type="http://schemas.openxmlformats.org/officeDocument/2006/relationships/slideLayout" Target="/ppt/slideLayouts/slideLayout4.xml" Id="R67f31dc8004e408b" /><Relationship Type="http://schemas.openxmlformats.org/officeDocument/2006/relationships/slideLayout" Target="/ppt/slideLayouts/slideLayout5.xml" Id="Rb1c07032c36a499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e41c4791f4ca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351ea83658a4313"/>
    <p:sldLayoutId xmlns:r="http://schemas.openxmlformats.org/officeDocument/2006/relationships" id="2147483652" r:id="R2e893ca62d964bc7"/>
    <p:sldLayoutId xmlns:r="http://schemas.openxmlformats.org/officeDocument/2006/relationships" id="2147483653" r:id="R67f31dc8004e408b"/>
    <p:sldLayoutId xmlns:r="http://schemas.openxmlformats.org/officeDocument/2006/relationships" id="2147483654" r:id="Rb1c07032c36a499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f2f50a04cf4bd7" /><Relationship Type="http://schemas.openxmlformats.org/officeDocument/2006/relationships/notesSlide" Target="/ppt/notesSlides/notesSlide1.xml" Id="R0501df85b54341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00800A4B-158C-48C2-9DBB-2E36FB5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35400"/>
            <a:ext cx="12192000" cy="30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423D4A9B-5460-41B8-A391-4F29A36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9651900" cy="27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rPr>
              <a:t>PROJECT CHALLENGES / TIKA-4431</a:t>
            </a:r>
            <a:endParaRPr sz="1100">
              <a:solidFill>
                <a:srgbClr val="B8C7AB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45" name="Google Shape;45;p9">
            <a:extLst xmlns:a="http://schemas.openxmlformats.org/drawingml/2006/main">
              <a:ext uri="{FF2B5EF4-FFF2-40B4-BE49-F238E27FC236}">
                <a16:creationId xmlns:a16="http://schemas.microsoft.com/office/drawing/2014/main" id="{EFD97C2C-F810-4C31-BA73-E9CA2BA53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52500"/>
            <a:ext cx="109728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Defining correct behavior</a:t>
            </a:r>
            <a:endParaRPr sz="35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759DC111-B1E6-4874-A349-437F901E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8600"/>
            <a:ext cx="3962400" cy="20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Kyubin Park</a:t>
            </a:r>
            <a:endParaRPr sz="9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673DA78F-E67A-4FA0-8580-B0A1125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0799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A14F37"/>
                </a:solidFill>
                <a:latin typeface="Manrope"/>
                <a:ea typeface="Manrope"/>
                <a:cs typeface="Manrope"/>
              </a:rPr>
              <a:t>LITERAL FILENAME</a:t>
            </a:r>
            <a:endParaRPr sz="1200" b="1">
              <a:solidFill>
                <a:srgbClr val="A14F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0582C36B-24EA-4464-99D1-10889F19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152900"/>
            <a:ext cx="49785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URL REFERENCE</a:t>
            </a:r>
            <a:endParaRPr sz="12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BB19D36D-E11D-46EE-A5D5-FD8FC3C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10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filename.txt</a:t>
            </a:r>
            <a:r>
              <a:rPr sz="4800">
                <a:solidFill>
                  <a:srgbClr val="D99575"/>
                </a:solidFill>
                <a:latin typeface="Roboto Mono"/>
                <a:ea typeface="Roboto Mono"/>
                <a:cs typeface="Roboto Mono"/>
              </a:rPr>
              <a:t>#</a:t>
            </a:r>
            <a:r>
              <a:rPr sz="4800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file2.csv</a:t>
            </a:r>
            <a:endParaRPr sz="4800">
              <a:solidFill>
                <a:srgbClr val="F0E8D9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C7E6C191-CF51-44BE-B418-AEAF4A4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filename.txt#file2.csv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# belongs to the name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37CCD4EE-621A-4267-B7CB-11929F01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673600"/>
            <a:ext cx="497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t">
            <a:noAutofit/>
          </a:bodyPr>
          <a:lstStyle xmlns:a="http://schemas.openxmlformats.org/drawingml/2006/main">
            <a:def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defPPr>
            <a:lvl1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1pPr>
            <a:lvl2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2pPr>
            <a:lvl3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3pPr>
            <a:lvl4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4pPr>
            <a:lvl5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5pPr>
            <a:lvl6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6pPr>
            <a:lvl7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7pPr>
            <a:lvl8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8pPr>
            <a:lvl9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path: filename.txt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fragment: file2.csv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2" name="Google Shape;52;p9">
            <a:extLst xmlns:a="http://schemas.openxmlformats.org/drawingml/2006/main">
              <a:ext uri="{FF2B5EF4-FFF2-40B4-BE49-F238E27FC236}">
                <a16:creationId xmlns:a16="http://schemas.microsoft.com/office/drawing/2014/main" id="{57C00220-F9E9-4F9A-98D0-B6D7494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62600"/>
            <a:ext cx="49785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TXT extension</a:t>
            </a:r>
            <a:endParaRPr sz="2600" b="1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3" name="Google Shape;53;p9">
            <a:extLst xmlns:a="http://schemas.openxmlformats.org/drawingml/2006/main">
              <a:ext uri="{FF2B5EF4-FFF2-40B4-BE49-F238E27FC236}">
                <a16:creationId xmlns:a16="http://schemas.microsoft.com/office/drawing/2014/main" id="{4F7EE224-A1CC-47FD-92C2-FB6E875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3340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A14F37"/>
                </a:solidFill>
                <a:latin typeface="Roboto Mono"/>
                <a:ea typeface="Roboto Mono"/>
                <a:cs typeface="Roboto Mono"/>
              </a:rPr>
              <a:t>CSV extension</a:t>
            </a:r>
            <a:endParaRPr sz="2600" b="1">
              <a:solidFill>
                <a:srgbClr val="A14F37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4" name="Google Shape;54;p9">
            <a:extLst xmlns:a="http://schemas.openxmlformats.org/drawingml/2006/main">
              <a:ext uri="{FF2B5EF4-FFF2-40B4-BE49-F238E27FC236}">
                <a16:creationId xmlns:a16="http://schemas.microsoft.com/office/drawing/2014/main" id="{CEF19A96-4FA8-438B-AC56-C8E371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7600"/>
            <a:ext cx="10972800" cy="35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b="1"/>
            </a:defPPr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b="1"/>
            </a:pPr>
            <a:r>
              <a:rPr sz="125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We needed a policy for ambiguous input, then tests for both interpretations.</a:t>
            </a:r>
            <a:endParaRPr sz="125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43491825"/>
      </p:ext>
    </p:extLst>
  </p:cSld>
</p:sld>
</file>

<file path=ppt/theme/theme1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2026-10-25T10:00:59.8660000Z</dcterms:created>
  <dcterms:modified xsi:type="dcterms:W3CDTF">2026-10-25T10:00:59.8660000Z</dcterms:modified>
</coreProperties>
</file>