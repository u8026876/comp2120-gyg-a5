
<file path=[Content_Types].xml><?xml version="1.0" encoding="utf-8"?>
<Types xmlns="http://schemas.openxmlformats.org/package/2006/content-types">
  <Default Extension="xml" ContentType="application/vnd.openxmlformats-package.core-properties+xml"/>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93f8c5ac1074a50" /><Relationship Type="http://schemas.openxmlformats.org/officeDocument/2006/relationships/extended-properties" Target="/docProps/app.xml" Id="R87462e8d7aed4498" /><Relationship Type="http://schemas.openxmlformats.org/officeDocument/2006/relationships/officeDocument" Target="/ppt/presentation.xml" Id="R4cda9089b9984aa5"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c22f1b1f69ef4d04"/>
    <p:sldMasterId xmlns:r="http://schemas.openxmlformats.org/officeDocument/2006/relationships" id="2147483650" r:id="R39eb23cd59804ffd"/>
  </p:sldMasterIdLst>
  <p:notesMasterIdLst>
    <p:notesMasterId xmlns:r="http://schemas.openxmlformats.org/officeDocument/2006/relationships" r:id="Rf05da2e7f0e94255"/>
  </p:notesMasterIdLst>
  <p:sldIdLst>
    <p:sldId xmlns:r="http://schemas.openxmlformats.org/officeDocument/2006/relationships" id="256" r:id="Re1060653792a4619"/>
  </p:sldIdLst>
  <p:sldSz cx="12192000" cy="6858000"/>
  <p:notesSz cx="6858000" cy="9144000"/>
  <p:embeddedFontLst>
    <p:embeddedFont>
      <p:font typeface="Manrope"/>
      <p:regular xmlns:r="http://schemas.openxmlformats.org/officeDocument/2006/relationships" r:id="R0c0448522f814aed"/>
      <p:bold xmlns:r="http://schemas.openxmlformats.org/officeDocument/2006/relationships" r:id="R6d24ee4fb58f45ae"/>
    </p:embeddedFont>
    <p:embeddedFont>
      <p:font typeface="Roboto Mono"/>
      <p:regular xmlns:r="http://schemas.openxmlformats.org/officeDocument/2006/relationships" r:id="Rf780fbdbd2184588"/>
      <p:bold xmlns:r="http://schemas.openxmlformats.org/officeDocument/2006/relationships" r:id="R25777fd01a724908"/>
      <p:italic xmlns:r="http://schemas.openxmlformats.org/officeDocument/2006/relationships" r:id="Rc69280ec67ff43d0"/>
      <p:boldItalic xmlns:r="http://schemas.openxmlformats.org/officeDocument/2006/relationships" r:id="Rf915c2489339446a"/>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1352fa69784448a" /><Relationship Type="http://schemas.openxmlformats.org/officeDocument/2006/relationships/slideMaster" Target="/ppt/slideMasters/slideMaster1.xml" Id="Rc22f1b1f69ef4d04" /><Relationship Type="http://schemas.openxmlformats.org/officeDocument/2006/relationships/slideMaster" Target="/ppt/slideMasters/slideMaster2.xml" Id="R39eb23cd59804ffd" /><Relationship Type="http://schemas.openxmlformats.org/officeDocument/2006/relationships/notesMaster" Target="/ppt/notesMasters/notesMaster1.xml" Id="Rf05da2e7f0e94255" /><Relationship Type="http://schemas.openxmlformats.org/officeDocument/2006/relationships/presProps" Target="/ppt/presProps.xml" Id="R7c84c4d8fd7c4e0a" /><Relationship Type="http://schemas.openxmlformats.org/officeDocument/2006/relationships/tableStyles" Target="/ppt/tableStyles.xml" Id="Re78e7994e35f41d4" /><Relationship Type="http://schemas.openxmlformats.org/officeDocument/2006/relationships/font" Target="/ppt/fonts/font.dat" Id="R0c0448522f814aed" /><Relationship Type="http://schemas.openxmlformats.org/officeDocument/2006/relationships/font" Target="/ppt/fonts/font2.dat" Id="R6d24ee4fb58f45ae" /><Relationship Type="http://schemas.openxmlformats.org/officeDocument/2006/relationships/font" Target="/ppt/fonts/font3.dat" Id="Rf780fbdbd2184588" /><Relationship Type="http://schemas.openxmlformats.org/officeDocument/2006/relationships/font" Target="/ppt/fonts/font4.dat" Id="R25777fd01a724908" /><Relationship Type="http://schemas.openxmlformats.org/officeDocument/2006/relationships/font" Target="/ppt/fonts/font5.dat" Id="Rc69280ec67ff43d0" /><Relationship Type="http://schemas.openxmlformats.org/officeDocument/2006/relationships/font" Target="/ppt/fonts/font6.dat" Id="Rf915c2489339446a" /><Relationship Type="http://schemas.openxmlformats.org/officeDocument/2006/relationships/slide" Target="/ppt/slides/slide1.xml" Id="Re1060653792a461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e9be511a9e1f4e8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2120 cream and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3ef1e30bf584057" /><Relationship Type="http://schemas.openxmlformats.org/officeDocument/2006/relationships/notesMaster" Target="/ppt/notesMasters/notesMaster1.xml" Id="R232dc7fc2b9149f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Presenter: Kyubin Park. Suggested speaking slot: 30–35 seconds.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My issue concerned CSV filenames containing a hash. Tika detected the same CSV bytes as plain text for a name such as Lorem-Ipsum hash one-two-three dot CSV. Its URI parser interpreted everything after the hash as a fragment, as it would in a web address. That left Lorem-Ipsum as the path, without the CSV extension. Preserving the full filename hint restores the expected CSV result.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https://github.com/u8026876/comp2120-gyg-a5/pull/7 and https://github.com/u8026876/comp2120-gyg-a5/issues/1 . Published commit: 86483a61d15e22a03f1bbdf6e0c199012baa34ed. Local evidence recorded 21 October 2026; PR status checked 25 October 2026. The group PR is open and unmerged. Apache submission is a separate follow-up.</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Exact implementation boundary: no URI scheme or raw authority; compare the last raw hash and dot before the first query delimiter, before percent decoding, then escape hashes for path extraction. Bare inputs can also be relative URIs, so this is a filename heuristic, not proof of caller intent or content. Explicit schemes and network authorities retain URI handling.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Validation on the group-base patch: with new tests retained and only the production fix absent, 33 TikaDetectionTest cases reported 9 failures and 0 errors. With the fix restored, all 33 passed. The saved core unit run reported 1,391 tests, 0 failures, 0 errors and 11 skipped. Core/reactor prerequisites and style/license checks passed. This does not establish full-repository validation or remote CI. No fresh code test run was performed for this presentation.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Command: ./mvnw.cmd clean install -pl tika-core -am -Ppedantic -Dtika.test.locale=random</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Attribution: Kyubin Park (@u8026876) owns TIKA-4431. Codex assisted investigation, implementation, tests and presentation drafting. Jiajun (@Lynnbb88) and Terry (@zjt060523terry) supplied scoped peer reviews with their own assistance disclosures. The visual template is the group kit; Jiajun's presentation is a layout reference, not the source of this contribution.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07e18c2e46e49d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637ed1f1c0ff473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d1ac9383cf13411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2.xml" Id="Rd0dac77375e1448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2.xml" Id="Rda7adf3ad03b4bd5" /></Relationships>
</file>

<file path=ppt/slideLayouts/slideLayout1.xml><?xml version="1.0" encoding="utf-8"?>
<p:sldLayout xmlns:p="http://schemas.openxmlformats.org/presentationml/2006/main" matchingName="A4 - Title">
  <p:cSld name="A4 - Title">
    <p:spTree>
      <p:nvGrpSpPr>
        <p:cNvPr id="1" name=""/>
        <p:cNvGrpSpPr/>
        <p:nvPr/>
      </p:nvGrpSpPr>
      <p:grpSpPr>
        <a:xfrm xmlns:a="http://schemas.openxmlformats.org/drawingml/2006/main"/>
      </p:grpSpPr>
      <p:sp>
        <p:nvSpPr>
          <p:cNvPr id="11" name="Google Shape;11;p2">
            <a:extLst xmlns:a="http://schemas.openxmlformats.org/drawingml/2006/main">
              <a:ext uri="{FF2B5EF4-FFF2-40B4-BE49-F238E27FC236}">
                <a16:creationId xmlns:a16="http://schemas.microsoft.com/office/drawing/2014/main" id="{0D8847DF-A93B-4F3D-89D3-2355E6069E98}"/>
              </a:ext>
            </a:extLst>
          </p:cNvPr>
          <p:cNvSpPr>
            <a:spLocks xmlns:a="http://schemas.openxmlformats.org/drawingml/2006/main" noGrp="1"/>
          </p:cNvSpPr>
          <p:nvPr>
            <p:ph type="title" idx="0"/>
          </p:nvPr>
        </p:nvSpPr>
        <p:spPr>
          <a:xfrm xmlns:a="http://schemas.openxmlformats.org/drawingml/2006/main">
            <a:off x="609600" y="1428750"/>
            <a:ext cx="10477500" cy="15430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12" name="Google Shape;12;p2">
            <a:extLst xmlns:a="http://schemas.openxmlformats.org/drawingml/2006/main">
              <a:ext uri="{FF2B5EF4-FFF2-40B4-BE49-F238E27FC236}">
                <a16:creationId xmlns:a16="http://schemas.microsoft.com/office/drawing/2014/main" id="{1938093B-CCC4-41B6-8A9F-8E5B408792A7}"/>
              </a:ext>
            </a:extLst>
          </p:cNvPr>
          <p:cNvSpPr>
            <a:spLocks xmlns:a="http://schemas.openxmlformats.org/drawingml/2006/main" noGrp="1"/>
          </p:cNvSpPr>
          <p:nvPr>
            <p:ph type="subTitle" idx="1"/>
          </p:nvPr>
        </p:nvSpPr>
        <p:spPr>
          <a:xfrm xmlns:a="http://schemas.openxmlformats.org/drawingml/2006/main">
            <a:off x="609600" y="3333750"/>
            <a:ext cx="10477500" cy="8572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2.xml><?xml version="1.0" encoding="utf-8"?>
<p:sldLayout xmlns:p="http://schemas.openxmlformats.org/presentationml/2006/main" matchingName="A4 - Explanation and visual">
  <p:cSld name="A4 - Explanation and visual">
    <p:spTree>
      <p:nvGrpSpPr>
        <p:cNvPr id="1" name=""/>
        <p:cNvGrpSpPr/>
        <p:nvPr/>
      </p:nvGrpSpPr>
      <p:grpSpPr>
        <a:xfrm xmlns:a="http://schemas.openxmlformats.org/drawingml/2006/main"/>
      </p:grpSpPr>
      <p:sp>
        <p:nvSpPr>
          <p:cNvPr id="15" name="Google Shape;15;p4">
            <a:extLst xmlns:a="http://schemas.openxmlformats.org/drawingml/2006/main">
              <a:ext uri="{FF2B5EF4-FFF2-40B4-BE49-F238E27FC236}">
                <a16:creationId xmlns:a16="http://schemas.microsoft.com/office/drawing/2014/main" id="{4E354046-221B-4934-A60F-8FBE2D8289F4}"/>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16" name="Google Shape;16;p4">
            <a:extLst xmlns:a="http://schemas.openxmlformats.org/drawingml/2006/main">
              <a:ext uri="{FF2B5EF4-FFF2-40B4-BE49-F238E27FC236}">
                <a16:creationId xmlns:a16="http://schemas.microsoft.com/office/drawing/2014/main" id="{7CAD29F7-942E-474C-9AD4-FDEC3F0D82AA}"/>
              </a:ext>
            </a:extLst>
          </p:cNvPr>
          <p:cNvSpPr>
            <a:spLocks xmlns:a="http://schemas.openxmlformats.org/drawingml/2006/main" noGrp="1"/>
          </p:cNvSpPr>
          <p:nvPr>
            <p:ph type="body" idx="1"/>
          </p:nvPr>
        </p:nvSpPr>
        <p:spPr>
          <a:xfrm xmlns:a="http://schemas.openxmlformats.org/drawingml/2006/main">
            <a:off x="609600" y="2000250"/>
            <a:ext cx="4476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
        <p:nvSpPr>
          <p:cNvPr id="17" name="Google Shape;17;p4">
            <a:extLst xmlns:a="http://schemas.openxmlformats.org/drawingml/2006/main">
              <a:ext uri="{FF2B5EF4-FFF2-40B4-BE49-F238E27FC236}">
                <a16:creationId xmlns:a16="http://schemas.microsoft.com/office/drawing/2014/main" id="{AE79A4DE-6D3A-4CDD-A5AB-37AD23D1E5DF}"/>
              </a:ext>
            </a:extLst>
          </p:cNvPr>
          <p:cNvSpPr>
            <a:spLocks xmlns:a="http://schemas.openxmlformats.org/drawingml/2006/main" noGrp="1"/>
          </p:cNvSpPr>
          <p:nvPr>
            <p:ph type="body" idx="2"/>
          </p:nvPr>
        </p:nvSpPr>
        <p:spPr>
          <a:xfrm xmlns:a="http://schemas.openxmlformats.org/drawingml/2006/main">
            <a:off x="5581650" y="2000250"/>
            <a:ext cx="6000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3.xml><?xml version="1.0" encoding="utf-8"?>
<p:sldLayout xmlns:p="http://schemas.openxmlformats.org/presentationml/2006/main" matchingName="A4 - Two columns">
  <p:cSld name="A4 - Two columns">
    <p:spTree>
      <p:nvGrpSpPr>
        <p:cNvPr id="1" name=""/>
        <p:cNvGrpSpPr/>
        <p:nvPr/>
      </p:nvGrpSpPr>
      <p:grpSpPr>
        <a:xfrm xmlns:a="http://schemas.openxmlformats.org/drawingml/2006/main"/>
      </p:grpSpPr>
      <p:sp>
        <p:nvSpPr>
          <p:cNvPr id="19" name="Google Shape;19;p5">
            <a:extLst xmlns:a="http://schemas.openxmlformats.org/drawingml/2006/main">
              <a:ext uri="{FF2B5EF4-FFF2-40B4-BE49-F238E27FC236}">
                <a16:creationId xmlns:a16="http://schemas.microsoft.com/office/drawing/2014/main" id="{DE011E28-65D2-4C5B-B272-0AC1EC23C6BF}"/>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0" name="Google Shape;20;p5">
            <a:extLst xmlns:a="http://schemas.openxmlformats.org/drawingml/2006/main">
              <a:ext uri="{FF2B5EF4-FFF2-40B4-BE49-F238E27FC236}">
                <a16:creationId xmlns:a16="http://schemas.microsoft.com/office/drawing/2014/main" id="{C56012C0-0208-4FE9-BE53-CA2E974615B4}"/>
              </a:ext>
            </a:extLst>
          </p:cNvPr>
          <p:cNvSpPr>
            <a:spLocks xmlns:a="http://schemas.openxmlformats.org/drawingml/2006/main" noGrp="1"/>
          </p:cNvSpPr>
          <p:nvPr>
            <p:ph type="body" idx="1"/>
          </p:nvPr>
        </p:nvSpPr>
        <p:spPr>
          <a:xfrm xmlns:a="http://schemas.openxmlformats.org/drawingml/2006/main">
            <a:off x="609600" y="2000250"/>
            <a:ext cx="5238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
        <p:nvSpPr>
          <p:cNvPr id="21" name="Google Shape;21;p5">
            <a:extLst xmlns:a="http://schemas.openxmlformats.org/drawingml/2006/main">
              <a:ext uri="{FF2B5EF4-FFF2-40B4-BE49-F238E27FC236}">
                <a16:creationId xmlns:a16="http://schemas.microsoft.com/office/drawing/2014/main" id="{131646E8-7D90-481C-B5AF-DED2C11CAC1E}"/>
              </a:ext>
            </a:extLst>
          </p:cNvPr>
          <p:cNvSpPr>
            <a:spLocks xmlns:a="http://schemas.openxmlformats.org/drawingml/2006/main" noGrp="1"/>
          </p:cNvSpPr>
          <p:nvPr>
            <p:ph type="body" idx="2"/>
          </p:nvPr>
        </p:nvSpPr>
        <p:spPr>
          <a:xfrm xmlns:a="http://schemas.openxmlformats.org/drawingml/2006/main">
            <a:off x="6343650" y="2000250"/>
            <a:ext cx="523875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4.xml><?xml version="1.0" encoding="utf-8"?>
<p:sldLayout xmlns:p="http://schemas.openxmlformats.org/presentationml/2006/main" matchingName="A4 - Title and content">
  <p:cSld name="A4 - Title and content">
    <p:spTree>
      <p:nvGrpSpPr>
        <p:cNvPr id="1" name=""/>
        <p:cNvGrpSpPr/>
        <p:nvPr/>
      </p:nvGrpSpPr>
      <p:grpSpPr>
        <a:xfrm xmlns:a="http://schemas.openxmlformats.org/drawingml/2006/main"/>
      </p:grpSpPr>
      <p:sp>
        <p:nvSpPr>
          <p:cNvPr id="23" name="Google Shape;23;p6">
            <a:extLst xmlns:a="http://schemas.openxmlformats.org/drawingml/2006/main">
              <a:ext uri="{FF2B5EF4-FFF2-40B4-BE49-F238E27FC236}">
                <a16:creationId xmlns:a16="http://schemas.microsoft.com/office/drawing/2014/main" id="{0A9EA113-753D-4D4A-BCEA-1C8A9AD2E5F5}"/>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4" name="Google Shape;24;p6">
            <a:extLst xmlns:a="http://schemas.openxmlformats.org/drawingml/2006/main">
              <a:ext uri="{FF2B5EF4-FFF2-40B4-BE49-F238E27FC236}">
                <a16:creationId xmlns:a16="http://schemas.microsoft.com/office/drawing/2014/main" id="{6558D1AF-11A0-43DA-A71F-67BB9806CA83}"/>
              </a:ext>
            </a:extLst>
          </p:cNvPr>
          <p:cNvSpPr>
            <a:spLocks xmlns:a="http://schemas.openxmlformats.org/drawingml/2006/main" noGrp="1"/>
          </p:cNvSpPr>
          <p:nvPr>
            <p:ph type="body" idx="1"/>
          </p:nvPr>
        </p:nvSpPr>
        <p:spPr>
          <a:xfrm xmlns:a="http://schemas.openxmlformats.org/drawingml/2006/main">
            <a:off x="609600" y="1952625"/>
            <a:ext cx="10972800" cy="409575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Layouts/slideLayout5.xml><?xml version="1.0" encoding="utf-8"?>
<p:sldLayout xmlns:p="http://schemas.openxmlformats.org/presentationml/2006/main" matchingName="A4 - Large visual">
  <p:cSld name="A4 - Large visual">
    <p:spTree>
      <p:nvGrpSpPr>
        <p:cNvPr id="1" name=""/>
        <p:cNvGrpSpPr/>
        <p:nvPr/>
      </p:nvGrpSpPr>
      <p:grpSpPr>
        <a:xfrm xmlns:a="http://schemas.openxmlformats.org/drawingml/2006/main"/>
      </p:grpSpPr>
      <p:sp>
        <p:nvSpPr>
          <p:cNvPr id="26" name="Google Shape;26;p7">
            <a:extLst xmlns:a="http://schemas.openxmlformats.org/drawingml/2006/main">
              <a:ext uri="{FF2B5EF4-FFF2-40B4-BE49-F238E27FC236}">
                <a16:creationId xmlns:a16="http://schemas.microsoft.com/office/drawing/2014/main" id="{E9D7A9EF-9B89-4087-991A-5E1764970182}"/>
              </a:ext>
            </a:extLst>
          </p:cNvPr>
          <p:cNvSpPr>
            <a:spLocks xmlns:a="http://schemas.openxmlformats.org/drawingml/2006/main" noGrp="1"/>
          </p:cNvSpPr>
          <p:nvPr>
            <p:ph type="title" idx="0"/>
          </p:nvPr>
        </p:nvSpPr>
        <p:spPr>
          <a:xfrm xmlns:a="http://schemas.openxmlformats.org/drawingml/2006/main">
            <a:off x="609600" y="971550"/>
            <a:ext cx="109728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R="0" algn="l">
              <a:spcBef>
                <a:spcPts val="0"/>
              </a:spcBef>
              <a:spcAft>
                <a:spcPts val="0"/>
              </a:spcAft>
              <a:buSzPts val="1400"/>
              <a:buNone/>
              <a:defRPr sz="1800" b="0" i="0" u="none" strike="noStrike" cap="none"/>
            </a:lvl1pPr>
            <a:lvl2pPr marR="0" algn="l">
              <a:spcBef>
                <a:spcPts val="0"/>
              </a:spcBef>
              <a:spcAft>
                <a:spcPts val="0"/>
              </a:spcAft>
              <a:buSzPts val="1400"/>
              <a:buNone/>
              <a:defRPr sz="1800" b="0" i="0" u="none" strike="noStrike" cap="none"/>
            </a:lvl2pPr>
            <a:lvl3pPr marR="0" algn="l">
              <a:spcBef>
                <a:spcPts val="0"/>
              </a:spcBef>
              <a:spcAft>
                <a:spcPts val="0"/>
              </a:spcAft>
              <a:buSzPts val="1400"/>
              <a:buNone/>
              <a:defRPr sz="1800" b="0" i="0" u="none" strike="noStrike" cap="none"/>
            </a:lvl3pPr>
            <a:lvl4pPr marR="0" algn="l">
              <a:spcBef>
                <a:spcPts val="0"/>
              </a:spcBef>
              <a:spcAft>
                <a:spcPts val="0"/>
              </a:spcAft>
              <a:buSzPts val="1400"/>
              <a:buNone/>
              <a:defRPr sz="1800" b="0" i="0" u="none" strike="noStrike" cap="none"/>
            </a:lvl4pPr>
            <a:lvl5pPr marR="0" algn="l">
              <a:spcBef>
                <a:spcPts val="0"/>
              </a:spcBef>
              <a:spcAft>
                <a:spcPts val="0"/>
              </a:spcAft>
              <a:buSzPts val="1400"/>
              <a:buNone/>
              <a:defRPr sz="1800" b="0" i="0" u="none" strike="noStrike" cap="none"/>
            </a:lvl5pPr>
            <a:lvl6pPr marR="0" algn="l">
              <a:spcBef>
                <a:spcPts val="0"/>
              </a:spcBef>
              <a:spcAft>
                <a:spcPts val="0"/>
              </a:spcAft>
              <a:buSzPts val="1400"/>
              <a:buNone/>
              <a:defRPr sz="1800" b="0" i="0" u="none" strike="noStrike" cap="none"/>
            </a:lvl6pPr>
            <a:lvl7pPr marR="0" algn="l">
              <a:spcBef>
                <a:spcPts val="0"/>
              </a:spcBef>
              <a:spcAft>
                <a:spcPts val="0"/>
              </a:spcAft>
              <a:buSzPts val="1400"/>
              <a:buNone/>
              <a:defRPr sz="1800" b="0" i="0" u="none" strike="noStrike" cap="none"/>
            </a:lvl7pPr>
            <a:lvl8pPr marR="0" algn="l">
              <a:spcBef>
                <a:spcPts val="0"/>
              </a:spcBef>
              <a:spcAft>
                <a:spcPts val="0"/>
              </a:spcAft>
              <a:buSzPts val="1400"/>
              <a:buNone/>
              <a:defRPr sz="1800" b="0" i="0" u="none" strike="noStrike" cap="none"/>
            </a:lvl8pPr>
            <a:lvl9pPr marR="0" algn="l">
              <a:spcBef>
                <a:spcPts val="0"/>
              </a:spcBef>
              <a:spcAft>
                <a:spcPts val="0"/>
              </a:spcAft>
              <a:buSzPts val="1400"/>
              <a:buNone/>
              <a:defRPr sz="1800" b="0" i="0" u="none" strike="noStrike" cap="none"/>
            </a:lvl9pPr>
          </a:lstStyle>
          <a:p xmlns:a="http://schemas.openxmlformats.org/drawingml/2006/main"/>
        </p:txBody>
      </p:sp>
      <p:sp>
        <p:nvSpPr>
          <p:cNvPr id="27" name="Google Shape;27;p7">
            <a:extLst xmlns:a="http://schemas.openxmlformats.org/drawingml/2006/main">
              <a:ext uri="{FF2B5EF4-FFF2-40B4-BE49-F238E27FC236}">
                <a16:creationId xmlns:a16="http://schemas.microsoft.com/office/drawing/2014/main" id="{77DFC64A-7DB5-479B-B0A5-00B8B99A1931}"/>
              </a:ext>
            </a:extLst>
          </p:cNvPr>
          <p:cNvSpPr>
            <a:spLocks xmlns:a="http://schemas.openxmlformats.org/drawingml/2006/main" noGrp="1"/>
          </p:cNvSpPr>
          <p:nvPr>
            <p:ph type="body" idx="1"/>
          </p:nvPr>
        </p:nvSpPr>
        <p:spPr>
          <a:xfrm xmlns:a="http://schemas.openxmlformats.org/drawingml/2006/main">
            <a:off x="609600" y="2000250"/>
            <a:ext cx="10972800" cy="4000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lvl1pPr marL="457200" marR="0" indent="-228600" algn="l">
              <a:spcBef>
                <a:spcPts val="0"/>
              </a:spcBef>
              <a:spcAft>
                <a:spcPts val="0"/>
              </a:spcAft>
              <a:buSzPts val="1400"/>
              <a:buNone/>
              <a:defRPr sz="1800" b="0" i="0" u="none" strike="noStrike" cap="none"/>
            </a:lvl1pPr>
            <a:lvl2pPr marL="914400" marR="0" indent="-228600" algn="l">
              <a:spcBef>
                <a:spcPts val="0"/>
              </a:spcBef>
              <a:spcAft>
                <a:spcPts val="0"/>
              </a:spcAft>
              <a:buSzPts val="1400"/>
              <a:buNone/>
              <a:defRPr sz="1800" b="0" i="0" u="none" strike="noStrike" cap="none"/>
            </a:lvl2pPr>
            <a:lvl3pPr marL="1371600" marR="0" indent="-228600" algn="l">
              <a:spcBef>
                <a:spcPts val="0"/>
              </a:spcBef>
              <a:spcAft>
                <a:spcPts val="0"/>
              </a:spcAft>
              <a:buSzPts val="1400"/>
              <a:buNone/>
              <a:defRPr sz="1800" b="0" i="0" u="none" strike="noStrike" cap="none"/>
            </a:lvl3pPr>
            <a:lvl4pPr marL="1828800" marR="0" indent="-228600" algn="l">
              <a:spcBef>
                <a:spcPts val="0"/>
              </a:spcBef>
              <a:spcAft>
                <a:spcPts val="0"/>
              </a:spcAft>
              <a:buSzPts val="1400"/>
              <a:buNone/>
              <a:defRPr sz="1800" b="0" i="0" u="none" strike="noStrike" cap="none"/>
            </a:lvl4pPr>
            <a:lvl5pPr marL="2286000" marR="0" indent="-228600" algn="l">
              <a:spcBef>
                <a:spcPts val="0"/>
              </a:spcBef>
              <a:spcAft>
                <a:spcPts val="0"/>
              </a:spcAft>
              <a:buSzPts val="1400"/>
              <a:buNone/>
              <a:defRPr sz="1800" b="0" i="0" u="none" strike="noStrike" cap="none"/>
            </a:lvl5pPr>
            <a:lvl6pPr marL="2743200" marR="0" indent="-228600" algn="l">
              <a:spcBef>
                <a:spcPts val="0"/>
              </a:spcBef>
              <a:spcAft>
                <a:spcPts val="0"/>
              </a:spcAft>
              <a:buSzPts val="1400"/>
              <a:buNone/>
              <a:defRPr sz="1800" b="0" i="0" u="none" strike="noStrike" cap="none"/>
            </a:lvl6pPr>
            <a:lvl7pPr marL="3200400" marR="0" indent="-228600" algn="l">
              <a:spcBef>
                <a:spcPts val="0"/>
              </a:spcBef>
              <a:spcAft>
                <a:spcPts val="0"/>
              </a:spcAft>
              <a:buSzPts val="1400"/>
              <a:buNone/>
              <a:defRPr sz="1800" b="0" i="0" u="none" strike="noStrike" cap="none"/>
            </a:lvl7pPr>
            <a:lvl8pPr marL="3657600" marR="0" indent="-228600" algn="l">
              <a:spcBef>
                <a:spcPts val="0"/>
              </a:spcBef>
              <a:spcAft>
                <a:spcPts val="0"/>
              </a:spcAft>
              <a:buSzPts val="1400"/>
              <a:buNone/>
              <a:defRPr sz="1800" b="0" i="0" u="none" strike="noStrike" cap="none"/>
            </a:lvl8pPr>
            <a:lvl9pPr marL="4114800" marR="0" indent="-228600" algn="l">
              <a:spcBef>
                <a:spcPts val="0"/>
              </a:spcBef>
              <a:spcAft>
                <a:spcPts val="0"/>
              </a:spcAft>
              <a:buSzPts val="1400"/>
              <a:buNone/>
              <a:defRPr sz="1800" b="0" i="0" u="none" strike="noStrike" cap="none"/>
            </a:lvl9pPr>
          </a:lstStyle>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ec5d8dd383443be" /><Relationship Type="http://schemas.openxmlformats.org/officeDocument/2006/relationships/slideLayout" Target="/ppt/slideLayouts/slideLayout1.xml" Id="R302de68c3da94fec"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06f748c58b434949" /><Relationship Type="http://schemas.openxmlformats.org/officeDocument/2006/relationships/slideLayout" Target="/ppt/slideLayouts/slideLayout2.xml" Id="R79f7fd7416464977" /><Relationship Type="http://schemas.openxmlformats.org/officeDocument/2006/relationships/slideLayout" Target="/ppt/slideLayouts/slideLayout3.xml" Id="R287680b59fee4a87" /><Relationship Type="http://schemas.openxmlformats.org/officeDocument/2006/relationships/slideLayout" Target="/ppt/slideLayouts/slideLayout4.xml" Id="R4a3e7a2095a9427f" /><Relationship Type="http://schemas.openxmlformats.org/officeDocument/2006/relationships/slideLayout" Target="/ppt/slideLayouts/slideLayout5.xml" Id="R01efe6d8a9a04d35" /></Relationships>
</file>

<file path=ppt/slideMasters/slideMaster1.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302de68c3da94fec"/>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slideMaster2.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51" r:id="R79f7fd7416464977"/>
    <p:sldLayoutId xmlns:r="http://schemas.openxmlformats.org/officeDocument/2006/relationships" id="2147483652" r:id="R287680b59fee4a87"/>
    <p:sldLayoutId xmlns:r="http://schemas.openxmlformats.org/officeDocument/2006/relationships" id="2147483653" r:id="R4a3e7a2095a9427f"/>
    <p:sldLayoutId xmlns:r="http://schemas.openxmlformats.org/officeDocument/2006/relationships" id="2147483654" r:id="R01efe6d8a9a04d35"/>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2120 cream and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Masters/theme/theme3.xml><?xml version="1.0" encoding="utf-8"?>
<a:theme xmlns:a="http://schemas.openxmlformats.org/drawingml/2006/main"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2120 cream and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3.xml" Id="Ra4b26767e3f64b72" /><Relationship Type="http://schemas.openxmlformats.org/officeDocument/2006/relationships/notesSlide" Target="/ppt/notesSlides/notesSlide1.xml" Id="Rd6517bd3508d4aa6" /></Relationships>
</file>

<file path=ppt/slides/slide1.xml><?xml version="1.0" encoding="utf-8"?>
<p:sld xmlns:p="http://schemas.openxmlformats.org/presentationml/2006/main">
  <p:cSld>
    <p:bg>
      <p:bgPr>
        <a:solidFill xmlns:a="http://schemas.openxmlformats.org/drawingml/2006/main">
          <a:srgbClr val="203B34"/>
        </a:solidFill>
      </p:bgPr>
    </p:bg>
    <p:spTree>
      <p:nvGrpSpPr>
        <p:cNvPr id="1" name=""/>
        <p:cNvGrpSpPr/>
        <p:nvPr/>
      </p:nvGrpSpPr>
      <p:grpSpPr>
        <a:xfrm xmlns:a="http://schemas.openxmlformats.org/drawingml/2006/main"/>
      </p:grpSpPr>
      <p:sp>
        <p:nvSpPr>
          <p:cNvPr id="42" name="Google Shape;42;p9">
            <a:extLst xmlns:a="http://schemas.openxmlformats.org/drawingml/2006/main">
              <a:ext uri="{FF2B5EF4-FFF2-40B4-BE49-F238E27FC236}">
                <a16:creationId xmlns:a16="http://schemas.microsoft.com/office/drawing/2014/main" id="{13C05C6B-CA28-4EAC-A851-73EBABC996BC}"/>
              </a:ext>
            </a:extLst>
          </p:cNvPr>
          <p:cNvSpPr>
            <a:spLocks xmlns:a="http://schemas.openxmlformats.org/drawingml/2006/main" noGrp="1"/>
          </p:cNvSpPr>
          <p:nvPr/>
        </p:nvSpPr>
        <p:spPr>
          <a:xfrm xmlns:a="http://schemas.openxmlformats.org/drawingml/2006/main">
            <a:off x="0" y="3835400"/>
            <a:ext cx="12192000" cy="3022500"/>
          </a:xfrm>
          <a:prstGeom xmlns:a="http://schemas.openxmlformats.org/drawingml/2006/main" prst="rect">
            <a:avLst/>
          </a:prstGeom>
          <a:solidFill xmlns:a="http://schemas.openxmlformats.org/drawingml/2006/main">
            <a:srgbClr val="F0E8D9"/>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43" name="Google Shape;43;p9">
            <a:extLst xmlns:a="http://schemas.openxmlformats.org/drawingml/2006/main">
              <a:ext uri="{FF2B5EF4-FFF2-40B4-BE49-F238E27FC236}">
                <a16:creationId xmlns:a16="http://schemas.microsoft.com/office/drawing/2014/main" id="{31A941C7-CFE2-4384-B01C-E977482EBC00}"/>
              </a:ext>
            </a:extLst>
          </p:cNvPr>
          <p:cNvSpPr>
            <a:spLocks xmlns:a="http://schemas.openxmlformats.org/drawingml/2006/main" noGrp="1"/>
          </p:cNvSpPr>
          <p:nvPr/>
        </p:nvSpPr>
        <p:spPr>
          <a:xfrm xmlns:a="http://schemas.openxmlformats.org/drawingml/2006/main">
            <a:off x="609600" y="330200"/>
            <a:ext cx="9651900" cy="279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100">
                <a:solidFill>
                  <a:srgbClr val="B8C7AB"/>
                </a:solidFill>
                <a:latin typeface="Roboto Mono"/>
                <a:ea typeface="Roboto Mono"/>
                <a:cs typeface="Roboto Mono"/>
              </a:rPr>
              <a:t>TIKA-4431 / FILENAME DETECTION</a:t>
            </a:r>
            <a:endParaRPr sz="1100">
              <a:solidFill>
                <a:srgbClr val="B8C7AB"/>
              </a:solidFill>
              <a:latin typeface="Roboto Mono"/>
              <a:ea typeface="Roboto Mono"/>
              <a:cs typeface="Roboto Mono"/>
            </a:endParaRPr>
          </a:p>
        </p:txBody>
      </p:sp>
      <p:sp>
        <p:nvSpPr>
          <p:cNvPr id="44" name="Google Shape;44;p9">
            <a:extLst xmlns:a="http://schemas.openxmlformats.org/drawingml/2006/main">
              <a:ext uri="{FF2B5EF4-FFF2-40B4-BE49-F238E27FC236}">
                <a16:creationId xmlns:a16="http://schemas.microsoft.com/office/drawing/2014/main" id="{B7EDA4E6-CB59-4E1E-8012-B39FC9B76A59}"/>
              </a:ext>
            </a:extLst>
          </p:cNvPr>
          <p:cNvSpPr>
            <a:spLocks xmlns:a="http://schemas.openxmlformats.org/drawingml/2006/main" noGrp="1"/>
          </p:cNvSpPr>
          <p:nvPr/>
        </p:nvSpPr>
        <p:spPr>
          <a:xfrm xmlns:a="http://schemas.openxmlformats.org/drawingml/2006/main">
            <a:off x="10871200" y="330200"/>
            <a:ext cx="711300" cy="279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spcBef>
                <a:spcPts val="0"/>
              </a:spcBef>
              <a:spcAft>
                <a:spcPts val="0"/>
              </a:spcAft>
              <a:buNone/>
            </a:pPr>
            <a:r>
              <a:rPr sz="1100">
                <a:solidFill>
                  <a:srgbClr val="B8C7AB"/>
                </a:solidFill>
                <a:latin typeface="Roboto Mono"/>
                <a:ea typeface="Roboto Mono"/>
                <a:cs typeface="Roboto Mono"/>
              </a:rPr>
              <a:t>03</a:t>
            </a:r>
            <a:endParaRPr sz="1100">
              <a:solidFill>
                <a:srgbClr val="B8C7AB"/>
              </a:solidFill>
              <a:latin typeface="Roboto Mono"/>
              <a:ea typeface="Roboto Mono"/>
              <a:cs typeface="Roboto Mono"/>
            </a:endParaRPr>
          </a:p>
        </p:txBody>
      </p:sp>
      <p:sp>
        <p:nvSpPr>
          <p:cNvPr id="45" name="Google Shape;45;p9">
            <a:extLst xmlns:a="http://schemas.openxmlformats.org/drawingml/2006/main">
              <a:ext uri="{FF2B5EF4-FFF2-40B4-BE49-F238E27FC236}">
                <a16:creationId xmlns:a16="http://schemas.microsoft.com/office/drawing/2014/main" id="{D3BD6B5B-8A88-4DB5-A88A-3A532D9227AE}"/>
              </a:ext>
            </a:extLst>
          </p:cNvPr>
          <p:cNvSpPr>
            <a:spLocks xmlns:a="http://schemas.openxmlformats.org/drawingml/2006/main" noGrp="1"/>
          </p:cNvSpPr>
          <p:nvPr>
            <p:ph type="title" idx="0"/>
          </p:nvPr>
        </p:nvSpPr>
        <p:spPr>
          <a:xfrm xmlns:a="http://schemas.openxmlformats.org/drawingml/2006/main">
            <a:off x="609600" y="952500"/>
            <a:ext cx="10972800" cy="965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3500" b="1">
                <a:solidFill>
                  <a:srgbClr val="F0E8D9"/>
                </a:solidFill>
                <a:latin typeface="Manrope"/>
                <a:ea typeface="Manrope"/>
                <a:cs typeface="Manrope"/>
              </a:rPr>
              <a:t>A filename lost its CSV extension</a:t>
            </a:r>
            <a:endParaRPr sz="3500" b="1">
              <a:solidFill>
                <a:srgbClr val="F0E8D9"/>
              </a:solidFill>
              <a:latin typeface="Manrope"/>
              <a:ea typeface="Manrope"/>
              <a:cs typeface="Manrope"/>
            </a:endParaRPr>
          </a:p>
        </p:txBody>
      </p:sp>
      <p:sp>
        <p:nvSpPr>
          <p:cNvPr id="46" name="Google Shape;46;p9">
            <a:extLst xmlns:a="http://schemas.openxmlformats.org/drawingml/2006/main">
              <a:ext uri="{FF2B5EF4-FFF2-40B4-BE49-F238E27FC236}">
                <a16:creationId xmlns:a16="http://schemas.microsoft.com/office/drawing/2014/main" id="{5B893742-5E3A-4FB5-A039-4FC7C708EED8}"/>
              </a:ext>
            </a:extLst>
          </p:cNvPr>
          <p:cNvSpPr>
            <a:spLocks xmlns:a="http://schemas.openxmlformats.org/drawingml/2006/main" noGrp="1"/>
          </p:cNvSpPr>
          <p:nvPr/>
        </p:nvSpPr>
        <p:spPr>
          <a:xfrm xmlns:a="http://schemas.openxmlformats.org/drawingml/2006/main">
            <a:off x="7620000" y="6578600"/>
            <a:ext cx="3962400" cy="203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r">
              <a:spcBef>
                <a:spcPts val="0"/>
              </a:spcBef>
              <a:spcAft>
                <a:spcPts val="0"/>
              </a:spcAft>
              <a:buNone/>
            </a:pPr>
            <a:r>
              <a:rPr sz="900">
                <a:solidFill>
                  <a:srgbClr val="203B34"/>
                </a:solidFill>
                <a:latin typeface="Manrope"/>
                <a:ea typeface="Manrope"/>
                <a:cs typeface="Manrope"/>
              </a:rPr>
              <a:t>Kyubin Park / @u8026876</a:t>
            </a:r>
            <a:endParaRPr sz="900">
              <a:solidFill>
                <a:srgbClr val="203B34"/>
              </a:solidFill>
              <a:latin typeface="Manrope"/>
              <a:ea typeface="Manrope"/>
              <a:cs typeface="Manrope"/>
            </a:endParaRPr>
          </a:p>
        </p:txBody>
      </p:sp>
      <p:sp>
        <p:nvSpPr>
          <p:cNvPr id="47" name="Google Shape;47;p9">
            <a:extLst xmlns:a="http://schemas.openxmlformats.org/drawingml/2006/main">
              <a:ext uri="{FF2B5EF4-FFF2-40B4-BE49-F238E27FC236}">
                <a16:creationId xmlns:a16="http://schemas.microsoft.com/office/drawing/2014/main" id="{4D574D7E-3D86-494A-B76C-A74EB7A85F5B}"/>
              </a:ext>
            </a:extLst>
          </p:cNvPr>
          <p:cNvSpPr>
            <a:spLocks xmlns:a="http://schemas.openxmlformats.org/drawingml/2006/main" noGrp="1"/>
          </p:cNvSpPr>
          <p:nvPr/>
        </p:nvSpPr>
        <p:spPr>
          <a:xfrm xmlns:a="http://schemas.openxmlformats.org/drawingml/2006/main">
            <a:off x="609600" y="4152900"/>
            <a:ext cx="5079900" cy="330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200" b="1">
                <a:solidFill>
                  <a:srgbClr val="A14F37"/>
                </a:solidFill>
                <a:latin typeface="Manrope"/>
                <a:ea typeface="Manrope"/>
                <a:cs typeface="Manrope"/>
              </a:rPr>
              <a:t>ORIGINAL / URI INTERPRETATION</a:t>
            </a:r>
            <a:endParaRPr sz="1200" b="1">
              <a:solidFill>
                <a:srgbClr val="A14F37"/>
              </a:solidFill>
              <a:latin typeface="Manrope"/>
              <a:ea typeface="Manrope"/>
              <a:cs typeface="Manrope"/>
            </a:endParaRPr>
          </a:p>
        </p:txBody>
      </p:sp>
      <p:sp>
        <p:nvSpPr>
          <p:cNvPr id="48" name="Google Shape;48;p9">
            <a:extLst xmlns:a="http://schemas.openxmlformats.org/drawingml/2006/main">
              <a:ext uri="{FF2B5EF4-FFF2-40B4-BE49-F238E27FC236}">
                <a16:creationId xmlns:a16="http://schemas.microsoft.com/office/drawing/2014/main" id="{25F3B97E-68DF-48BC-B702-82B8D7B6A17F}"/>
              </a:ext>
            </a:extLst>
          </p:cNvPr>
          <p:cNvSpPr>
            <a:spLocks xmlns:a="http://schemas.openxmlformats.org/drawingml/2006/main" noGrp="1"/>
          </p:cNvSpPr>
          <p:nvPr/>
        </p:nvSpPr>
        <p:spPr>
          <a:xfrm xmlns:a="http://schemas.openxmlformats.org/drawingml/2006/main">
            <a:off x="6604000" y="4152900"/>
            <a:ext cx="4978500" cy="330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200" b="1">
                <a:solidFill>
                  <a:srgbClr val="203B34"/>
                </a:solidFill>
                <a:latin typeface="Manrope"/>
                <a:ea typeface="Manrope"/>
                <a:cs typeface="Manrope"/>
              </a:rPr>
              <a:t>FIX / FILENAME INTERPRETATION</a:t>
            </a:r>
            <a:endParaRPr sz="1200" b="1">
              <a:solidFill>
                <a:srgbClr val="203B34"/>
              </a:solidFill>
              <a:latin typeface="Manrope"/>
              <a:ea typeface="Manrope"/>
              <a:cs typeface="Manrope"/>
            </a:endParaRPr>
          </a:p>
        </p:txBody>
      </p:sp>
      <p:sp>
        <p:nvSpPr>
          <p:cNvPr id="49" name="Google Shape;49;p9">
            <a:extLst xmlns:a="http://schemas.openxmlformats.org/drawingml/2006/main">
              <a:ext uri="{FF2B5EF4-FFF2-40B4-BE49-F238E27FC236}">
                <a16:creationId xmlns:a16="http://schemas.microsoft.com/office/drawing/2014/main" id="{30244DE0-74F1-45CA-B3A6-63EF5950BD94}"/>
              </a:ext>
            </a:extLst>
          </p:cNvPr>
          <p:cNvSpPr>
            <a:spLocks xmlns:a="http://schemas.openxmlformats.org/drawingml/2006/main" noGrp="1"/>
          </p:cNvSpPr>
          <p:nvPr/>
        </p:nvSpPr>
        <p:spPr>
          <a:xfrm xmlns:a="http://schemas.openxmlformats.org/drawingml/2006/main">
            <a:off x="609600" y="2286000"/>
            <a:ext cx="10972800" cy="1054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4800">
                <a:solidFill>
                  <a:srgbClr val="F0E8D9"/>
                </a:solidFill>
                <a:latin typeface="Roboto Mono"/>
                <a:ea typeface="Roboto Mono"/>
                <a:cs typeface="Roboto Mono"/>
              </a:rPr>
              <a:t>Lorem-Ipsum</a:t>
            </a:r>
            <a:r>
              <a:rPr sz="4800" b="1">
                <a:solidFill>
                  <a:srgbClr val="D99575"/>
                </a:solidFill>
                <a:latin typeface="Roboto Mono"/>
                <a:ea typeface="Roboto Mono"/>
                <a:cs typeface="Roboto Mono"/>
              </a:rPr>
              <a:t>#</a:t>
            </a:r>
            <a:r>
              <a:rPr sz="4800">
                <a:solidFill>
                  <a:srgbClr val="F0E8D9"/>
                </a:solidFill>
                <a:latin typeface="Roboto Mono"/>
                <a:ea typeface="Roboto Mono"/>
                <a:cs typeface="Roboto Mono"/>
              </a:rPr>
              <a:t>123.csv</a:t>
            </a:r>
            <a:endParaRPr sz="4800">
              <a:solidFill>
                <a:srgbClr val="F0E8D9"/>
              </a:solidFill>
              <a:latin typeface="Roboto Mono"/>
              <a:ea typeface="Roboto Mono"/>
              <a:cs typeface="Roboto Mono"/>
            </a:endParaRPr>
          </a:p>
        </p:txBody>
      </p:sp>
      <p:sp>
        <p:nvSpPr>
          <p:cNvPr id="50" name="Google Shape;50;p9">
            <a:extLst xmlns:a="http://schemas.openxmlformats.org/drawingml/2006/main">
              <a:ext uri="{FF2B5EF4-FFF2-40B4-BE49-F238E27FC236}">
                <a16:creationId xmlns:a16="http://schemas.microsoft.com/office/drawing/2014/main" id="{69C61208-1BBB-4797-A336-F20249086177}"/>
              </a:ext>
            </a:extLst>
          </p:cNvPr>
          <p:cNvSpPr>
            <a:spLocks xmlns:a="http://schemas.openxmlformats.org/drawingml/2006/main" noGrp="1"/>
          </p:cNvSpPr>
          <p:nvPr/>
        </p:nvSpPr>
        <p:spPr>
          <a:xfrm xmlns:a="http://schemas.openxmlformats.org/drawingml/2006/main">
            <a:off x="609600" y="4673600"/>
            <a:ext cx="53340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900">
                <a:solidFill>
                  <a:srgbClr val="203B34"/>
                </a:solidFill>
                <a:latin typeface="Roboto Mono"/>
                <a:ea typeface="Roboto Mono"/>
                <a:cs typeface="Roboto Mono"/>
              </a:rPr>
              <a:t>path:     Lorem-Ipsum</a:t>
            </a:r>
            <a:endParaRPr sz="1900">
              <a:solidFill>
                <a:srgbClr val="203B34"/>
              </a:solidFill>
              <a:latin typeface="Roboto Mono"/>
              <a:ea typeface="Roboto Mono"/>
              <a:cs typeface="Roboto Mono"/>
            </a:endParaRPr>
          </a:p>
          <a:p xmlns:a="http://schemas.openxmlformats.org/drawingml/2006/main">
            <a:pPr marL="0" marR="0" lvl="0" indent="0" algn="l">
              <a:spcBef>
                <a:spcPts val="0"/>
              </a:spcBef>
              <a:spcAft>
                <a:spcPts val="0"/>
              </a:spcAft>
              <a:buNone/>
            </a:pPr>
            <a:r>
              <a:rPr sz="1900">
                <a:solidFill>
                  <a:srgbClr val="203B34"/>
                </a:solidFill>
                <a:latin typeface="Roboto Mono"/>
                <a:ea typeface="Roboto Mono"/>
                <a:cs typeface="Roboto Mono"/>
              </a:rPr>
              <a:t>fragment: 123.csv</a:t>
            </a:r>
            <a:endParaRPr sz="1900">
              <a:solidFill>
                <a:srgbClr val="203B34"/>
              </a:solidFill>
              <a:latin typeface="Roboto Mono"/>
              <a:ea typeface="Roboto Mono"/>
              <a:cs typeface="Roboto Mono"/>
            </a:endParaRPr>
          </a:p>
        </p:txBody>
      </p:sp>
      <p:sp>
        <p:nvSpPr>
          <p:cNvPr id="51" name="Google Shape;51;p9">
            <a:extLst xmlns:a="http://schemas.openxmlformats.org/drawingml/2006/main">
              <a:ext uri="{FF2B5EF4-FFF2-40B4-BE49-F238E27FC236}">
                <a16:creationId xmlns:a16="http://schemas.microsoft.com/office/drawing/2014/main" id="{2C8E7ABC-E18C-4BEF-8234-EE6B993AF7D5}"/>
              </a:ext>
            </a:extLst>
          </p:cNvPr>
          <p:cNvSpPr>
            <a:spLocks xmlns:a="http://schemas.openxmlformats.org/drawingml/2006/main" noGrp="1"/>
          </p:cNvSpPr>
          <p:nvPr/>
        </p:nvSpPr>
        <p:spPr>
          <a:xfrm xmlns:a="http://schemas.openxmlformats.org/drawingml/2006/main">
            <a:off x="6604000" y="4673600"/>
            <a:ext cx="49785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2200">
                <a:solidFill>
                  <a:srgbClr val="203B34"/>
                </a:solidFill>
                <a:latin typeface="Roboto Mono"/>
                <a:ea typeface="Roboto Mono"/>
                <a:cs typeface="Roboto Mono"/>
              </a:rPr>
              <a:t>Lorem-Ipsum#123.csv</a:t>
            </a:r>
            <a:endParaRPr sz="2200">
              <a:solidFill>
                <a:srgbClr val="203B34"/>
              </a:solidFill>
              <a:latin typeface="Roboto Mono"/>
              <a:ea typeface="Roboto Mono"/>
              <a:cs typeface="Roboto Mono"/>
            </a:endParaRPr>
          </a:p>
        </p:txBody>
      </p:sp>
      <p:sp>
        <p:nvSpPr>
          <p:cNvPr id="52" name="Google Shape;52;p9">
            <a:extLst xmlns:a="http://schemas.openxmlformats.org/drawingml/2006/main">
              <a:ext uri="{FF2B5EF4-FFF2-40B4-BE49-F238E27FC236}">
                <a16:creationId xmlns:a16="http://schemas.microsoft.com/office/drawing/2014/main" id="{F74ECEAF-C9A7-4B8C-80B6-A597893DE40B}"/>
              </a:ext>
            </a:extLst>
          </p:cNvPr>
          <p:cNvSpPr>
            <a:spLocks xmlns:a="http://schemas.openxmlformats.org/drawingml/2006/main" noGrp="1"/>
          </p:cNvSpPr>
          <p:nvPr/>
        </p:nvSpPr>
        <p:spPr>
          <a:xfrm xmlns:a="http://schemas.openxmlformats.org/drawingml/2006/main">
            <a:off x="6604000" y="5562600"/>
            <a:ext cx="4978500" cy="55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2600" b="1">
                <a:solidFill>
                  <a:srgbClr val="203B34"/>
                </a:solidFill>
                <a:latin typeface="Roboto Mono"/>
                <a:ea typeface="Roboto Mono"/>
                <a:cs typeface="Roboto Mono"/>
              </a:rPr>
              <a:t>text/csv</a:t>
            </a:r>
            <a:endParaRPr sz="2600" b="1">
              <a:solidFill>
                <a:srgbClr val="203B34"/>
              </a:solidFill>
              <a:latin typeface="Roboto Mono"/>
              <a:ea typeface="Roboto Mono"/>
              <a:cs typeface="Roboto Mono"/>
            </a:endParaRPr>
          </a:p>
        </p:txBody>
      </p:sp>
      <p:sp>
        <p:nvSpPr>
          <p:cNvPr id="53" name="Google Shape;53;p9">
            <a:extLst xmlns:a="http://schemas.openxmlformats.org/drawingml/2006/main">
              <a:ext uri="{FF2B5EF4-FFF2-40B4-BE49-F238E27FC236}">
                <a16:creationId xmlns:a16="http://schemas.microsoft.com/office/drawing/2014/main" id="{78BEBD94-1937-4402-8CB9-4F8FD4256179}"/>
              </a:ext>
            </a:extLst>
          </p:cNvPr>
          <p:cNvSpPr>
            <a:spLocks xmlns:a="http://schemas.openxmlformats.org/drawingml/2006/main" noGrp="1"/>
          </p:cNvSpPr>
          <p:nvPr/>
        </p:nvSpPr>
        <p:spPr>
          <a:xfrm xmlns:a="http://schemas.openxmlformats.org/drawingml/2006/main">
            <a:off x="609600" y="5562600"/>
            <a:ext cx="5334000" cy="558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2600" b="1">
                <a:solidFill>
                  <a:srgbClr val="A14F37"/>
                </a:solidFill>
                <a:latin typeface="Roboto Mono"/>
                <a:ea typeface="Roboto Mono"/>
                <a:cs typeface="Roboto Mono"/>
              </a:rPr>
              <a:t>text/plain</a:t>
            </a:r>
            <a:endParaRPr sz="2600" b="1">
              <a:solidFill>
                <a:srgbClr val="A14F37"/>
              </a:solidFill>
              <a:latin typeface="Roboto Mono"/>
              <a:ea typeface="Roboto Mono"/>
              <a:cs typeface="Roboto Mono"/>
            </a:endParaRPr>
          </a:p>
        </p:txBody>
      </p:sp>
      <p:sp>
        <p:nvSpPr>
          <p:cNvPr id="54" name="Google Shape;54;p9">
            <a:extLst xmlns:a="http://schemas.openxmlformats.org/drawingml/2006/main">
              <a:ext uri="{FF2B5EF4-FFF2-40B4-BE49-F238E27FC236}">
                <a16:creationId xmlns:a16="http://schemas.microsoft.com/office/drawing/2014/main" id="{999F124F-30B3-4A8F-B5BA-9D81C83092BC}"/>
              </a:ext>
            </a:extLst>
          </p:cNvPr>
          <p:cNvSpPr>
            <a:spLocks xmlns:a="http://schemas.openxmlformats.org/drawingml/2006/main" noGrp="1"/>
          </p:cNvSpPr>
          <p:nvPr/>
        </p:nvSpPr>
        <p:spPr>
          <a:xfrm xmlns:a="http://schemas.openxmlformats.org/drawingml/2006/main">
            <a:off x="609600" y="6197600"/>
            <a:ext cx="10972800" cy="355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Autofit/>
          </a:bodyPr>
          <a:lstStyle xmlns:a="http://schemas.openxmlformats.org/drawingml/2006/main"/>
          <a:p xmlns:a="http://schemas.openxmlformats.org/drawingml/2006/main">
            <a:pPr marL="0" marR="0" lvl="0" indent="0" algn="l">
              <a:spcBef>
                <a:spcPts val="0"/>
              </a:spcBef>
              <a:spcAft>
                <a:spcPts val="0"/>
              </a:spcAft>
              <a:buNone/>
            </a:pPr>
            <a:r>
              <a:rPr sz="1250">
                <a:solidFill>
                  <a:srgbClr val="203B34"/>
                </a:solidFill>
                <a:latin typeface="Manrope"/>
                <a:ea typeface="Manrope"/>
                <a:cs typeface="Manrope"/>
              </a:rPr>
              <a:t>Same CSV content. The missing extension changed the result.</a:t>
            </a:r>
            <a:endParaRPr sz="1250">
              <a:solidFill>
                <a:srgbClr val="203B34"/>
              </a:solidFill>
              <a:latin typeface="Manrope"/>
              <a:ea typeface="Manrope"/>
              <a:cs typeface="Manrope"/>
            </a:endParaRPr>
          </a:p>
        </p:txBody>
      </p:sp>
    </p:spTree>
    <p:extLst>
      <p:ext uri="{BB962C8B-B14F-4D97-AF65-F5344CB8AC3E}">
        <p14:creationId xmlns:p14="http://schemas.microsoft.com/office/powerpoint/2010/main" val="978995728"/>
      </p:ext>
    </p:extLst>
  </p:cSld>
</p:sld>
</file>

<file path=ppt/theme/theme1.xml><?xml version="1.0" encoding="utf-8"?>
<a:theme xmlns:a="http://schemas.openxmlformats.org/drawingml/2006/main" name="ChatGPT">
  <a:themeElements>
    <a:clrScheme name="COMP2120 cream and teal">
      <a:dk1>
        <a:srgbClr val="172033"/>
      </a:dk1>
      <a:lt1>
        <a:srgbClr val="F7F4EE"/>
      </a:lt1>
      <a:dk2>
        <a:srgbClr val="1F5F61"/>
      </a:dk2>
      <a:lt2>
        <a:srgbClr val="FFFFFF"/>
      </a:lt2>
      <a:accent1>
        <a:srgbClr val="1F5F61"/>
      </a:accent1>
      <a:accent2>
        <a:srgbClr val="C58B2A"/>
      </a:accent2>
      <a:accent3>
        <a:srgbClr val="456A91"/>
      </a:accent3>
      <a:accent4>
        <a:srgbClr val="B36B5E"/>
      </a:accent4>
      <a:accent5>
        <a:srgbClr val="67558A"/>
      </a:accent5>
      <a:accent6>
        <a:srgbClr val="63826C"/>
      </a:accent6>
      <a:hlink>
        <a:srgbClr val="1F5F61"/>
      </a:hlink>
      <a:folHlink>
        <a:srgbClr val="6755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OMP2120 cream and teal">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2026-10-25T00:44:45.6750000Z</dcterms:created>
  <dcterms:modified xsi:type="dcterms:W3CDTF">2026-10-25T00:44:45.6750000Z</dcterms:modified>
</coreProperties>
</file>