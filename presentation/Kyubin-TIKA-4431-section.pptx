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ee4fcca3224da5" /><Relationship Type="http://schemas.openxmlformats.org/officeDocument/2006/relationships/extended-properties" Target="/docProps/app.xml" Id="R415fd2c7973e4a56" /><Relationship Type="http://schemas.openxmlformats.org/officeDocument/2006/relationships/officeDocument" Target="/ppt/presentation.xml" Id="R7c5c3df03636426e"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461dc25f5b14d70"/>
    <p:sldMasterId xmlns:r="http://schemas.openxmlformats.org/officeDocument/2006/relationships" id="2147483650" r:id="R34a7e7433ca14060"/>
  </p:sldMasterIdLst>
  <p:notesMasterIdLst>
    <p:notesMasterId xmlns:r="http://schemas.openxmlformats.org/officeDocument/2006/relationships" r:id="R62bfb3d519c8477f"/>
  </p:notesMasterIdLst>
  <p:sldIdLst>
    <p:sldId xmlns:r="http://schemas.openxmlformats.org/officeDocument/2006/relationships" id="256" r:id="R78f245f490d943d6"/>
    <p:sldId xmlns:r="http://schemas.openxmlformats.org/officeDocument/2006/relationships" id="257" r:id="R988850760c3b4eaa"/>
  </p:sldIdLst>
  <p:sldSz cx="12192000" cy="6858000"/>
  <p:notesSz cx="6858000" cy="9144000"/>
  <p:embeddedFontLst>
    <p:embeddedFont>
      <p:font typeface="Manrope"/>
      <p:regular xmlns:r="http://schemas.openxmlformats.org/officeDocument/2006/relationships" r:id="R68366a930fdd47c7"/>
      <p:bold xmlns:r="http://schemas.openxmlformats.org/officeDocument/2006/relationships" r:id="R2d66a9cd412c432a"/>
    </p:embeddedFont>
    <p:embeddedFont>
      <p:font typeface="Roboto Mono"/>
      <p:regular xmlns:r="http://schemas.openxmlformats.org/officeDocument/2006/relationships" r:id="R95a227cbac9b430c"/>
      <p:bold xmlns:r="http://schemas.openxmlformats.org/officeDocument/2006/relationships" r:id="Rdd55c52958264b18"/>
      <p:italic xmlns:r="http://schemas.openxmlformats.org/officeDocument/2006/relationships" r:id="R7664139449a942b1"/>
      <p:boldItalic xmlns:r="http://schemas.openxmlformats.org/officeDocument/2006/relationships" r:id="R60acf381efa04a12"/>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f1c3601b7b4bd7" /><Relationship Type="http://schemas.openxmlformats.org/officeDocument/2006/relationships/slideMaster" Target="/ppt/slideMasters/slideMaster1.xml" Id="Rd461dc25f5b14d70" /><Relationship Type="http://schemas.openxmlformats.org/officeDocument/2006/relationships/slideMaster" Target="/ppt/slideMasters/slideMaster2.xml" Id="R34a7e7433ca14060" /><Relationship Type="http://schemas.openxmlformats.org/officeDocument/2006/relationships/notesMaster" Target="/ppt/notesMasters/notesMaster1.xml" Id="R62bfb3d519c8477f" /><Relationship Type="http://schemas.openxmlformats.org/officeDocument/2006/relationships/presProps" Target="/ppt/presProps.xml" Id="Rbd1880aa7cb24002" /><Relationship Type="http://schemas.openxmlformats.org/officeDocument/2006/relationships/tableStyles" Target="/ppt/tableStyles.xml" Id="R62523c209af64331" /><Relationship Type="http://schemas.openxmlformats.org/officeDocument/2006/relationships/font" Target="/ppt/fonts/font.dat" Id="R68366a930fdd47c7" /><Relationship Type="http://schemas.openxmlformats.org/officeDocument/2006/relationships/font" Target="/ppt/fonts/font2.dat" Id="R2d66a9cd412c432a" /><Relationship Type="http://schemas.openxmlformats.org/officeDocument/2006/relationships/font" Target="/ppt/fonts/font3.dat" Id="R95a227cbac9b430c" /><Relationship Type="http://schemas.openxmlformats.org/officeDocument/2006/relationships/font" Target="/ppt/fonts/font4.dat" Id="Rdd55c52958264b18" /><Relationship Type="http://schemas.openxmlformats.org/officeDocument/2006/relationships/font" Target="/ppt/fonts/font5.dat" Id="R7664139449a942b1" /><Relationship Type="http://schemas.openxmlformats.org/officeDocument/2006/relationships/font" Target="/ppt/fonts/font6.dat" Id="R60acf381efa04a12" /><Relationship Type="http://schemas.openxmlformats.org/officeDocument/2006/relationships/slide" Target="/ppt/slides/slide1.xml" Id="R78f245f490d943d6" /><Relationship Type="http://schemas.openxmlformats.org/officeDocument/2006/relationships/slide" Target="/ppt/slides/slide2.xml" Id="R988850760c3b4e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24664d5911f49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6ddac5b1d4486c" /><Relationship Type="http://schemas.openxmlformats.org/officeDocument/2006/relationships/notesMaster" Target="/ppt/notesMasters/notesMaster1.xml" Id="R7201b365a1454b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3ec18841754516" /><Relationship Type="http://schemas.openxmlformats.org/officeDocument/2006/relationships/notesMaster" Target="/ppt/notesMasters/notesMaster1.xml" Id="R1cbfafaf9ff74d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Presenter: Kyubin Park. Suggested speaking slot: 30–35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My issue concerned CSV filenames containing a hash. Tika detected the same CSV bytes as plain text for a name such as Lorem-Ipsum hash one-two-three dot CSV. Its URI parser interpreted everything after the hash as a fragment, as it would in a web address. That left Lorem-Ipsum as the path, without the CSV extension. Preserving the full filename hint restores the expected CSV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https://github.com/u8026876/comp2120-gyg-a5/pull/7 and https://github.com/u8026876/comp2120-gyg-a5/issues/1 . Published commit: 86483a61d15e22a03f1bbdf6e0c199012baa34ed. Local evidence recorded 21 October 2026; PR status checked 25 October 2026. The group PR is open and unmerged. Apache submission is a separate follow-up.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Exact implementation boundary: no URI scheme or raw authority; compare the last raw hash and dot before the first query delimiter, before percent decoding, then escape hashes for path extraction. Bare inputs can also be relative URIs, so this is a filename heuristic, not proof of caller intent or content. Explicit schemes and network authorities retain URI handling.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Validation on the group-base patch: with new tests retained and only the production fix absent, 33 TikaDetectionTest cases reported 9 failures and 0 errors. With the fix restored, all 33 passed. The saved core unit run reported 1,391 tests, 0 failures, 0 errors and 11 skipped. Core/reactor prerequisites and style/license checks passed. This does not establish full-repository validation or remote CI. No fresh code test run was performed for this presentation.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Command: ./mvnw.cmd clean install -pl tika-core -am -Ppedantic -Dtika.test.locale=random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Attribution: Kyubin Park (@u8026876) owns TIKA-4431. Codex assisted investigation, implementation, tests and presentation drafting. Jiajun (@Lynnbb88) and Terry (@zjt060523terry) supplied scoped peer reviews with their own assistance disclosures. The visual template is the group kit; Jiajun's presentation is a layout reference, not the source of this contribution.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Presenter: Kyubin Park. Suggested speaking slot: 35–40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important boundary was real URLs, where the hash really does mark a fragment. The change preserves that behaviour and applies the new handling only to filename-like inputs. Tests also cover query strings and encoded characters. Removing only the production fix caused nine of the thirty-three detection cases to fail. Restoring it made all thirty-three pass. These are local results. The group pull request is open, and Apache submission is still pending. The lesson was to test the compatibility boundary as well as the reported example.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https://github.com/u8026876/comp2120-gyg-a5/pull/7 and https://github.com/u8026876/comp2120-gyg-a5/issues/1 . Published commit: 86483a61d15e22a03f1bbdf6e0c199012baa34ed. Local evidence recorded 21 October 2026; PR status checked 25 October 2026. The group PR is open and unmerged. Apache submission is a separate follow-up.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Exact implementation boundary: no URI scheme or raw authority; compare the last raw hash and dot before the first query delimiter, before percent decoding, then escape hashes for path extraction. Bare inputs can also be relative URIs, so this is a filename heuristic, not proof of caller intent or content. Explicit schemes and network authorities retain URI handling.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Validation on the group-base patch: with new tests retained and only the production fix absent, 33 TikaDetectionTest cases reported 9 failures and 0 errors. With the fix restored, all 33 passed. The saved core unit run reported 1,391 tests, 0 failures, 0 errors and 11 skipped. Core/reactor prerequisites and style/license checks passed. This does not establish full-repository validation or remote CI. No fresh code test run was performed for this presentation.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Command: ./mvnw.cmd clean install -pl tika-core -am -Ppedantic -Dtika.test.locale=random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Attribution: Kyubin Park (@u8026876) owns TIKA-4431. Codex assisted investigation, implementation, tests and presentation drafting. Jiajun (@Lynnbb88) and Terry (@zjt060523terry) supplied scoped peer reviews with their own assistance disclosures. The visual template is the group kit; Jiajun's presentation is a layout reference, not the source of this contribution.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ece932ee2147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04af4dee102842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04db1ee461e445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dc010f0da2464a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f3b8d2fbbfb64ab0" /></Relationships>
</file>

<file path=ppt/slideLayouts/slideLayout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11" name="Google Shape;11;p2">
            <a:extLst xmlns:a="http://schemas.openxmlformats.org/drawingml/2006/main">
              <a:ext uri="{FF2B5EF4-FFF2-40B4-BE49-F238E27FC236}">
                <a16:creationId xmlns:a16="http://schemas.microsoft.com/office/drawing/2014/main" id="{0D8847DF-A93B-4F3D-89D3-2355E6069E98}"/>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1938093B-CCC4-41B6-8A9F-8E5B408792A7}"/>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15" name="Google Shape;15;p4">
            <a:extLst xmlns:a="http://schemas.openxmlformats.org/drawingml/2006/main">
              <a:ext uri="{FF2B5EF4-FFF2-40B4-BE49-F238E27FC236}">
                <a16:creationId xmlns:a16="http://schemas.microsoft.com/office/drawing/2014/main" id="{4E354046-221B-4934-A60F-8FBE2D8289F4}"/>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6" name="Google Shape;16;p4">
            <a:extLst xmlns:a="http://schemas.openxmlformats.org/drawingml/2006/main">
              <a:ext uri="{FF2B5EF4-FFF2-40B4-BE49-F238E27FC236}">
                <a16:creationId xmlns:a16="http://schemas.microsoft.com/office/drawing/2014/main" id="{7CAD29F7-942E-474C-9AD4-FDEC3F0D82AA}"/>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17" name="Google Shape;17;p4">
            <a:extLst xmlns:a="http://schemas.openxmlformats.org/drawingml/2006/main">
              <a:ext uri="{FF2B5EF4-FFF2-40B4-BE49-F238E27FC236}">
                <a16:creationId xmlns:a16="http://schemas.microsoft.com/office/drawing/2014/main" id="{AE79A4DE-6D3A-4CDD-A5AB-37AD23D1E5DF}"/>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19" name="Google Shape;19;p5">
            <a:extLst xmlns:a="http://schemas.openxmlformats.org/drawingml/2006/main">
              <a:ext uri="{FF2B5EF4-FFF2-40B4-BE49-F238E27FC236}">
                <a16:creationId xmlns:a16="http://schemas.microsoft.com/office/drawing/2014/main" id="{DE011E28-65D2-4C5B-B272-0AC1EC23C6BF}"/>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0" name="Google Shape;20;p5">
            <a:extLst xmlns:a="http://schemas.openxmlformats.org/drawingml/2006/main">
              <a:ext uri="{FF2B5EF4-FFF2-40B4-BE49-F238E27FC236}">
                <a16:creationId xmlns:a16="http://schemas.microsoft.com/office/drawing/2014/main" id="{C56012C0-0208-4FE9-BE53-CA2E974615B4}"/>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21" name="Google Shape;21;p5">
            <a:extLst xmlns:a="http://schemas.openxmlformats.org/drawingml/2006/main">
              <a:ext uri="{FF2B5EF4-FFF2-40B4-BE49-F238E27FC236}">
                <a16:creationId xmlns:a16="http://schemas.microsoft.com/office/drawing/2014/main" id="{131646E8-7D90-481C-B5AF-DED2C11CAC1E}"/>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23" name="Google Shape;23;p6">
            <a:extLst xmlns:a="http://schemas.openxmlformats.org/drawingml/2006/main">
              <a:ext uri="{FF2B5EF4-FFF2-40B4-BE49-F238E27FC236}">
                <a16:creationId xmlns:a16="http://schemas.microsoft.com/office/drawing/2014/main" id="{0A9EA113-753D-4D4A-BCEA-1C8A9AD2E5F5}"/>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4" name="Google Shape;24;p6">
            <a:extLst xmlns:a="http://schemas.openxmlformats.org/drawingml/2006/main">
              <a:ext uri="{FF2B5EF4-FFF2-40B4-BE49-F238E27FC236}">
                <a16:creationId xmlns:a16="http://schemas.microsoft.com/office/drawing/2014/main" id="{6558D1AF-11A0-43DA-A71F-67BB9806CA83}"/>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26" name="Google Shape;26;p7">
            <a:extLst xmlns:a="http://schemas.openxmlformats.org/drawingml/2006/main">
              <a:ext uri="{FF2B5EF4-FFF2-40B4-BE49-F238E27FC236}">
                <a16:creationId xmlns:a16="http://schemas.microsoft.com/office/drawing/2014/main" id="{E9D7A9EF-9B89-4087-991A-5E1764970182}"/>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7" name="Google Shape;27;p7">
            <a:extLst xmlns:a="http://schemas.openxmlformats.org/drawingml/2006/main">
              <a:ext uri="{FF2B5EF4-FFF2-40B4-BE49-F238E27FC236}">
                <a16:creationId xmlns:a16="http://schemas.microsoft.com/office/drawing/2014/main" id="{77DFC64A-7DB5-479B-B0A5-00B8B99A1931}"/>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fda90c464a4699" /><Relationship Type="http://schemas.openxmlformats.org/officeDocument/2006/relationships/slideLayout" Target="/ppt/slideLayouts/slideLayout1.xml" Id="Rb69be4d7f26d4ae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cd67bff388e14808" /><Relationship Type="http://schemas.openxmlformats.org/officeDocument/2006/relationships/slideLayout" Target="/ppt/slideLayouts/slideLayout2.xml" Id="R66e2bde0b33248de" /><Relationship Type="http://schemas.openxmlformats.org/officeDocument/2006/relationships/slideLayout" Target="/ppt/slideLayouts/slideLayout3.xml" Id="R3ee4ab4657174414" /><Relationship Type="http://schemas.openxmlformats.org/officeDocument/2006/relationships/slideLayout" Target="/ppt/slideLayouts/slideLayout4.xml" Id="R6ab5738ecb5548c4" /><Relationship Type="http://schemas.openxmlformats.org/officeDocument/2006/relationships/slideLayout" Target="/ppt/slideLayouts/slideLayout5.xml" Id="Rf71ecc3c43784bdd"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69be4d7f26d4ae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1" r:id="R66e2bde0b33248de"/>
    <p:sldLayoutId xmlns:r="http://schemas.openxmlformats.org/officeDocument/2006/relationships" id="2147483652" r:id="R3ee4ab4657174414"/>
    <p:sldLayoutId xmlns:r="http://schemas.openxmlformats.org/officeDocument/2006/relationships" id="2147483653" r:id="R6ab5738ecb5548c4"/>
    <p:sldLayoutId xmlns:r="http://schemas.openxmlformats.org/officeDocument/2006/relationships" id="2147483654" r:id="Rf71ecc3c43784bd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bd22d0b1f31a4120" /><Relationship Type="http://schemas.openxmlformats.org/officeDocument/2006/relationships/notesSlide" Target="/ppt/notesSlides/notesSlide1.xml" Id="Re999ee8bb25a4c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9aa75bf4de174c55" /><Relationship Type="http://schemas.openxmlformats.org/officeDocument/2006/relationships/notesSlide" Target="/ppt/notesSlides/notesSlide2.xml" Id="R91ab15dc199c490d" /></Relationships>
</file>

<file path=ppt/slides/slide1.xml><?xml version="1.0" encoding="utf-8"?>
<p:sld xmlns:p="http://schemas.openxmlformats.org/presentationml/2006/main">
  <p:cSld>
    <p:bg>
      <p:bgPr>
        <a:solidFill xmlns:a="http://schemas.openxmlformats.org/drawingml/2006/main">
          <a:srgbClr val="203B34"/>
        </a:solidFill>
      </p:bgPr>
    </p:bg>
    <p:spTree>
      <p:nvGrpSpPr>
        <p:cNvPr id="1" name=""/>
        <p:cNvGrpSpPr/>
        <p:nvPr/>
      </p:nvGrpSpPr>
      <p:grpSpPr>
        <a:xfrm xmlns:a="http://schemas.openxmlformats.org/drawingml/2006/main"/>
      </p:grpSpPr>
      <p:sp>
        <p:nvSpPr>
          <p:cNvPr id="42" name="Google Shape;42;p9">
            <a:extLst xmlns:a="http://schemas.openxmlformats.org/drawingml/2006/main">
              <a:ext uri="{FF2B5EF4-FFF2-40B4-BE49-F238E27FC236}">
                <a16:creationId xmlns:a16="http://schemas.microsoft.com/office/drawing/2014/main" id="{13C05C6B-CA28-4EAC-A851-73EBABC996BC}"/>
              </a:ext>
            </a:extLst>
          </p:cNvPr>
          <p:cNvSpPr>
            <a:spLocks xmlns:a="http://schemas.openxmlformats.org/drawingml/2006/main" noGrp="1"/>
          </p:cNvSpPr>
          <p:nvPr/>
        </p:nvSpPr>
        <p:spPr>
          <a:xfrm xmlns:a="http://schemas.openxmlformats.org/drawingml/2006/main">
            <a:off x="0" y="3835400"/>
            <a:ext cx="12192000" cy="3022500"/>
          </a:xfrm>
          <a:prstGeom xmlns:a="http://schemas.openxmlformats.org/drawingml/2006/main" prst="rect">
            <a:avLst/>
          </a:prstGeom>
          <a:solidFill xmlns:a="http://schemas.openxmlformats.org/drawingml/2006/main">
            <a:srgbClr val="F0E8D9"/>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43" name="Google Shape;43;p9">
            <a:extLst xmlns:a="http://schemas.openxmlformats.org/drawingml/2006/main">
              <a:ext uri="{FF2B5EF4-FFF2-40B4-BE49-F238E27FC236}">
                <a16:creationId xmlns:a16="http://schemas.microsoft.com/office/drawing/2014/main" id="{31A941C7-CFE2-4384-B01C-E977482EBC00}"/>
              </a:ext>
            </a:extLst>
          </p:cNvPr>
          <p:cNvSpPr>
            <a:spLocks xmlns:a="http://schemas.openxmlformats.org/drawingml/2006/main" noGrp="1"/>
          </p:cNvSpPr>
          <p:nvPr/>
        </p:nvSpPr>
        <p:spPr>
          <a:xfrm xmlns:a="http://schemas.openxmlformats.org/drawingml/2006/main">
            <a:off x="609600" y="330200"/>
            <a:ext cx="9651900" cy="27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00">
                <a:solidFill>
                  <a:srgbClr val="B8C7AB"/>
                </a:solidFill>
                <a:latin typeface="Roboto Mono"/>
                <a:ea typeface="Roboto Mono"/>
                <a:cs typeface="Roboto Mono"/>
              </a:rPr>
              <a:t>TIKA-4431 / FILENAME DETECTION</a:t>
            </a:r>
            <a:endParaRPr sz="1100">
              <a:solidFill>
                <a:srgbClr val="B8C7AB"/>
              </a:solidFill>
              <a:latin typeface="Roboto Mono"/>
              <a:ea typeface="Roboto Mono"/>
              <a:cs typeface="Roboto Mono"/>
            </a:endParaRPr>
          </a:p>
        </p:txBody>
      </p:sp>
      <p:sp>
        <p:nvSpPr>
          <p:cNvPr id="44" name="Google Shape;44;p9">
            <a:extLst xmlns:a="http://schemas.openxmlformats.org/drawingml/2006/main">
              <a:ext uri="{FF2B5EF4-FFF2-40B4-BE49-F238E27FC236}">
                <a16:creationId xmlns:a16="http://schemas.microsoft.com/office/drawing/2014/main" id="{B7EDA4E6-CB59-4E1E-8012-B39FC9B76A59}"/>
              </a:ext>
            </a:extLst>
          </p:cNvPr>
          <p:cNvSpPr>
            <a:spLocks xmlns:a="http://schemas.openxmlformats.org/drawingml/2006/main" noGrp="1"/>
          </p:cNvSpPr>
          <p:nvPr/>
        </p:nvSpPr>
        <p:spPr>
          <a:xfrm xmlns:a="http://schemas.openxmlformats.org/drawingml/2006/main">
            <a:off x="10871200" y="330200"/>
            <a:ext cx="711300" cy="27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100">
                <a:solidFill>
                  <a:srgbClr val="B8C7AB"/>
                </a:solidFill>
                <a:latin typeface="Roboto Mono"/>
                <a:ea typeface="Roboto Mono"/>
                <a:cs typeface="Roboto Mono"/>
              </a:rPr>
              <a:t>01</a:t>
            </a:r>
            <a:endParaRPr sz="1100">
              <a:solidFill>
                <a:srgbClr val="B8C7AB"/>
              </a:solidFill>
              <a:latin typeface="Roboto Mono"/>
              <a:ea typeface="Roboto Mono"/>
              <a:cs typeface="Roboto Mono"/>
            </a:endParaRPr>
          </a:p>
        </p:txBody>
      </p:sp>
      <p:sp>
        <p:nvSpPr>
          <p:cNvPr id="45" name="Google Shape;45;p9">
            <a:extLst xmlns:a="http://schemas.openxmlformats.org/drawingml/2006/main">
              <a:ext uri="{FF2B5EF4-FFF2-40B4-BE49-F238E27FC236}">
                <a16:creationId xmlns:a16="http://schemas.microsoft.com/office/drawing/2014/main" id="{D3BD6B5B-8A88-4DB5-A88A-3A532D9227AE}"/>
              </a:ext>
            </a:extLst>
          </p:cNvPr>
          <p:cNvSpPr>
            <a:spLocks xmlns:a="http://schemas.openxmlformats.org/drawingml/2006/main" noGrp="1"/>
          </p:cNvSpPr>
          <p:nvPr>
            <p:ph type="title" idx="0"/>
          </p:nvPr>
        </p:nvSpPr>
        <p:spPr>
          <a:xfrm xmlns:a="http://schemas.openxmlformats.org/drawingml/2006/main">
            <a:off x="609600" y="952500"/>
            <a:ext cx="10972800" cy="9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500" b="1">
                <a:solidFill>
                  <a:srgbClr val="F0E8D9"/>
                </a:solidFill>
                <a:latin typeface="Manrope"/>
                <a:ea typeface="Manrope"/>
                <a:cs typeface="Manrope"/>
              </a:rPr>
              <a:t>A filename lost its CSV extension</a:t>
            </a:r>
            <a:endParaRPr sz="3500" b="1">
              <a:solidFill>
                <a:srgbClr val="F0E8D9"/>
              </a:solidFill>
              <a:latin typeface="Manrope"/>
              <a:ea typeface="Manrope"/>
              <a:cs typeface="Manrope"/>
            </a:endParaRPr>
          </a:p>
        </p:txBody>
      </p:sp>
      <p:sp>
        <p:nvSpPr>
          <p:cNvPr id="46" name="Google Shape;46;p9">
            <a:extLst xmlns:a="http://schemas.openxmlformats.org/drawingml/2006/main">
              <a:ext uri="{FF2B5EF4-FFF2-40B4-BE49-F238E27FC236}">
                <a16:creationId xmlns:a16="http://schemas.microsoft.com/office/drawing/2014/main" id="{5B893742-5E3A-4FB5-A039-4FC7C708EED8}"/>
              </a:ext>
            </a:extLst>
          </p:cNvPr>
          <p:cNvSpPr>
            <a:spLocks xmlns:a="http://schemas.openxmlformats.org/drawingml/2006/main" noGrp="1"/>
          </p:cNvSpPr>
          <p:nvPr/>
        </p:nvSpPr>
        <p:spPr>
          <a:xfrm xmlns:a="http://schemas.openxmlformats.org/drawingml/2006/main">
            <a:off x="7620000" y="6578600"/>
            <a:ext cx="3962400" cy="20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900">
                <a:solidFill>
                  <a:srgbClr val="203B34"/>
                </a:solidFill>
                <a:latin typeface="Manrope"/>
                <a:ea typeface="Manrope"/>
                <a:cs typeface="Manrope"/>
              </a:rPr>
              <a:t>Kyubin Park / @u8026876</a:t>
            </a:r>
            <a:endParaRPr sz="900">
              <a:solidFill>
                <a:srgbClr val="203B34"/>
              </a:solidFill>
              <a:latin typeface="Manrope"/>
              <a:ea typeface="Manrope"/>
              <a:cs typeface="Manrope"/>
            </a:endParaRPr>
          </a:p>
        </p:txBody>
      </p:sp>
      <p:sp>
        <p:nvSpPr>
          <p:cNvPr id="47" name="Google Shape;47;p9">
            <a:extLst xmlns:a="http://schemas.openxmlformats.org/drawingml/2006/main">
              <a:ext uri="{FF2B5EF4-FFF2-40B4-BE49-F238E27FC236}">
                <a16:creationId xmlns:a16="http://schemas.microsoft.com/office/drawing/2014/main" id="{4D574D7E-3D86-494A-B76C-A74EB7A85F5B}"/>
              </a:ext>
            </a:extLst>
          </p:cNvPr>
          <p:cNvSpPr>
            <a:spLocks xmlns:a="http://schemas.openxmlformats.org/drawingml/2006/main" noGrp="1"/>
          </p:cNvSpPr>
          <p:nvPr/>
        </p:nvSpPr>
        <p:spPr>
          <a:xfrm xmlns:a="http://schemas.openxmlformats.org/drawingml/2006/main">
            <a:off x="609600" y="4152900"/>
            <a:ext cx="5079900" cy="33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00" b="1">
                <a:solidFill>
                  <a:srgbClr val="A14F37"/>
                </a:solidFill>
                <a:latin typeface="Manrope"/>
                <a:ea typeface="Manrope"/>
                <a:cs typeface="Manrope"/>
              </a:rPr>
              <a:t>ORIGINAL / URI INTERPRETATION</a:t>
            </a:r>
            <a:endParaRPr sz="1200" b="1">
              <a:solidFill>
                <a:srgbClr val="A14F37"/>
              </a:solidFill>
              <a:latin typeface="Manrope"/>
              <a:ea typeface="Manrope"/>
              <a:cs typeface="Manrope"/>
            </a:endParaRPr>
          </a:p>
        </p:txBody>
      </p:sp>
      <p:sp>
        <p:nvSpPr>
          <p:cNvPr id="48" name="Google Shape;48;p9">
            <a:extLst xmlns:a="http://schemas.openxmlformats.org/drawingml/2006/main">
              <a:ext uri="{FF2B5EF4-FFF2-40B4-BE49-F238E27FC236}">
                <a16:creationId xmlns:a16="http://schemas.microsoft.com/office/drawing/2014/main" id="{25F3B97E-68DF-48BC-B702-82B8D7B6A17F}"/>
              </a:ext>
            </a:extLst>
          </p:cNvPr>
          <p:cNvSpPr>
            <a:spLocks xmlns:a="http://schemas.openxmlformats.org/drawingml/2006/main" noGrp="1"/>
          </p:cNvSpPr>
          <p:nvPr/>
        </p:nvSpPr>
        <p:spPr>
          <a:xfrm xmlns:a="http://schemas.openxmlformats.org/drawingml/2006/main">
            <a:off x="6604000" y="4152900"/>
            <a:ext cx="4978500" cy="33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00" b="1">
                <a:solidFill>
                  <a:srgbClr val="203B34"/>
                </a:solidFill>
                <a:latin typeface="Manrope"/>
                <a:ea typeface="Manrope"/>
                <a:cs typeface="Manrope"/>
              </a:rPr>
              <a:t>FIX / FILENAME INTERPRETATION</a:t>
            </a:r>
            <a:endParaRPr sz="1200" b="1">
              <a:solidFill>
                <a:srgbClr val="203B34"/>
              </a:solidFill>
              <a:latin typeface="Manrope"/>
              <a:ea typeface="Manrope"/>
              <a:cs typeface="Manrope"/>
            </a:endParaRPr>
          </a:p>
        </p:txBody>
      </p:sp>
      <p:sp>
        <p:nvSpPr>
          <p:cNvPr id="49" name="Google Shape;49;p9">
            <a:extLst xmlns:a="http://schemas.openxmlformats.org/drawingml/2006/main">
              <a:ext uri="{FF2B5EF4-FFF2-40B4-BE49-F238E27FC236}">
                <a16:creationId xmlns:a16="http://schemas.microsoft.com/office/drawing/2014/main" id="{30244DE0-74F1-45CA-B3A6-63EF5950BD94}"/>
              </a:ext>
            </a:extLst>
          </p:cNvPr>
          <p:cNvSpPr>
            <a:spLocks xmlns:a="http://schemas.openxmlformats.org/drawingml/2006/main" noGrp="1"/>
          </p:cNvSpPr>
          <p:nvPr/>
        </p:nvSpPr>
        <p:spPr>
          <a:xfrm xmlns:a="http://schemas.openxmlformats.org/drawingml/2006/main">
            <a:off x="609600" y="2286000"/>
            <a:ext cx="10972800" cy="10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4800">
                <a:solidFill>
                  <a:srgbClr val="F0E8D9"/>
                </a:solidFill>
                <a:latin typeface="Roboto Mono"/>
                <a:ea typeface="Roboto Mono"/>
                <a:cs typeface="Roboto Mono"/>
              </a:rPr>
              <a:t>Lorem-Ipsum</a:t>
            </a:r>
            <a:r>
              <a:rPr sz="4800" b="1">
                <a:solidFill>
                  <a:srgbClr val="D99575"/>
                </a:solidFill>
                <a:latin typeface="Roboto Mono"/>
                <a:ea typeface="Roboto Mono"/>
                <a:cs typeface="Roboto Mono"/>
              </a:rPr>
              <a:t>#</a:t>
            </a:r>
            <a:r>
              <a:rPr sz="4800">
                <a:solidFill>
                  <a:srgbClr val="F0E8D9"/>
                </a:solidFill>
                <a:latin typeface="Roboto Mono"/>
                <a:ea typeface="Roboto Mono"/>
                <a:cs typeface="Roboto Mono"/>
              </a:rPr>
              <a:t>123.csv</a:t>
            </a:r>
            <a:endParaRPr sz="4800">
              <a:solidFill>
                <a:srgbClr val="F0E8D9"/>
              </a:solidFill>
              <a:latin typeface="Roboto Mono"/>
              <a:ea typeface="Roboto Mono"/>
              <a:cs typeface="Roboto Mono"/>
            </a:endParaRPr>
          </a:p>
        </p:txBody>
      </p:sp>
      <p:sp>
        <p:nvSpPr>
          <p:cNvPr id="50" name="Google Shape;50;p9">
            <a:extLst xmlns:a="http://schemas.openxmlformats.org/drawingml/2006/main">
              <a:ext uri="{FF2B5EF4-FFF2-40B4-BE49-F238E27FC236}">
                <a16:creationId xmlns:a16="http://schemas.microsoft.com/office/drawing/2014/main" id="{69C61208-1BBB-4797-A336-F20249086177}"/>
              </a:ext>
            </a:extLst>
          </p:cNvPr>
          <p:cNvSpPr>
            <a:spLocks xmlns:a="http://schemas.openxmlformats.org/drawingml/2006/main" noGrp="1"/>
          </p:cNvSpPr>
          <p:nvPr/>
        </p:nvSpPr>
        <p:spPr>
          <a:xfrm xmlns:a="http://schemas.openxmlformats.org/drawingml/2006/main">
            <a:off x="609600" y="4673600"/>
            <a:ext cx="53340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00">
                <a:solidFill>
                  <a:srgbClr val="203B34"/>
                </a:solidFill>
                <a:latin typeface="Roboto Mono"/>
                <a:ea typeface="Roboto Mono"/>
                <a:cs typeface="Roboto Mono"/>
              </a:rPr>
              <a:t>path:     Lorem-Ipsum</a:t>
            </a:r>
            <a:endParaRPr sz="1900">
              <a:solidFill>
                <a:srgbClr val="203B34"/>
              </a:solidFill>
              <a:latin typeface="Roboto Mono"/>
              <a:ea typeface="Roboto Mono"/>
              <a:cs typeface="Roboto Mono"/>
            </a:endParaRPr>
          </a:p>
          <a:p xmlns:a="http://schemas.openxmlformats.org/drawingml/2006/main">
            <a:pPr marL="0" marR="0" lvl="0" indent="0" algn="l">
              <a:spcBef>
                <a:spcPts val="0"/>
              </a:spcBef>
              <a:spcAft>
                <a:spcPts val="0"/>
              </a:spcAft>
              <a:buNone/>
            </a:pPr>
            <a:r>
              <a:rPr sz="1900">
                <a:solidFill>
                  <a:srgbClr val="203B34"/>
                </a:solidFill>
                <a:latin typeface="Roboto Mono"/>
                <a:ea typeface="Roboto Mono"/>
                <a:cs typeface="Roboto Mono"/>
              </a:rPr>
              <a:t>fragment: 123.csv</a:t>
            </a:r>
            <a:endParaRPr sz="1900">
              <a:solidFill>
                <a:srgbClr val="203B34"/>
              </a:solidFill>
              <a:latin typeface="Roboto Mono"/>
              <a:ea typeface="Roboto Mono"/>
              <a:cs typeface="Roboto Mono"/>
            </a:endParaRPr>
          </a:p>
        </p:txBody>
      </p:sp>
      <p:sp>
        <p:nvSpPr>
          <p:cNvPr id="51" name="Google Shape;51;p9">
            <a:extLst xmlns:a="http://schemas.openxmlformats.org/drawingml/2006/main">
              <a:ext uri="{FF2B5EF4-FFF2-40B4-BE49-F238E27FC236}">
                <a16:creationId xmlns:a16="http://schemas.microsoft.com/office/drawing/2014/main" id="{2C8E7ABC-E18C-4BEF-8234-EE6B993AF7D5}"/>
              </a:ext>
            </a:extLst>
          </p:cNvPr>
          <p:cNvSpPr>
            <a:spLocks xmlns:a="http://schemas.openxmlformats.org/drawingml/2006/main" noGrp="1"/>
          </p:cNvSpPr>
          <p:nvPr/>
        </p:nvSpPr>
        <p:spPr>
          <a:xfrm xmlns:a="http://schemas.openxmlformats.org/drawingml/2006/main">
            <a:off x="6604000" y="4673600"/>
            <a:ext cx="49785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200">
                <a:solidFill>
                  <a:srgbClr val="203B34"/>
                </a:solidFill>
                <a:latin typeface="Roboto Mono"/>
                <a:ea typeface="Roboto Mono"/>
                <a:cs typeface="Roboto Mono"/>
              </a:rPr>
              <a:t>Lorem-Ipsum#123.csv</a:t>
            </a:r>
            <a:endParaRPr sz="2200">
              <a:solidFill>
                <a:srgbClr val="203B34"/>
              </a:solidFill>
              <a:latin typeface="Roboto Mono"/>
              <a:ea typeface="Roboto Mono"/>
              <a:cs typeface="Roboto Mono"/>
            </a:endParaRPr>
          </a:p>
        </p:txBody>
      </p:sp>
      <p:sp>
        <p:nvSpPr>
          <p:cNvPr id="52" name="Google Shape;52;p9">
            <a:extLst xmlns:a="http://schemas.openxmlformats.org/drawingml/2006/main">
              <a:ext uri="{FF2B5EF4-FFF2-40B4-BE49-F238E27FC236}">
                <a16:creationId xmlns:a16="http://schemas.microsoft.com/office/drawing/2014/main" id="{F74ECEAF-C9A7-4B8C-80B6-A597893DE40B}"/>
              </a:ext>
            </a:extLst>
          </p:cNvPr>
          <p:cNvSpPr>
            <a:spLocks xmlns:a="http://schemas.openxmlformats.org/drawingml/2006/main" noGrp="1"/>
          </p:cNvSpPr>
          <p:nvPr/>
        </p:nvSpPr>
        <p:spPr>
          <a:xfrm xmlns:a="http://schemas.openxmlformats.org/drawingml/2006/main">
            <a:off x="6604000" y="5562600"/>
            <a:ext cx="4978500" cy="55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600" b="1">
                <a:solidFill>
                  <a:srgbClr val="203B34"/>
                </a:solidFill>
                <a:latin typeface="Roboto Mono"/>
                <a:ea typeface="Roboto Mono"/>
                <a:cs typeface="Roboto Mono"/>
              </a:rPr>
              <a:t>text/csv</a:t>
            </a:r>
            <a:endParaRPr sz="2600" b="1">
              <a:solidFill>
                <a:srgbClr val="203B34"/>
              </a:solidFill>
              <a:latin typeface="Roboto Mono"/>
              <a:ea typeface="Roboto Mono"/>
              <a:cs typeface="Roboto Mono"/>
            </a:endParaRPr>
          </a:p>
        </p:txBody>
      </p:sp>
      <p:sp>
        <p:nvSpPr>
          <p:cNvPr id="53" name="Google Shape;53;p9">
            <a:extLst xmlns:a="http://schemas.openxmlformats.org/drawingml/2006/main">
              <a:ext uri="{FF2B5EF4-FFF2-40B4-BE49-F238E27FC236}">
                <a16:creationId xmlns:a16="http://schemas.microsoft.com/office/drawing/2014/main" id="{78BEBD94-1937-4402-8CB9-4F8FD4256179}"/>
              </a:ext>
            </a:extLst>
          </p:cNvPr>
          <p:cNvSpPr>
            <a:spLocks xmlns:a="http://schemas.openxmlformats.org/drawingml/2006/main" noGrp="1"/>
          </p:cNvSpPr>
          <p:nvPr/>
        </p:nvSpPr>
        <p:spPr>
          <a:xfrm xmlns:a="http://schemas.openxmlformats.org/drawingml/2006/main">
            <a:off x="609600" y="5562600"/>
            <a:ext cx="5334000" cy="55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600" b="1">
                <a:solidFill>
                  <a:srgbClr val="A14F37"/>
                </a:solidFill>
                <a:latin typeface="Roboto Mono"/>
                <a:ea typeface="Roboto Mono"/>
                <a:cs typeface="Roboto Mono"/>
              </a:rPr>
              <a:t>text/plain</a:t>
            </a:r>
            <a:endParaRPr sz="2600" b="1">
              <a:solidFill>
                <a:srgbClr val="A14F37"/>
              </a:solidFill>
              <a:latin typeface="Roboto Mono"/>
              <a:ea typeface="Roboto Mono"/>
              <a:cs typeface="Roboto Mono"/>
            </a:endParaRPr>
          </a:p>
        </p:txBody>
      </p:sp>
      <p:sp>
        <p:nvSpPr>
          <p:cNvPr id="54" name="Google Shape;54;p9">
            <a:extLst xmlns:a="http://schemas.openxmlformats.org/drawingml/2006/main">
              <a:ext uri="{FF2B5EF4-FFF2-40B4-BE49-F238E27FC236}">
                <a16:creationId xmlns:a16="http://schemas.microsoft.com/office/drawing/2014/main" id="{999F124F-30B3-4A8F-B5BA-9D81C83092BC}"/>
              </a:ext>
            </a:extLst>
          </p:cNvPr>
          <p:cNvSpPr>
            <a:spLocks xmlns:a="http://schemas.openxmlformats.org/drawingml/2006/main" noGrp="1"/>
          </p:cNvSpPr>
          <p:nvPr/>
        </p:nvSpPr>
        <p:spPr>
          <a:xfrm xmlns:a="http://schemas.openxmlformats.org/drawingml/2006/main">
            <a:off x="609600" y="6197600"/>
            <a:ext cx="10972800" cy="35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0">
                <a:solidFill>
                  <a:srgbClr val="203B34"/>
                </a:solidFill>
                <a:latin typeface="Manrope"/>
                <a:ea typeface="Manrope"/>
                <a:cs typeface="Manrope"/>
              </a:rPr>
              <a:t>Same CSV content. The missing extension changed the result.</a:t>
            </a:r>
            <a:endParaRPr sz="1250">
              <a:solidFill>
                <a:srgbClr val="203B34"/>
              </a:solidFill>
              <a:latin typeface="Manrope"/>
              <a:ea typeface="Manrope"/>
              <a:cs typeface="Manrope"/>
            </a:endParaRPr>
          </a:p>
        </p:txBody>
      </p:sp>
    </p:spTree>
    <p:extLst>
      <p:ext uri="{BB962C8B-B14F-4D97-AF65-F5344CB8AC3E}">
        <p14:creationId xmlns:p14="http://schemas.microsoft.com/office/powerpoint/2010/main" val="978995728"/>
      </p:ext>
    </p:extLst>
  </p:cSld>
</p:sld>
</file>

<file path=ppt/slides/slide2.xml><?xml version="1.0" encoding="utf-8"?>
<p:sld xmlns:p="http://schemas.openxmlformats.org/presentationml/2006/main">
  <p:cSld>
    <p:bg>
      <p:bgPr>
        <a:solidFill xmlns:a="http://schemas.openxmlformats.org/drawingml/2006/main">
          <a:srgbClr val="203B34"/>
        </a:solidFill>
      </p:bgPr>
    </p:bg>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D28FD7E2-9E7A-44CB-9EE0-DEB78BD69E73}"/>
              </a:ext>
            </a:extLst>
          </p:cNvPr>
          <p:cNvSpPr>
            <a:spLocks xmlns:a="http://schemas.openxmlformats.org/drawingml/2006/main" noGrp="1"/>
          </p:cNvSpPr>
          <p:nvPr/>
        </p:nvSpPr>
        <p:spPr>
          <a:xfrm xmlns:a="http://schemas.openxmlformats.org/drawingml/2006/main">
            <a:off x="609600" y="390525"/>
            <a:ext cx="9048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50" b="1">
                <a:solidFill>
                  <a:srgbClr val="F0E8D9"/>
                </a:solidFill>
                <a:latin typeface="Manrope"/>
                <a:ea typeface="Manrope"/>
                <a:cs typeface="Manrope"/>
              </a:rPr>
              <a:t>TIKA-4431 / DECISION AND EVIDENCE</a:t>
            </a:r>
            <a:endParaRPr sz="1050" b="1">
              <a:solidFill>
                <a:srgbClr val="F0E8D9"/>
              </a:solidFill>
              <a:latin typeface="Manrope"/>
              <a:ea typeface="Manrope"/>
              <a:cs typeface="Manrope"/>
            </a:endParaRPr>
          </a:p>
        </p:txBody>
      </p:sp>
      <p:sp>
        <p:nvSpPr>
          <p:cNvPr id="78" name="Google Shape;78;p11">
            <a:extLst xmlns:a="http://schemas.openxmlformats.org/drawingml/2006/main">
              <a:ext uri="{FF2B5EF4-FFF2-40B4-BE49-F238E27FC236}">
                <a16:creationId xmlns:a16="http://schemas.microsoft.com/office/drawing/2014/main" id="{E32A895E-CA58-4C08-B79A-7D91F083688A}"/>
              </a:ext>
            </a:extLst>
          </p:cNvPr>
          <p:cNvSpPr>
            <a:spLocks xmlns:a="http://schemas.openxmlformats.org/drawingml/2006/main" noGrp="1"/>
          </p:cNvSpPr>
          <p:nvPr/>
        </p:nvSpPr>
        <p:spPr>
          <a:xfrm xmlns:a="http://schemas.openxmlformats.org/drawingml/2006/main">
            <a:off x="10953750" y="390525"/>
            <a:ext cx="6286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B8C7AB"/>
                </a:solidFill>
                <a:latin typeface="Manrope"/>
                <a:ea typeface="Manrope"/>
                <a:cs typeface="Manrope"/>
              </a:rPr>
              <a:t>02</a:t>
            </a:r>
            <a:endParaRPr sz="1000">
              <a:solidFill>
                <a:srgbClr val="B8C7AB"/>
              </a:solidFill>
              <a:latin typeface="Manrope"/>
              <a:ea typeface="Manrope"/>
              <a:cs typeface="Manrope"/>
            </a:endParaRPr>
          </a:p>
        </p:txBody>
      </p:sp>
      <p:sp>
        <p:nvSpPr>
          <p:cNvPr id="79" name="Google Shape;79;p11">
            <a:extLst xmlns:a="http://schemas.openxmlformats.org/drawingml/2006/main">
              <a:ext uri="{FF2B5EF4-FFF2-40B4-BE49-F238E27FC236}">
                <a16:creationId xmlns:a16="http://schemas.microsoft.com/office/drawing/2014/main" id="{7834DF4E-C61A-4407-8812-23299C1877C9}"/>
              </a:ext>
            </a:extLst>
          </p:cNvPr>
          <p:cNvSpPr>
            <a:spLocks xmlns:a="http://schemas.openxmlformats.org/drawingml/2006/main" noGrp="1"/>
          </p:cNvSpPr>
          <p:nvPr>
            <p:ph type="title" idx="0"/>
          </p:nvPr>
        </p:nvSpPr>
        <p:spPr>
          <a:xfrm xmlns:a="http://schemas.openxmlformats.org/drawingml/2006/main">
            <a:off x="609600" y="825500"/>
            <a:ext cx="10972800" cy="101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200" b="1">
                <a:solidFill>
                  <a:srgbClr val="F0E8D9"/>
                </a:solidFill>
                <a:latin typeface="Manrope"/>
                <a:ea typeface="Manrope"/>
                <a:cs typeface="Manrope"/>
              </a:rPr>
              <a:t>The fix and its compatibility boundary</a:t>
            </a:r>
            <a:endParaRPr sz="3200" b="1">
              <a:solidFill>
                <a:srgbClr val="F0E8D9"/>
              </a:solidFill>
              <a:latin typeface="Manrope"/>
              <a:ea typeface="Manrope"/>
              <a:cs typeface="Manrope"/>
            </a:endParaRPr>
          </a:p>
        </p:txBody>
      </p:sp>
      <p:sp>
        <p:nvSpPr>
          <p:cNvPr id="80" name="Google Shape;80;p11">
            <a:extLst xmlns:a="http://schemas.openxmlformats.org/drawingml/2006/main">
              <a:ext uri="{FF2B5EF4-FFF2-40B4-BE49-F238E27FC236}">
                <a16:creationId xmlns:a16="http://schemas.microsoft.com/office/drawing/2014/main" id="{B595E183-04D7-4FA6-89EA-45B1B1CFDDE3}"/>
              </a:ext>
            </a:extLst>
          </p:cNvPr>
          <p:cNvSpPr>
            <a:spLocks xmlns:a="http://schemas.openxmlformats.org/drawingml/2006/main" noGrp="1"/>
          </p:cNvSpPr>
          <p:nvPr/>
        </p:nvSpPr>
        <p:spPr>
          <a:xfrm xmlns:a="http://schemas.openxmlformats.org/drawingml/2006/main">
            <a:off x="5238750" y="6486525"/>
            <a:ext cx="63436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B8C7AB"/>
                </a:solidFill>
                <a:latin typeface="Manrope"/>
                <a:ea typeface="Manrope"/>
                <a:cs typeface="Manrope"/>
              </a:rPr>
              <a:t>Kyubin Park / Group PR #7 open</a:t>
            </a:r>
            <a:endParaRPr sz="1000">
              <a:solidFill>
                <a:srgbClr val="B8C7AB"/>
              </a:solidFill>
              <a:latin typeface="Manrope"/>
              <a:ea typeface="Manrope"/>
              <a:cs typeface="Manrope"/>
            </a:endParaRPr>
          </a:p>
        </p:txBody>
      </p:sp>
      <p:sp>
        <p:nvSpPr>
          <p:cNvPr id="81" name="Google Shape;81;p11">
            <a:extLst xmlns:a="http://schemas.openxmlformats.org/drawingml/2006/main">
              <a:ext uri="{FF2B5EF4-FFF2-40B4-BE49-F238E27FC236}">
                <a16:creationId xmlns:a16="http://schemas.microsoft.com/office/drawing/2014/main" id="{251BEE67-EF87-4DCE-AE1C-4EE7FE121EEA}"/>
              </a:ext>
            </a:extLst>
          </p:cNvPr>
          <p:cNvSpPr>
            <a:spLocks xmlns:a="http://schemas.openxmlformats.org/drawingml/2006/main" noGrp="1"/>
          </p:cNvSpPr>
          <p:nvPr/>
        </p:nvSpPr>
        <p:spPr>
          <a:xfrm xmlns:a="http://schemas.openxmlformats.org/drawingml/2006/main">
            <a:off x="609600" y="2032000"/>
            <a:ext cx="736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000" b="1">
                <a:solidFill>
                  <a:srgbClr val="F0E8D9"/>
                </a:solidFill>
                <a:latin typeface="Roboto Mono"/>
                <a:ea typeface="Roboto Mono"/>
                <a:cs typeface="Roboto Mono"/>
              </a:rPr>
              <a:t>01</a:t>
            </a:r>
            <a:endParaRPr sz="3000" b="1">
              <a:solidFill>
                <a:srgbClr val="F0E8D9"/>
              </a:solidFill>
              <a:latin typeface="Roboto Mono"/>
              <a:ea typeface="Roboto Mono"/>
              <a:cs typeface="Roboto Mono"/>
            </a:endParaRPr>
          </a:p>
        </p:txBody>
      </p:sp>
      <p:sp>
        <p:nvSpPr>
          <p:cNvPr id="82" name="Google Shape;82;p11">
            <a:extLst xmlns:a="http://schemas.openxmlformats.org/drawingml/2006/main">
              <a:ext uri="{FF2B5EF4-FFF2-40B4-BE49-F238E27FC236}">
                <a16:creationId xmlns:a16="http://schemas.microsoft.com/office/drawing/2014/main" id="{43A3F3C3-DD7C-402D-91D6-D2E2D802AD74}"/>
              </a:ext>
            </a:extLst>
          </p:cNvPr>
          <p:cNvSpPr>
            <a:spLocks xmlns:a="http://schemas.openxmlformats.org/drawingml/2006/main" noGrp="1"/>
          </p:cNvSpPr>
          <p:nvPr/>
        </p:nvSpPr>
        <p:spPr>
          <a:xfrm xmlns:a="http://schemas.openxmlformats.org/drawingml/2006/main">
            <a:off x="1587500" y="2032000"/>
            <a:ext cx="99948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F0E8D9"/>
                </a:solidFill>
                <a:latin typeface="Manrope"/>
                <a:ea typeface="Manrope"/>
                <a:cs typeface="Manrope"/>
              </a:rPr>
              <a:t>Preserve filename hints</a:t>
            </a:r>
            <a:endParaRPr sz="2400" b="1">
              <a:solidFill>
                <a:srgbClr val="F0E8D9"/>
              </a:solidFill>
              <a:latin typeface="Manrope"/>
              <a:ea typeface="Manrope"/>
              <a:cs typeface="Manrope"/>
            </a:endParaRPr>
          </a:p>
        </p:txBody>
      </p:sp>
      <p:sp>
        <p:nvSpPr>
          <p:cNvPr id="83" name="Google Shape;83;p11">
            <a:extLst xmlns:a="http://schemas.openxmlformats.org/drawingml/2006/main">
              <a:ext uri="{FF2B5EF4-FFF2-40B4-BE49-F238E27FC236}">
                <a16:creationId xmlns:a16="http://schemas.microsoft.com/office/drawing/2014/main" id="{5695F6E0-A661-4173-802C-64684A3B7C80}"/>
              </a:ext>
            </a:extLst>
          </p:cNvPr>
          <p:cNvSpPr>
            <a:spLocks xmlns:a="http://schemas.openxmlformats.org/drawingml/2006/main" noGrp="1"/>
          </p:cNvSpPr>
          <p:nvPr/>
        </p:nvSpPr>
        <p:spPr>
          <a:xfrm xmlns:a="http://schemas.openxmlformats.org/drawingml/2006/main">
            <a:off x="1587500" y="2590800"/>
            <a:ext cx="99948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00">
                <a:solidFill>
                  <a:srgbClr val="B8C7AB"/>
                </a:solidFill>
                <a:latin typeface="Manrope"/>
                <a:ea typeface="Manrope"/>
                <a:cs typeface="Manrope"/>
              </a:rPr>
              <a:t>For filename-like input, keep a literal #</a:t>
            </a:r>
            <a:endParaRPr sz="1900">
              <a:solidFill>
                <a:srgbClr val="B8C7AB"/>
              </a:solidFill>
              <a:latin typeface="Manrope"/>
              <a:ea typeface="Manrope"/>
              <a:cs typeface="Manrope"/>
            </a:endParaRPr>
          </a:p>
          <a:p xmlns:a="http://schemas.openxmlformats.org/drawingml/2006/main">
            <a:pPr marL="0" marR="0" lvl="0" indent="0" algn="l">
              <a:spcBef>
                <a:spcPts val="0"/>
              </a:spcBef>
              <a:spcAft>
                <a:spcPts val="0"/>
              </a:spcAft>
              <a:buNone/>
            </a:pPr>
            <a:r>
              <a:rPr sz="1900">
                <a:solidFill>
                  <a:srgbClr val="B8C7AB"/>
                </a:solidFill>
                <a:latin typeface="Manrope"/>
                <a:ea typeface="Manrope"/>
                <a:cs typeface="Manrope"/>
              </a:rPr>
              <a:t>when it appears before the extension.</a:t>
            </a:r>
            <a:endParaRPr sz="1900">
              <a:solidFill>
                <a:srgbClr val="B8C7AB"/>
              </a:solidFill>
              <a:latin typeface="Manrope"/>
              <a:ea typeface="Manrope"/>
              <a:cs typeface="Manrope"/>
            </a:endParaRPr>
          </a:p>
        </p:txBody>
      </p:sp>
      <p:sp>
        <p:nvSpPr>
          <p:cNvPr id="84" name="Google Shape;84;p11">
            <a:extLst xmlns:a="http://schemas.openxmlformats.org/drawingml/2006/main">
              <a:ext uri="{FF2B5EF4-FFF2-40B4-BE49-F238E27FC236}">
                <a16:creationId xmlns:a16="http://schemas.microsoft.com/office/drawing/2014/main" id="{AD2404CD-3482-4F81-8D60-BFE9680DC47C}"/>
              </a:ext>
            </a:extLst>
          </p:cNvPr>
          <p:cNvSpPr>
            <a:spLocks xmlns:a="http://schemas.openxmlformats.org/drawingml/2006/main" noGrp="1"/>
          </p:cNvSpPr>
          <p:nvPr/>
        </p:nvSpPr>
        <p:spPr>
          <a:xfrm xmlns:a="http://schemas.openxmlformats.org/drawingml/2006/main">
            <a:off x="609600" y="3429000"/>
            <a:ext cx="736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000" b="1">
                <a:solidFill>
                  <a:srgbClr val="F0E8D9"/>
                </a:solidFill>
                <a:latin typeface="Roboto Mono"/>
                <a:ea typeface="Roboto Mono"/>
                <a:cs typeface="Roboto Mono"/>
              </a:rPr>
              <a:t>02</a:t>
            </a:r>
            <a:endParaRPr sz="3000" b="1">
              <a:solidFill>
                <a:srgbClr val="F0E8D9"/>
              </a:solidFill>
              <a:latin typeface="Roboto Mono"/>
              <a:ea typeface="Roboto Mono"/>
              <a:cs typeface="Roboto Mono"/>
            </a:endParaRPr>
          </a:p>
        </p:txBody>
      </p:sp>
      <p:sp>
        <p:nvSpPr>
          <p:cNvPr id="85" name="Google Shape;85;p11">
            <a:extLst xmlns:a="http://schemas.openxmlformats.org/drawingml/2006/main">
              <a:ext uri="{FF2B5EF4-FFF2-40B4-BE49-F238E27FC236}">
                <a16:creationId xmlns:a16="http://schemas.microsoft.com/office/drawing/2014/main" id="{CE483A6F-7A4A-44F7-A5C0-E2A685096D73}"/>
              </a:ext>
            </a:extLst>
          </p:cNvPr>
          <p:cNvSpPr>
            <a:spLocks xmlns:a="http://schemas.openxmlformats.org/drawingml/2006/main" noGrp="1"/>
          </p:cNvSpPr>
          <p:nvPr/>
        </p:nvSpPr>
        <p:spPr>
          <a:xfrm xmlns:a="http://schemas.openxmlformats.org/drawingml/2006/main">
            <a:off x="1587500" y="3429000"/>
            <a:ext cx="99948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F0E8D9"/>
                </a:solidFill>
                <a:latin typeface="Manrope"/>
                <a:ea typeface="Manrope"/>
                <a:cs typeface="Manrope"/>
              </a:rPr>
              <a:t>Preserve explicit URL behaviour</a:t>
            </a:r>
            <a:endParaRPr sz="2400" b="1">
              <a:solidFill>
                <a:srgbClr val="F0E8D9"/>
              </a:solidFill>
              <a:latin typeface="Manrope"/>
              <a:ea typeface="Manrope"/>
              <a:cs typeface="Manrope"/>
            </a:endParaRPr>
          </a:p>
        </p:txBody>
      </p:sp>
      <p:sp>
        <p:nvSpPr>
          <p:cNvPr id="86" name="Google Shape;86;p11">
            <a:extLst xmlns:a="http://schemas.openxmlformats.org/drawingml/2006/main">
              <a:ext uri="{FF2B5EF4-FFF2-40B4-BE49-F238E27FC236}">
                <a16:creationId xmlns:a16="http://schemas.microsoft.com/office/drawing/2014/main" id="{0D8585DE-5FA3-4C22-820A-A7FA6D54723A}"/>
              </a:ext>
            </a:extLst>
          </p:cNvPr>
          <p:cNvSpPr>
            <a:spLocks xmlns:a="http://schemas.openxmlformats.org/drawingml/2006/main" noGrp="1"/>
          </p:cNvSpPr>
          <p:nvPr/>
        </p:nvSpPr>
        <p:spPr>
          <a:xfrm xmlns:a="http://schemas.openxmlformats.org/drawingml/2006/main">
            <a:off x="1587500" y="3987800"/>
            <a:ext cx="99948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00">
                <a:solidFill>
                  <a:srgbClr val="B8C7AB"/>
                </a:solidFill>
                <a:latin typeface="Manrope"/>
                <a:ea typeface="Manrope"/>
                <a:cs typeface="Manrope"/>
              </a:rPr>
              <a:t>A URL's # still starts a fragment.</a:t>
            </a:r>
            <a:endParaRPr sz="1900">
              <a:solidFill>
                <a:srgbClr val="B8C7AB"/>
              </a:solidFill>
              <a:latin typeface="Manrope"/>
              <a:ea typeface="Manrope"/>
              <a:cs typeface="Manrope"/>
            </a:endParaRPr>
          </a:p>
          <a:p xmlns:a="http://schemas.openxmlformats.org/drawingml/2006/main">
            <a:pPr marL="0" marR="0" lvl="0" indent="0" algn="l">
              <a:spcBef>
                <a:spcPts val="0"/>
              </a:spcBef>
              <a:spcAft>
                <a:spcPts val="0"/>
              </a:spcAft>
              <a:buNone/>
            </a:pPr>
            <a:r>
              <a:rPr sz="1900">
                <a:solidFill>
                  <a:srgbClr val="B8C7AB"/>
                </a:solidFill>
                <a:latin typeface="Manrope"/>
                <a:ea typeface="Manrope"/>
                <a:cs typeface="Manrope"/>
              </a:rPr>
              <a:t>Query strings and encoded characters remain covered.</a:t>
            </a:r>
            <a:endParaRPr sz="1900">
              <a:solidFill>
                <a:srgbClr val="B8C7AB"/>
              </a:solidFill>
              <a:latin typeface="Manrope"/>
              <a:ea typeface="Manrope"/>
              <a:cs typeface="Manrope"/>
            </a:endParaRPr>
          </a:p>
        </p:txBody>
      </p:sp>
      <p:sp>
        <p:nvSpPr>
          <p:cNvPr id="87" name="Google Shape;87;p11">
            <a:extLst xmlns:a="http://schemas.openxmlformats.org/drawingml/2006/main">
              <a:ext uri="{FF2B5EF4-FFF2-40B4-BE49-F238E27FC236}">
                <a16:creationId xmlns:a16="http://schemas.microsoft.com/office/drawing/2014/main" id="{F1415A7F-64F3-4645-BCF6-0AFD4998CEA0}"/>
              </a:ext>
            </a:extLst>
          </p:cNvPr>
          <p:cNvSpPr>
            <a:spLocks xmlns:a="http://schemas.openxmlformats.org/drawingml/2006/main" noGrp="1"/>
          </p:cNvSpPr>
          <p:nvPr/>
        </p:nvSpPr>
        <p:spPr>
          <a:xfrm xmlns:a="http://schemas.openxmlformats.org/drawingml/2006/main">
            <a:off x="609600" y="4826000"/>
            <a:ext cx="736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000" b="1">
                <a:solidFill>
                  <a:srgbClr val="D99575"/>
                </a:solidFill>
                <a:latin typeface="Roboto Mono"/>
                <a:ea typeface="Roboto Mono"/>
                <a:cs typeface="Roboto Mono"/>
              </a:rPr>
              <a:t>03</a:t>
            </a:r>
            <a:endParaRPr sz="3000" b="1">
              <a:solidFill>
                <a:srgbClr val="D99575"/>
              </a:solidFill>
              <a:latin typeface="Roboto Mono"/>
              <a:ea typeface="Roboto Mono"/>
              <a:cs typeface="Roboto Mono"/>
            </a:endParaRPr>
          </a:p>
        </p:txBody>
      </p:sp>
      <p:sp>
        <p:nvSpPr>
          <p:cNvPr id="88" name="Google Shape;88;p11">
            <a:extLst xmlns:a="http://schemas.openxmlformats.org/drawingml/2006/main">
              <a:ext uri="{FF2B5EF4-FFF2-40B4-BE49-F238E27FC236}">
                <a16:creationId xmlns:a16="http://schemas.microsoft.com/office/drawing/2014/main" id="{34534DAE-80C3-4A18-8B19-9C40CD914989}"/>
              </a:ext>
            </a:extLst>
          </p:cNvPr>
          <p:cNvSpPr>
            <a:spLocks xmlns:a="http://schemas.openxmlformats.org/drawingml/2006/main" noGrp="1"/>
          </p:cNvSpPr>
          <p:nvPr/>
        </p:nvSpPr>
        <p:spPr>
          <a:xfrm xmlns:a="http://schemas.openxmlformats.org/drawingml/2006/main">
            <a:off x="1587500" y="4826000"/>
            <a:ext cx="99948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F0E8D9"/>
                </a:solidFill>
                <a:latin typeface="Manrope"/>
                <a:ea typeface="Manrope"/>
                <a:cs typeface="Manrope"/>
              </a:rPr>
              <a:t>Regression check: 9 failures become 0</a:t>
            </a:r>
            <a:endParaRPr sz="2400" b="1">
              <a:solidFill>
                <a:srgbClr val="F0E8D9"/>
              </a:solidFill>
              <a:latin typeface="Manrope"/>
              <a:ea typeface="Manrope"/>
              <a:cs typeface="Manrope"/>
            </a:endParaRPr>
          </a:p>
        </p:txBody>
      </p:sp>
      <p:sp>
        <p:nvSpPr>
          <p:cNvPr id="89" name="Google Shape;89;p11">
            <a:extLst xmlns:a="http://schemas.openxmlformats.org/drawingml/2006/main">
              <a:ext uri="{FF2B5EF4-FFF2-40B4-BE49-F238E27FC236}">
                <a16:creationId xmlns:a16="http://schemas.microsoft.com/office/drawing/2014/main" id="{C74228B4-CAA3-4C42-833C-415C38B7981F}"/>
              </a:ext>
            </a:extLst>
          </p:cNvPr>
          <p:cNvSpPr>
            <a:spLocks xmlns:a="http://schemas.openxmlformats.org/drawingml/2006/main" noGrp="1"/>
          </p:cNvSpPr>
          <p:nvPr/>
        </p:nvSpPr>
        <p:spPr>
          <a:xfrm xmlns:a="http://schemas.openxmlformats.org/drawingml/2006/main">
            <a:off x="1587500" y="5384800"/>
            <a:ext cx="99948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00">
                <a:solidFill>
                  <a:srgbClr val="B8C7AB"/>
                </a:solidFill>
                <a:latin typeface="Manrope"/>
                <a:ea typeface="Manrope"/>
                <a:cs typeface="Manrope"/>
              </a:rPr>
              <a:t>The same 33 detection cases pass with the fix.</a:t>
            </a:r>
            <a:endParaRPr sz="1900">
              <a:solidFill>
                <a:srgbClr val="B8C7AB"/>
              </a:solidFill>
              <a:latin typeface="Manrope"/>
              <a:ea typeface="Manrope"/>
              <a:cs typeface="Manrope"/>
            </a:endParaRPr>
          </a:p>
          <a:p xmlns:a="http://schemas.openxmlformats.org/drawingml/2006/main">
            <a:pPr marL="0" marR="0" lvl="0" indent="0" algn="l">
              <a:spcBef>
                <a:spcPts val="0"/>
              </a:spcBef>
              <a:spcAft>
                <a:spcPts val="0"/>
              </a:spcAft>
              <a:buNone/>
            </a:pPr>
            <a:r>
              <a:rPr sz="1900">
                <a:solidFill>
                  <a:srgbClr val="B8C7AB"/>
                </a:solidFill>
                <a:latin typeface="Manrope"/>
                <a:ea typeface="Manrope"/>
                <a:cs typeface="Manrope"/>
              </a:rPr>
              <a:t>Local results; full-project CI is unverified.</a:t>
            </a:r>
            <a:endParaRPr sz="1900">
              <a:solidFill>
                <a:srgbClr val="B8C7AB"/>
              </a:solidFill>
              <a:latin typeface="Manrope"/>
              <a:ea typeface="Manrope"/>
              <a:cs typeface="Manrope"/>
            </a:endParaRPr>
          </a:p>
        </p:txBody>
      </p:sp>
    </p:spTree>
    <p:extLst>
      <p:ext uri="{BB962C8B-B14F-4D97-AF65-F5344CB8AC3E}">
        <p14:creationId xmlns:p14="http://schemas.microsoft.com/office/powerpoint/2010/main" val="447670854"/>
      </p:ext>
    </p:extLst>
  </p:cSld>
</p:sld>
</file>

<file path=ppt/theme/theme1.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2026-10-24T17:59:28.8000000Z</dcterms:created>
  <dcterms:modified xsi:type="dcterms:W3CDTF">2026-10-24T17:59:28.8000000Z</dcterms:modified>
</coreProperties>
</file>