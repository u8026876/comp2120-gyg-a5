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Masters/slideMaster2.xml" ContentType="application/vnd.openxmlformats-officedocument.presentationml.slideMaster+xml"/>
  <Override PartName="/ppt/slideMasters/theme/theme3.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4.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3a13ee7f6d4743" /><Relationship Type="http://schemas.openxmlformats.org/officeDocument/2006/relationships/extended-properties" Target="/docProps/app.xml" Id="R375852eb938b42dd" /><Relationship Type="http://schemas.openxmlformats.org/officeDocument/2006/relationships/officeDocument" Target="/ppt/presentation.xml" Id="R988a010feb1248eb"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fa21778d95aa4600"/>
    <p:sldMasterId xmlns:r="http://schemas.openxmlformats.org/officeDocument/2006/relationships" id="2147483650" r:id="Rcb538838d4bf48fa"/>
  </p:sldMasterIdLst>
  <p:notesMasterIdLst>
    <p:notesMasterId xmlns:r="http://schemas.openxmlformats.org/officeDocument/2006/relationships" r:id="R07c587eea103431d"/>
  </p:notesMasterIdLst>
  <p:sldIdLst>
    <p:sldId xmlns:r="http://schemas.openxmlformats.org/officeDocument/2006/relationships" id="256" r:id="R062f0daeed984626"/>
    <p:sldId xmlns:r="http://schemas.openxmlformats.org/officeDocument/2006/relationships" id="257" r:id="R2e38fc37ae904e5e"/>
    <p:sldId xmlns:r="http://schemas.openxmlformats.org/officeDocument/2006/relationships" id="258" r:id="Rce90d57ff9be4cb9"/>
    <p:sldId xmlns:r="http://schemas.openxmlformats.org/officeDocument/2006/relationships" id="259" r:id="R037d10c5ef4541ca"/>
  </p:sldIdLst>
  <p:sldSz cx="12192000" cy="6858000"/>
  <p:notesSz cx="6858000" cy="9144000"/>
  <p:embeddedFontLst>
    <p:embeddedFont>
      <p:font typeface="Manrope"/>
      <p:regular xmlns:r="http://schemas.openxmlformats.org/officeDocument/2006/relationships" r:id="Re014075c23764527"/>
      <p:bold xmlns:r="http://schemas.openxmlformats.org/officeDocument/2006/relationships" r:id="R78a998028eef458f"/>
    </p:embeddedFont>
    <p:embeddedFont>
      <p:font typeface="Roboto Mono"/>
      <p:regular xmlns:r="http://schemas.openxmlformats.org/officeDocument/2006/relationships" r:id="R09e0305abedc480d"/>
      <p:bold xmlns:r="http://schemas.openxmlformats.org/officeDocument/2006/relationships" r:id="R56090035e1fd4180"/>
      <p:italic xmlns:r="http://schemas.openxmlformats.org/officeDocument/2006/relationships" r:id="Rb89e8ad6d14f40ed"/>
      <p:boldItalic xmlns:r="http://schemas.openxmlformats.org/officeDocument/2006/relationships" r:id="Rf6492c66a944428a"/>
    </p:embeddedFont>
  </p:embeddedFontLst>
  <p:defaultTextStyle>
    <a:defPPr xmlns:a="http://schemas.openxmlformats.org/drawingml/2006/main" marR="0" algn="l">
      <a:lnSpc>
        <a:spcPct val="100000"/>
      </a:lnSpc>
      <a:spcBef>
        <a:spcPts val="0"/>
      </a:spcBef>
      <a:spcAft>
        <a:spcPts val="0"/>
      </a:spcAft>
      <a:buNone/>
    </a:defPPr>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a76d47d2ac642f5" /><Relationship Type="http://schemas.openxmlformats.org/officeDocument/2006/relationships/slideMaster" Target="/ppt/slideMasters/slideMaster1.xml" Id="Rfa21778d95aa4600" /><Relationship Type="http://schemas.openxmlformats.org/officeDocument/2006/relationships/slideMaster" Target="/ppt/slideMasters/slideMaster2.xml" Id="Rcb538838d4bf48fa" /><Relationship Type="http://schemas.openxmlformats.org/officeDocument/2006/relationships/notesMaster" Target="/ppt/notesMasters/notesMaster1.xml" Id="R07c587eea103431d" /><Relationship Type="http://schemas.openxmlformats.org/officeDocument/2006/relationships/presProps" Target="/ppt/presProps.xml" Id="R0ff3c30fab904419" /><Relationship Type="http://schemas.openxmlformats.org/officeDocument/2006/relationships/tableStyles" Target="/ppt/tableStyles.xml" Id="R30453094ad434e76" /><Relationship Type="http://schemas.openxmlformats.org/officeDocument/2006/relationships/font" Target="/ppt/fonts/font.dat" Id="Re014075c23764527" /><Relationship Type="http://schemas.openxmlformats.org/officeDocument/2006/relationships/font" Target="/ppt/fonts/font2.dat" Id="R78a998028eef458f" /><Relationship Type="http://schemas.openxmlformats.org/officeDocument/2006/relationships/font" Target="/ppt/fonts/font3.dat" Id="R09e0305abedc480d" /><Relationship Type="http://schemas.openxmlformats.org/officeDocument/2006/relationships/font" Target="/ppt/fonts/font4.dat" Id="R56090035e1fd4180" /><Relationship Type="http://schemas.openxmlformats.org/officeDocument/2006/relationships/font" Target="/ppt/fonts/font5.dat" Id="Rb89e8ad6d14f40ed" /><Relationship Type="http://schemas.openxmlformats.org/officeDocument/2006/relationships/font" Target="/ppt/fonts/font6.dat" Id="Rf6492c66a944428a" /><Relationship Type="http://schemas.openxmlformats.org/officeDocument/2006/relationships/slide" Target="/ppt/slides/slide1.xml" Id="R062f0daeed984626" /><Relationship Type="http://schemas.openxmlformats.org/officeDocument/2006/relationships/slide" Target="/ppt/slides/slide2.xml" Id="R2e38fc37ae904e5e" /><Relationship Type="http://schemas.openxmlformats.org/officeDocument/2006/relationships/slide" Target="/ppt/slides/slide3.xml" Id="Rce90d57ff9be4cb9" /><Relationship Type="http://schemas.openxmlformats.org/officeDocument/2006/relationships/slide" Target="/ppt/slides/slide4.xml" Id="R037d10c5ef4541c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4.xml" Id="R9141f8fcf86e49f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4.xml><?xml version="1.0" encoding="utf-8"?>
<a:theme xmlns:a="http://schemas.openxmlformats.org/drawingml/2006/main" name="ChatGPT">
  <a:themeElements>
    <a:clrScheme name="COMP2120 cream and teal">
      <a:dk1>
        <a:srgbClr val="172033"/>
      </a:dk1>
      <a:lt1>
        <a:srgbClr val="F7F4EE"/>
      </a:lt1>
      <a:dk2>
        <a:srgbClr val="1F5F61"/>
      </a:dk2>
      <a:lt2>
        <a:srgbClr val="FFFFFF"/>
      </a:lt2>
      <a:accent1>
        <a:srgbClr val="1F5F61"/>
      </a:accent1>
      <a:accent2>
        <a:srgbClr val="C58B2A"/>
      </a:accent2>
      <a:accent3>
        <a:srgbClr val="456A91"/>
      </a:accent3>
      <a:accent4>
        <a:srgbClr val="B36B5E"/>
      </a:accent4>
      <a:accent5>
        <a:srgbClr val="67558A"/>
      </a:accent5>
      <a:accent6>
        <a:srgbClr val="63826C"/>
      </a:accent6>
      <a:hlink>
        <a:srgbClr val="1F5F61"/>
      </a:hlink>
      <a:folHlink>
        <a:srgbClr val="6755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P2120 cream and te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4f0a208710e4c32" /><Relationship Type="http://schemas.openxmlformats.org/officeDocument/2006/relationships/notesMaster" Target="/ppt/notesMasters/notesMaster1.xml" Id="Rc998394263534252" /></Relationships>
</file>

<file path=ppt/notesSlides/_rels/notesSlide2.xml.rels>&#65279;<?xml version="1.0" encoding="utf-8"?><Relationships xmlns="http://schemas.openxmlformats.org/package/2006/relationships"><Relationship Type="http://schemas.openxmlformats.org/officeDocument/2006/relationships/slide" Target="/ppt/slides/slide2.xml" Id="R7629e01fcc23472b" /><Relationship Type="http://schemas.openxmlformats.org/officeDocument/2006/relationships/notesMaster" Target="/ppt/notesMasters/notesMaster1.xml" Id="Raa337bb1b30b42c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7c4335396a47c8" /><Relationship Type="http://schemas.openxmlformats.org/officeDocument/2006/relationships/notesMaster" Target="/ppt/notesMasters/notesMaster1.xml" Id="R9536d2ed41174558" /></Relationships>
</file>

<file path=ppt/notesSlides/_rels/notesSlide4.xml.rels>&#65279;<?xml version="1.0" encoding="utf-8"?><Relationships xmlns="http://schemas.openxmlformats.org/package/2006/relationships"><Relationship Type="http://schemas.openxmlformats.org/officeDocument/2006/relationships/slide" Target="/ppt/slides/slide4.xml" Id="R73a589e514184ef1" /><Relationship Type="http://schemas.openxmlformats.org/officeDocument/2006/relationships/notesMaster" Target="/ppt/notesMasters/notesMaster1.xml" Id="R353e9bc8495047d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Jiajun Li (Lynnbb88)</a:t>
            </a:r>
            <a:endParaRPr/>
          </a:p>
          <a:p xmlns:a="http://schemas.openxmlformats.org/drawingml/2006/main">
            <a:pPr marL="0" lvl="0" indent="0" algn="l">
              <a:spcBef>
                <a:spcPts val="0"/>
              </a:spcBef>
              <a:spcAft>
                <a:spcPts val="0"/>
              </a:spcAft>
              <a:buNone/>
            </a:pPr>
            <a:r>
              <a:t>Suggested English speaker notes (approximately 50-70 seconds at a comfortable pace):</a:t>
            </a:r>
            <a:endParaRPr/>
          </a:p>
          <a:p xmlns:a="http://schemas.openxmlformats.org/drawingml/2006/main">
            <a:pPr marL="0" lvl="0" indent="0" algn="l">
              <a:spcBef>
                <a:spcPts val="0"/>
              </a:spcBef>
              <a:spcAft>
                <a:spcPts val="0"/>
              </a:spcAft>
              <a:buNone/>
            </a:pPr>
            <a:r>
              <a:t>The first challenge was understanding why Tika identified this Python script as Shell. A shebang is the first line that names the interpreter. The old Python rule searched for slash bin slash env python at offset one. Offset means the starting position, counted from zero. In this input, that substring actually starts at offset six, so the Python rule missed it and a Shell rule matched instead. The fix checks the complete env-Python prefix at the start of the file. Understanding the existing rules made it possible to keep the change focused.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中文理解提示：</a:t>
            </a:r>
            <a:endParaRPr/>
          </a:p>
          <a:p xmlns:a="http://schemas.openxmlformats.org/drawingml/2006/main">
            <a:pPr marL="0" lvl="0" indent="0" algn="l">
              <a:spcBef>
                <a:spcPts val="0"/>
              </a:spcBef>
              <a:spcAft>
                <a:spcPts val="0"/>
              </a:spcAft>
              <a:buNone/>
            </a:pPr>
            <a:r>
              <a:t>先说明现象：Python 首行却识别成 Shell。offset 是从 0 开始数的位置。原规则检查位置 1，但 /bin/env python 实际从位置 6 开始，所以 Python 规则没命中。修复改成从文件开头匹配完整前缀。也支持 #! 后有一个空格的形式。这里强调读懂已有规则的挑战。</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and limits:</a:t>
            </a:r>
            <a:endParaRPr/>
          </a:p>
          <a:p xmlns:a="http://schemas.openxmlformats.org/drawingml/2006/main">
            <a:pPr marL="0" lvl="0" indent="0" algn="l">
              <a:spcBef>
                <a:spcPts val="0"/>
              </a:spcBef>
              <a:spcAft>
                <a:spcPts val="0"/>
              </a:spcAft>
              <a:buNone/>
            </a:pPr>
            <a:r>
              <a:t>The patch also includes the spaced form #! /usr/bin/env python. It preserves existing direct-path Python rules. Arbitrary env options such as env -S are outside this patch.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https://github.com/u8026876/comp2120-gyg-a5/pull/4</a:t>
            </a:r>
            <a:endParaRPr/>
          </a:p>
          <a:p xmlns:a="http://schemas.openxmlformats.org/drawingml/2006/main">
            <a:pPr marL="0" lvl="0" indent="0" algn="l">
              <a:spcBef>
                <a:spcPts val="0"/>
              </a:spcBef>
              <a:spcAft>
                <a:spcPts val="0"/>
              </a:spcAft>
              <a:buNone/>
            </a:pPr>
            <a:r>
              <a:t>https://github.com/u8026876/comp2120-gyg-a5/commit/cefa66955d74b2bf488d5ff4044fe2a6563bbf96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Contribution and assistance: Jiajun owns TIKA-4408. Codex assisted the implementation, testing, and presentation preparation. Kyubin supplied independent validation and review. Terry supplied additional review feedback. The visual template belongs to the group and was shared by Kyubin.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Jiajun Li (Lynnbb88)</a:t>
            </a:r>
            <a:endParaRPr/>
          </a:p>
          <a:p xmlns:a="http://schemas.openxmlformats.org/drawingml/2006/main">
            <a:pPr marL="0" lvl="0" indent="0" algn="l">
              <a:spcBef>
                <a:spcPts val="0"/>
              </a:spcBef>
              <a:spcAft>
                <a:spcPts val="0"/>
              </a:spcAft>
              <a:buNone/>
            </a:pPr>
            <a:r>
              <a:t>Suggested English speaker notes (approximately 50-70 seconds at a comfortable pace):</a:t>
            </a:r>
            <a:endParaRPr/>
          </a:p>
          <a:p xmlns:a="http://schemas.openxmlformats.org/drawingml/2006/main">
            <a:pPr marL="0" lvl="0" indent="0" algn="l">
              <a:spcBef>
                <a:spcPts val="0"/>
              </a:spcBef>
              <a:spcAft>
                <a:spcPts val="0"/>
              </a:spcAft>
              <a:buNone/>
            </a:pPr>
            <a:r>
              <a:t>A successful result for one Python example would leave important questions unanswered. The regression checks covered Python variants, direct Python paths, and Shell scripts. They also separated content-only detection from detection with a dot-py filename hint, because metadata can affect the result. A leading-newline control checked that the rule really required the start of the file. Running the same eighteen checks before and after the fix gave a clear comparison: seven failed before the change, and all eighteen passed afterwards. This evidence helped show both the repair and its compatibility boundaries.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中文理解提示：</a:t>
            </a:r>
            <a:endParaRPr/>
          </a:p>
          <a:p xmlns:a="http://schemas.openxmlformats.org/drawingml/2006/main">
            <a:pPr marL="0" lvl="0" indent="0" algn="l">
              <a:spcBef>
                <a:spcPts val="0"/>
              </a:spcBef>
              <a:spcAft>
                <a:spcPts val="0"/>
              </a:spcAft>
              <a:buNone/>
            </a:pPr>
            <a:r>
              <a:t>这页讲如何证明修复可靠。content-only 是不给文件名，只靠内容识别；filename hint 是额外给 script.py。两种方式分开测，防止文件名掩盖内容规则的问题。还测原本正常的 Python 路径、Shell，以及前面多一个换行的输入。18 项修复前 7 失败，修复后全通过。不要把本地测试说成远程 CI。</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and limits:</a:t>
            </a:r>
            <a:endParaRPr/>
          </a:p>
          <a:p xmlns:a="http://schemas.openxmlformats.org/drawingml/2006/main">
            <a:pPr marL="0" lvl="0" indent="0" algn="l">
              <a:spcBef>
                <a:spcPts val="0"/>
              </a:spcBef>
              <a:spcAft>
                <a:spcPts val="0"/>
              </a:spcAft>
              <a:buNone/>
            </a:pPr>
            <a:r>
              <a:t>The 18 checks are focused regression cases, not 18 separate test methods. Original expanded reproduction baseline: apache/tika@4847f78. Published fix: cefa66955d74b2bf488d5ff4044fe2a6563bbf96. Wider local core validation on the group branch reported 1,377 tests, 0 failures/errors, 2 skipped. Kyubin reported 11 skipped in a different environment. No full Tika repository test or remote CI claim is made.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https://github.com/u8026876/comp2120-gyg-a5/pull/4</a:t>
            </a:r>
            <a:endParaRPr/>
          </a:p>
          <a:p xmlns:a="http://schemas.openxmlformats.org/drawingml/2006/main">
            <a:pPr marL="0" lvl="0" indent="0" algn="l">
              <a:spcBef>
                <a:spcPts val="0"/>
              </a:spcBef>
              <a:spcAft>
                <a:spcPts val="0"/>
              </a:spcAft>
              <a:buNone/>
            </a:pPr>
            <a:r>
              <a:t>https://github.com/u8026876/comp2120-gyg-a5/commit/cefa66955d74b2bf488d5ff4044fe2a6563bbf96</a:t>
            </a:r>
            <a:endParaRPr/>
          </a:p>
          <a:p xmlns:a="http://schemas.openxmlformats.org/drawingml/2006/main">
            <a:pPr marL="0" lvl="0" indent="0" algn="l">
              <a:spcBef>
                <a:spcPts val="0"/>
              </a:spcBef>
              <a:spcAft>
                <a:spcPts val="0"/>
              </a:spcAft>
              <a:buNone/>
            </a:pPr>
            <a:r>
              <a:t>https://github.com/u8026876/comp2120-gyg-a5/pull/4#pullrequestreview-5584302852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Contribution and assistance: Jiajun owns TIKA-4408. Codex assisted the implementation, testing, and presentation preparation. Kyubin supplied independent validation and review. Terry supplied additional review feedback. The visual template belongs to the group and was shared by Kyubin.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Jiajun Li (Lynnbb88)</a:t>
            </a:r>
            <a:endParaRPr/>
          </a:p>
          <a:p xmlns:a="http://schemas.openxmlformats.org/drawingml/2006/main">
            <a:pPr marL="0" lvl="0" indent="0" algn="l">
              <a:spcBef>
                <a:spcPts val="0"/>
              </a:spcBef>
              <a:spcAft>
                <a:spcPts val="0"/>
              </a:spcAft>
              <a:buNone/>
            </a:pPr>
            <a:r>
              <a:t>Suggested English speaker notes (approximately 50-70 seconds at a comfortable pace):</a:t>
            </a:r>
            <a:endParaRPr/>
          </a:p>
          <a:p xmlns:a="http://schemas.openxmlformats.org/drawingml/2006/main">
            <a:pPr marL="0" lvl="0" indent="0" algn="l">
              <a:spcBef>
                <a:spcPts val="0"/>
              </a:spcBef>
              <a:spcAft>
                <a:spcPts val="0"/>
              </a:spcAft>
              <a:buNone/>
            </a:pPr>
            <a:r>
              <a:t>Terry suggested an ordinary-text example that tested the opposite direction: could Tika incorrectly call this Python? The x occupies position zero, so slash bin slash env python begins exactly at position one, where the old rule expected it. That accidental match produced a false positive. A negative test checks that unsuitable input does not trigger the Python rule. Kyubin separately verified this content-only example: the original rules returned text slash x-python, while the fixed rules returned text slash plain. The proposed improvement is to keep this example in the automated regression suite.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中文理解提示：</a:t>
            </a:r>
            <a:endParaRPr/>
          </a:p>
          <a:p xmlns:a="http://schemas.openxmlformats.org/drawingml/2006/main">
            <a:pPr marL="0" lvl="0" indent="0" algn="l">
              <a:spcBef>
                <a:spcPts val="0"/>
              </a:spcBef>
              <a:spcAft>
                <a:spcPts val="0"/>
              </a:spcAft>
              <a:buNone/>
            </a:pPr>
            <a:r>
              <a:t>这不是要执行的 Python 代码，而是故意构造的普通文本。x 占位置 0，后面的 /bin/env python 正好在位置 1，因此旧规则会误报为 Python。false positive 就是误报。Terry 提议把它加入长期测试，Kyubin 已单独验证修复后为普通文本。它尚未进入提交的 18 项测试，所以不要说已经加好了，也不要说修复仍有这个 bug。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and limits:</a:t>
            </a:r>
            <a:endParaRPr/>
          </a:p>
          <a:p xmlns:a="http://schemas.openxmlformats.org/drawingml/2006/main">
            <a:pPr marL="0" lvl="0" indent="0" algn="l">
              <a:spcBef>
                <a:spcPts val="0"/>
              </a:spcBef>
              <a:spcAft>
                <a:spcPts val="0"/>
              </a:spcAft>
              <a:buNone/>
            </a:pPr>
            <a:r>
              <a:t>Observed results refer to Kyubin's separate content-only probe against original and fixed MIME registries. The permanent regression test remains proposed. The current fix already handles the probed input correctly.</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https://github.com/u8026876/comp2120-gyg-a5/issues/2#issuecomment-6311536436</a:t>
            </a:r>
            <a:endParaRPr/>
          </a:p>
          <a:p xmlns:a="http://schemas.openxmlformats.org/drawingml/2006/main">
            <a:pPr marL="0" lvl="0" indent="0" algn="l">
              <a:spcBef>
                <a:spcPts val="0"/>
              </a:spcBef>
              <a:spcAft>
                <a:spcPts val="0"/>
              </a:spcAft>
              <a:buNone/>
            </a:pPr>
            <a:r>
              <a:t>https://github.com/u8026876/comp2120-gyg-a5/pull/4#pullrequestreview-5584302852</a:t>
            </a:r>
            <a:endParaRPr/>
          </a:p>
          <a:p xmlns:a="http://schemas.openxmlformats.org/drawingml/2006/main">
            <a:pPr marL="0" lvl="0" indent="0" algn="l">
              <a:spcBef>
                <a:spcPts val="0"/>
              </a:spcBef>
              <a:spcAft>
                <a:spcPts val="0"/>
              </a:spcAft>
              <a:buNone/>
            </a:pPr>
            <a:r>
              <a:t>https://github.com/u8026876/comp2120-gyg-a5/commit/cefa66955d74b2bf488d5ff4044fe2a6563bbf96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Contribution and assistance: Jiajun owns TIKA-4408. Codex assisted the implementation, testing, and presentation preparation. Kyubin supplied independent validation and review. Terry supplied additional review feedback. The visual template belongs to the group and was shared by Kyubin.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Presenter: Jiajun Li (Lynnbb88)</a:t>
            </a:r>
            <a:endParaRPr/>
          </a:p>
          <a:p xmlns:a="http://schemas.openxmlformats.org/drawingml/2006/main">
            <a:pPr marL="0" lvl="0" indent="0" algn="l">
              <a:spcBef>
                <a:spcPts val="0"/>
              </a:spcBef>
              <a:spcAft>
                <a:spcPts val="0"/>
              </a:spcAft>
              <a:buNone/>
            </a:pPr>
            <a:r>
              <a:t>Suggested English speaker notes (approximately 50-70 seconds at a comfortable pace):</a:t>
            </a:r>
            <a:endParaRPr/>
          </a:p>
          <a:p xmlns:a="http://schemas.openxmlformats.org/drawingml/2006/main">
            <a:pPr marL="0" lvl="0" indent="0" algn="l">
              <a:spcBef>
                <a:spcPts val="0"/>
              </a:spcBef>
              <a:spcAft>
                <a:spcPts val="0"/>
              </a:spcAft>
              <a:buNone/>
            </a:pPr>
            <a:r>
              <a:t>The main lesson is that a small code change can affect several kinds of input. Next time, I would plan that range earlier by writing a test matrix with expected outcomes, including misleading ordinary text and boundary cases. I would also review the extra examples raised by teammates and decide which should become permanent tests. I would keep the approach that worked here: establish a baseline, reproduce the problem, make a focused change, and compare the same checks afterwards. The improvement is earlier and more complete coverage, together with lasting evidence from review.</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中文理解提示：</a:t>
            </a:r>
            <a:endParaRPr/>
          </a:p>
          <a:p xmlns:a="http://schemas.openxmlformats.org/drawingml/2006/main">
            <a:pPr marL="0" lvl="0" indent="0" algn="l">
              <a:spcBef>
                <a:spcPts val="0"/>
              </a:spcBef>
              <a:spcAft>
                <a:spcPts val="0"/>
              </a:spcAft>
              <a:buNone/>
            </a:pPr>
            <a:r>
              <a:t>不要说“下次才先写测试”，因为这次已经先复现再修复。真正的改进是更早考虑完整输入分类，特别是反例和边界情况，并把 review 的有效验证保留在自动测试中。保留已有效的流程：baseline、复现、针对性修改、相同测试前后对比。</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Evidence and limits:</a:t>
            </a:r>
            <a:endParaRPr/>
          </a:p>
          <a:p xmlns:a="http://schemas.openxmlformats.org/drawingml/2006/main">
            <a:pPr marL="0" lvl="0" indent="0" algn="l">
              <a:spcBef>
                <a:spcPts val="0"/>
              </a:spcBef>
              <a:spcAft>
                <a:spcPts val="0"/>
              </a:spcAft>
              <a:buNone/>
            </a:pPr>
            <a:r>
              <a:t>These are proposed process improvements. The misleading-text regression has not been added as part of preparing this presentation. This section uses TIKA-4408 as Jiajun's concrete example and does not claim identical experiences for every group member.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a:t>
            </a:r>
            <a:endParaRPr/>
          </a:p>
          <a:p xmlns:a="http://schemas.openxmlformats.org/drawingml/2006/main">
            <a:pPr marL="0" lvl="0" indent="0" algn="l">
              <a:spcBef>
                <a:spcPts val="0"/>
              </a:spcBef>
              <a:spcAft>
                <a:spcPts val="0"/>
              </a:spcAft>
              <a:buNone/>
            </a:pPr>
            <a:r>
              <a:t>https://github.com/u8026876/comp2120-gyg-a5/issues/2</a:t>
            </a:r>
            <a:endParaRPr/>
          </a:p>
          <a:p xmlns:a="http://schemas.openxmlformats.org/drawingml/2006/main">
            <a:pPr marL="0" lvl="0" indent="0" algn="l">
              <a:spcBef>
                <a:spcPts val="0"/>
              </a:spcBef>
              <a:spcAft>
                <a:spcPts val="0"/>
              </a:spcAft>
              <a:buNone/>
            </a:pPr>
            <a:r>
              <a:t>https://github.com/u8026876/comp2120-gyg-a5/pull/4</a:t>
            </a:r>
            <a:endParaRPr/>
          </a:p>
          <a:p xmlns:a="http://schemas.openxmlformats.org/drawingml/2006/main">
            <a:pPr marL="0" lvl="0" indent="0" algn="l">
              <a:spcBef>
                <a:spcPts val="0"/>
              </a:spcBef>
              <a:spcAft>
                <a:spcPts val="0"/>
              </a:spcAft>
              <a:buNone/>
            </a:pPr>
            <a:r>
              <a:t>https://github.com/u8026876/comp2120-gyg-a5/issues/2#issuecomment-6311536436</a:t>
            </a:r>
            <a:endParaRPr/>
          </a:p>
          <a:p xmlns:a="http://schemas.openxmlformats.org/drawingml/2006/main">
            <a:pPr marL="0" lvl="0" indent="0" algn="l">
              <a:spcBef>
                <a:spcPts val="0"/>
              </a:spcBef>
              <a:spcAft>
                <a:spcPts val="0"/>
              </a:spcAft>
              <a:buNone/>
            </a:pPr>
            <a:r>
              <a:t>https://github.com/u8026876/comp2120-gyg-a5/pull/4#pullrequestreview-5584302852</a:t>
            </a:r>
            <a:endParaRPr/>
          </a:p>
          <a:p xmlns:a="http://schemas.openxmlformats.org/drawingml/2006/main">
            <a:pPr marL="0" lvl="0" indent="0" algn="l">
              <a:spcBef>
                <a:spcPts val="0"/>
              </a:spcBef>
              <a:spcAft>
                <a:spcPts val="0"/>
              </a:spcAft>
              <a:buNone/>
            </a:pPr>
            <a:r>
              <a:t>https://github.com/u8026876/comp2120-gyg-a5/tree/main/presentation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Contribution and assistance: Jiajun owns TIKA-4408. Codex assisted the implementation, testing, and presentation preparation. Kyubin supplied independent validation and review. Terry supplied additional review feedback. The visual template belongs to the group and was shared by Kyubin.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8ae517ae9f8458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2.xml" Id="R20019bbe5a5c41b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2.xml" Id="R9892b4127dbc4df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2.xml" Id="R190f9198ba034fd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2.xml" Id="Ref873eb4f1ac4594" /></Relationships>
</file>

<file path=ppt/slideLayouts/slideLayout1.xml><?xml version="1.0" encoding="utf-8"?>
<p:sldLayout xmlns:p="http://schemas.openxmlformats.org/presentationml/2006/main" matchingName="A4 - Title">
  <p:cSld name="A4 - Title">
    <p:spTree>
      <p:nvGrpSpPr>
        <p:cNvPr id="1" name=""/>
        <p:cNvGrpSpPr/>
        <p:nvPr/>
      </p:nvGrpSpPr>
      <p:grpSpPr>
        <a:xfrm xmlns:a="http://schemas.openxmlformats.org/drawingml/2006/main"/>
      </p:grpSpPr>
      <p:sp>
        <p:nvSpPr>
          <p:cNvPr id="11" name="Google Shape;11;p2">
            <a:extLst xmlns:a="http://schemas.openxmlformats.org/drawingml/2006/main">
              <a:ext uri="{FF2B5EF4-FFF2-40B4-BE49-F238E27FC236}">
                <a16:creationId xmlns:a16="http://schemas.microsoft.com/office/drawing/2014/main" id="{1992E541-0D25-4936-A0B1-A43AFC1DD9BF}"/>
              </a:ext>
            </a:extLst>
          </p:cNvPr>
          <p:cNvSpPr>
            <a:spLocks xmlns:a="http://schemas.openxmlformats.org/drawingml/2006/main" noGrp="1"/>
          </p:cNvSpPr>
          <p:nvPr>
            <p:ph type="title" idx="0"/>
          </p:nvPr>
        </p:nvSpPr>
        <p:spPr>
          <a:xfrm xmlns:a="http://schemas.openxmlformats.org/drawingml/2006/main">
            <a:off x="609600" y="1428750"/>
            <a:ext cx="10477500" cy="15430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12" name="Google Shape;12;p2">
            <a:extLst xmlns:a="http://schemas.openxmlformats.org/drawingml/2006/main">
              <a:ext uri="{FF2B5EF4-FFF2-40B4-BE49-F238E27FC236}">
                <a16:creationId xmlns:a16="http://schemas.microsoft.com/office/drawing/2014/main" id="{37B1126E-E58C-4EF4-9BDB-88E28D6243A9}"/>
              </a:ext>
            </a:extLst>
          </p:cNvPr>
          <p:cNvSpPr>
            <a:spLocks xmlns:a="http://schemas.openxmlformats.org/drawingml/2006/main" noGrp="1"/>
          </p:cNvSpPr>
          <p:nvPr>
            <p:ph type="subTitle" idx="1"/>
          </p:nvPr>
        </p:nvSpPr>
        <p:spPr>
          <a:xfrm xmlns:a="http://schemas.openxmlformats.org/drawingml/2006/main">
            <a:off x="609600" y="3333750"/>
            <a:ext cx="104775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Tree>
  </p:cSld>
</p:sldLayout>
</file>

<file path=ppt/slideLayouts/slideLayout2.xml><?xml version="1.0" encoding="utf-8"?>
<p:sldLayout xmlns:p="http://schemas.openxmlformats.org/presentationml/2006/main" matchingName="A4 - Explanation and visual">
  <p:cSld name="A4 - Explanation and visual">
    <p:spTree>
      <p:nvGrpSpPr>
        <p:cNvPr id="1" name=""/>
        <p:cNvGrpSpPr/>
        <p:nvPr/>
      </p:nvGrpSpPr>
      <p:grpSpPr>
        <a:xfrm xmlns:a="http://schemas.openxmlformats.org/drawingml/2006/main"/>
      </p:grpSpPr>
      <p:sp>
        <p:nvSpPr>
          <p:cNvPr id="15" name="Google Shape;15;p4">
            <a:extLst xmlns:a="http://schemas.openxmlformats.org/drawingml/2006/main">
              <a:ext uri="{FF2B5EF4-FFF2-40B4-BE49-F238E27FC236}">
                <a16:creationId xmlns:a16="http://schemas.microsoft.com/office/drawing/2014/main" id="{9EAF2F38-64AB-45B9-997D-780B9A4E1770}"/>
              </a:ext>
            </a:extLst>
          </p:cNvPr>
          <p:cNvSpPr>
            <a:spLocks xmlns:a="http://schemas.openxmlformats.org/drawingml/2006/main" noGrp="1"/>
          </p:cNvSpPr>
          <p:nvPr>
            <p:ph type="title" idx="0"/>
          </p:nvPr>
        </p:nvSpPr>
        <p:spPr>
          <a:xfrm xmlns:a="http://schemas.openxmlformats.org/drawingml/2006/main">
            <a:off x="609600" y="971550"/>
            <a:ext cx="109728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16" name="Google Shape;16;p4">
            <a:extLst xmlns:a="http://schemas.openxmlformats.org/drawingml/2006/main">
              <a:ext uri="{FF2B5EF4-FFF2-40B4-BE49-F238E27FC236}">
                <a16:creationId xmlns:a16="http://schemas.microsoft.com/office/drawing/2014/main" id="{55CBB7EB-7659-444F-BC52-0CEF45AD1438}"/>
              </a:ext>
            </a:extLst>
          </p:cNvPr>
          <p:cNvSpPr>
            <a:spLocks xmlns:a="http://schemas.openxmlformats.org/drawingml/2006/main" noGrp="1"/>
          </p:cNvSpPr>
          <p:nvPr>
            <p:ph type="body" idx="1"/>
          </p:nvPr>
        </p:nvSpPr>
        <p:spPr>
          <a:xfrm xmlns:a="http://schemas.openxmlformats.org/drawingml/2006/main">
            <a:off x="609600" y="2000250"/>
            <a:ext cx="44767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
        <p:nvSpPr>
          <p:cNvPr id="17" name="Google Shape;17;p4">
            <a:extLst xmlns:a="http://schemas.openxmlformats.org/drawingml/2006/main">
              <a:ext uri="{FF2B5EF4-FFF2-40B4-BE49-F238E27FC236}">
                <a16:creationId xmlns:a16="http://schemas.microsoft.com/office/drawing/2014/main" id="{5697712A-8218-4063-BF58-86ACB9E40FC8}"/>
              </a:ext>
            </a:extLst>
          </p:cNvPr>
          <p:cNvSpPr>
            <a:spLocks xmlns:a="http://schemas.openxmlformats.org/drawingml/2006/main" noGrp="1"/>
          </p:cNvSpPr>
          <p:nvPr>
            <p:ph type="body" idx="2"/>
          </p:nvPr>
        </p:nvSpPr>
        <p:spPr>
          <a:xfrm xmlns:a="http://schemas.openxmlformats.org/drawingml/2006/main">
            <a:off x="5581650" y="2000250"/>
            <a:ext cx="60007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Tree>
  </p:cSld>
</p:sldLayout>
</file>

<file path=ppt/slideLayouts/slideLayout3.xml><?xml version="1.0" encoding="utf-8"?>
<p:sldLayout xmlns:p="http://schemas.openxmlformats.org/presentationml/2006/main" matchingName="A4 - Two columns">
  <p:cSld name="A4 - Two columns">
    <p:spTree>
      <p:nvGrpSpPr>
        <p:cNvPr id="1" name=""/>
        <p:cNvGrpSpPr/>
        <p:nvPr/>
      </p:nvGrpSpPr>
      <p:grpSpPr>
        <a:xfrm xmlns:a="http://schemas.openxmlformats.org/drawingml/2006/main"/>
      </p:grpSpPr>
      <p:sp>
        <p:nvSpPr>
          <p:cNvPr id="19" name="Google Shape;19;p5">
            <a:extLst xmlns:a="http://schemas.openxmlformats.org/drawingml/2006/main">
              <a:ext uri="{FF2B5EF4-FFF2-40B4-BE49-F238E27FC236}">
                <a16:creationId xmlns:a16="http://schemas.microsoft.com/office/drawing/2014/main" id="{59F09153-414A-4503-ADC2-18697F5935D5}"/>
              </a:ext>
            </a:extLst>
          </p:cNvPr>
          <p:cNvSpPr>
            <a:spLocks xmlns:a="http://schemas.openxmlformats.org/drawingml/2006/main" noGrp="1"/>
          </p:cNvSpPr>
          <p:nvPr>
            <p:ph type="title" idx="0"/>
          </p:nvPr>
        </p:nvSpPr>
        <p:spPr>
          <a:xfrm xmlns:a="http://schemas.openxmlformats.org/drawingml/2006/main">
            <a:off x="609600" y="971550"/>
            <a:ext cx="109728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20" name="Google Shape;20;p5">
            <a:extLst xmlns:a="http://schemas.openxmlformats.org/drawingml/2006/main">
              <a:ext uri="{FF2B5EF4-FFF2-40B4-BE49-F238E27FC236}">
                <a16:creationId xmlns:a16="http://schemas.microsoft.com/office/drawing/2014/main" id="{A6BDEF8E-C064-4C28-8B1A-25663DB179C3}"/>
              </a:ext>
            </a:extLst>
          </p:cNvPr>
          <p:cNvSpPr>
            <a:spLocks xmlns:a="http://schemas.openxmlformats.org/drawingml/2006/main" noGrp="1"/>
          </p:cNvSpPr>
          <p:nvPr>
            <p:ph type="body" idx="1"/>
          </p:nvPr>
        </p:nvSpPr>
        <p:spPr>
          <a:xfrm xmlns:a="http://schemas.openxmlformats.org/drawingml/2006/main">
            <a:off x="609600" y="2000250"/>
            <a:ext cx="52387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
        <p:nvSpPr>
          <p:cNvPr id="21" name="Google Shape;21;p5">
            <a:extLst xmlns:a="http://schemas.openxmlformats.org/drawingml/2006/main">
              <a:ext uri="{FF2B5EF4-FFF2-40B4-BE49-F238E27FC236}">
                <a16:creationId xmlns:a16="http://schemas.microsoft.com/office/drawing/2014/main" id="{FCA70644-D7D5-482D-8B95-9F519EA862F6}"/>
              </a:ext>
            </a:extLst>
          </p:cNvPr>
          <p:cNvSpPr>
            <a:spLocks xmlns:a="http://schemas.openxmlformats.org/drawingml/2006/main" noGrp="1"/>
          </p:cNvSpPr>
          <p:nvPr>
            <p:ph type="body" idx="2"/>
          </p:nvPr>
        </p:nvSpPr>
        <p:spPr>
          <a:xfrm xmlns:a="http://schemas.openxmlformats.org/drawingml/2006/main">
            <a:off x="6343650" y="2000250"/>
            <a:ext cx="523875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Tree>
  </p:cSld>
</p:sldLayout>
</file>

<file path=ppt/slideLayouts/slideLayout4.xml><?xml version="1.0" encoding="utf-8"?>
<p:sldLayout xmlns:p="http://schemas.openxmlformats.org/presentationml/2006/main" matchingName="A4 - Title and content">
  <p:cSld name="A4 - Title and content">
    <p:spTree>
      <p:nvGrpSpPr>
        <p:cNvPr id="1" name=""/>
        <p:cNvGrpSpPr/>
        <p:nvPr/>
      </p:nvGrpSpPr>
      <p:grpSpPr>
        <a:xfrm xmlns:a="http://schemas.openxmlformats.org/drawingml/2006/main"/>
      </p:grpSpPr>
      <p:sp>
        <p:nvSpPr>
          <p:cNvPr id="23" name="Google Shape;23;p6">
            <a:extLst xmlns:a="http://schemas.openxmlformats.org/drawingml/2006/main">
              <a:ext uri="{FF2B5EF4-FFF2-40B4-BE49-F238E27FC236}">
                <a16:creationId xmlns:a16="http://schemas.microsoft.com/office/drawing/2014/main" id="{BF0E52CF-15AE-4F3D-AF79-48AE4BCA3E23}"/>
              </a:ext>
            </a:extLst>
          </p:cNvPr>
          <p:cNvSpPr>
            <a:spLocks xmlns:a="http://schemas.openxmlformats.org/drawingml/2006/main" noGrp="1"/>
          </p:cNvSpPr>
          <p:nvPr>
            <p:ph type="title" idx="0"/>
          </p:nvPr>
        </p:nvSpPr>
        <p:spPr>
          <a:xfrm xmlns:a="http://schemas.openxmlformats.org/drawingml/2006/main">
            <a:off x="609600" y="971550"/>
            <a:ext cx="109728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24" name="Google Shape;24;p6">
            <a:extLst xmlns:a="http://schemas.openxmlformats.org/drawingml/2006/main">
              <a:ext uri="{FF2B5EF4-FFF2-40B4-BE49-F238E27FC236}">
                <a16:creationId xmlns:a16="http://schemas.microsoft.com/office/drawing/2014/main" id="{3434EC93-637F-4C9E-AF86-5D72F81578C5}"/>
              </a:ext>
            </a:extLst>
          </p:cNvPr>
          <p:cNvSpPr>
            <a:spLocks xmlns:a="http://schemas.openxmlformats.org/drawingml/2006/main" noGrp="1"/>
          </p:cNvSpPr>
          <p:nvPr>
            <p:ph type="body" idx="1"/>
          </p:nvPr>
        </p:nvSpPr>
        <p:spPr>
          <a:xfrm xmlns:a="http://schemas.openxmlformats.org/drawingml/2006/main">
            <a:off x="609600" y="1952625"/>
            <a:ext cx="10972800" cy="40957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Tree>
  </p:cSld>
</p:sldLayout>
</file>

<file path=ppt/slideLayouts/slideLayout5.xml><?xml version="1.0" encoding="utf-8"?>
<p:sldLayout xmlns:p="http://schemas.openxmlformats.org/presentationml/2006/main" matchingName="A4 - Large visual">
  <p:cSld name="A4 - Large visual">
    <p:spTree>
      <p:nvGrpSpPr>
        <p:cNvPr id="1" name=""/>
        <p:cNvGrpSpPr/>
        <p:nvPr/>
      </p:nvGrpSpPr>
      <p:grpSpPr>
        <a:xfrm xmlns:a="http://schemas.openxmlformats.org/drawingml/2006/main"/>
      </p:grpSpPr>
      <p:sp>
        <p:nvSpPr>
          <p:cNvPr id="26" name="Google Shape;26;p7">
            <a:extLst xmlns:a="http://schemas.openxmlformats.org/drawingml/2006/main">
              <a:ext uri="{FF2B5EF4-FFF2-40B4-BE49-F238E27FC236}">
                <a16:creationId xmlns:a16="http://schemas.microsoft.com/office/drawing/2014/main" id="{8471C678-2670-406A-9D52-DA13499A09BF}"/>
              </a:ext>
            </a:extLst>
          </p:cNvPr>
          <p:cNvSpPr>
            <a:spLocks xmlns:a="http://schemas.openxmlformats.org/drawingml/2006/main" noGrp="1"/>
          </p:cNvSpPr>
          <p:nvPr>
            <p:ph type="title" idx="0"/>
          </p:nvPr>
        </p:nvSpPr>
        <p:spPr>
          <a:xfrm xmlns:a="http://schemas.openxmlformats.org/drawingml/2006/main">
            <a:off x="609600" y="971550"/>
            <a:ext cx="109728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R="0" algn="l">
              <a:spcBef>
                <a:spcPts val="0"/>
              </a:spcBef>
              <a:spcAft>
                <a:spcPts val="0"/>
              </a:spcAft>
              <a:buSzPts val="1400"/>
              <a:buNone/>
              <a:defRPr sz="1800" b="0" i="0" u="none" strike="noStrike" cap="none"/>
            </a:lvl1pPr>
            <a:lvl2pPr marR="0" algn="l">
              <a:spcBef>
                <a:spcPts val="0"/>
              </a:spcBef>
              <a:spcAft>
                <a:spcPts val="0"/>
              </a:spcAft>
              <a:buSzPts val="1400"/>
              <a:buNone/>
              <a:defRPr sz="1800" b="0" i="0" u="none" strike="noStrike" cap="none"/>
            </a:lvl2pPr>
            <a:lvl3pPr marR="0" algn="l">
              <a:spcBef>
                <a:spcPts val="0"/>
              </a:spcBef>
              <a:spcAft>
                <a:spcPts val="0"/>
              </a:spcAft>
              <a:buSzPts val="1400"/>
              <a:buNone/>
              <a:defRPr sz="1800" b="0" i="0" u="none" strike="noStrike" cap="none"/>
            </a:lvl3pPr>
            <a:lvl4pPr marR="0" algn="l">
              <a:spcBef>
                <a:spcPts val="0"/>
              </a:spcBef>
              <a:spcAft>
                <a:spcPts val="0"/>
              </a:spcAft>
              <a:buSzPts val="1400"/>
              <a:buNone/>
              <a:defRPr sz="1800" b="0" i="0" u="none" strike="noStrike" cap="none"/>
            </a:lvl4pPr>
            <a:lvl5pPr marR="0" algn="l">
              <a:spcBef>
                <a:spcPts val="0"/>
              </a:spcBef>
              <a:spcAft>
                <a:spcPts val="0"/>
              </a:spcAft>
              <a:buSzPts val="1400"/>
              <a:buNone/>
              <a:defRPr sz="1800" b="0" i="0" u="none" strike="noStrike" cap="none"/>
            </a:lvl5pPr>
            <a:lvl6pPr marR="0" algn="l">
              <a:spcBef>
                <a:spcPts val="0"/>
              </a:spcBef>
              <a:spcAft>
                <a:spcPts val="0"/>
              </a:spcAft>
              <a:buSzPts val="1400"/>
              <a:buNone/>
              <a:defRPr sz="1800" b="0" i="0" u="none" strike="noStrike" cap="none"/>
            </a:lvl6pPr>
            <a:lvl7pPr marR="0" algn="l">
              <a:spcBef>
                <a:spcPts val="0"/>
              </a:spcBef>
              <a:spcAft>
                <a:spcPts val="0"/>
              </a:spcAft>
              <a:buSzPts val="1400"/>
              <a:buNone/>
              <a:defRPr sz="1800" b="0" i="0" u="none" strike="noStrike" cap="none"/>
            </a:lvl7pPr>
            <a:lvl8pPr marR="0" algn="l">
              <a:spcBef>
                <a:spcPts val="0"/>
              </a:spcBef>
              <a:spcAft>
                <a:spcPts val="0"/>
              </a:spcAft>
              <a:buSzPts val="1400"/>
              <a:buNone/>
              <a:defRPr sz="1800" b="0" i="0" u="none" strike="noStrike" cap="none"/>
            </a:lvl8pPr>
            <a:lvl9pPr marR="0" algn="l">
              <a:spcBef>
                <a:spcPts val="0"/>
              </a:spcBef>
              <a:spcAft>
                <a:spcPts val="0"/>
              </a:spcAft>
              <a:buSzPts val="1400"/>
              <a:buNone/>
              <a:defRPr sz="1800" b="0" i="0" u="none" strike="noStrike" cap="none"/>
            </a:lvl9pPr>
          </a:lstStyle>
          <a:p xmlns:a="http://schemas.openxmlformats.org/drawingml/2006/main"/>
        </p:txBody>
      </p:sp>
      <p:sp>
        <p:nvSpPr>
          <p:cNvPr id="27" name="Google Shape;27;p7">
            <a:extLst xmlns:a="http://schemas.openxmlformats.org/drawingml/2006/main">
              <a:ext uri="{FF2B5EF4-FFF2-40B4-BE49-F238E27FC236}">
                <a16:creationId xmlns:a16="http://schemas.microsoft.com/office/drawing/2014/main" id="{DF74C6FF-BC5C-4755-9418-E134F02A7E3C}"/>
              </a:ext>
            </a:extLst>
          </p:cNvPr>
          <p:cNvSpPr>
            <a:spLocks xmlns:a="http://schemas.openxmlformats.org/drawingml/2006/main" noGrp="1"/>
          </p:cNvSpPr>
          <p:nvPr>
            <p:ph type="body" idx="1"/>
          </p:nvPr>
        </p:nvSpPr>
        <p:spPr>
          <a:xfrm xmlns:a="http://schemas.openxmlformats.org/drawingml/2006/main">
            <a:off x="609600" y="2000250"/>
            <a:ext cx="10972800" cy="400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lvl1pPr marL="457200" marR="0" indent="-228600" algn="l">
              <a:spcBef>
                <a:spcPts val="0"/>
              </a:spcBef>
              <a:spcAft>
                <a:spcPts val="0"/>
              </a:spcAft>
              <a:buSzPts val="1400"/>
              <a:buNone/>
              <a:defRPr sz="1800" b="0" i="0" u="none" strike="noStrike" cap="none"/>
            </a:lvl1pPr>
            <a:lvl2pPr marL="914400" marR="0" indent="-228600" algn="l">
              <a:spcBef>
                <a:spcPts val="0"/>
              </a:spcBef>
              <a:spcAft>
                <a:spcPts val="0"/>
              </a:spcAft>
              <a:buSzPts val="1400"/>
              <a:buNone/>
              <a:defRPr sz="1800" b="0" i="0" u="none" strike="noStrike" cap="none"/>
            </a:lvl2pPr>
            <a:lvl3pPr marL="1371600" marR="0" indent="-228600" algn="l">
              <a:spcBef>
                <a:spcPts val="0"/>
              </a:spcBef>
              <a:spcAft>
                <a:spcPts val="0"/>
              </a:spcAft>
              <a:buSzPts val="1400"/>
              <a:buNone/>
              <a:defRPr sz="1800" b="0" i="0" u="none" strike="noStrike" cap="none"/>
            </a:lvl3pPr>
            <a:lvl4pPr marL="1828800" marR="0" indent="-228600" algn="l">
              <a:spcBef>
                <a:spcPts val="0"/>
              </a:spcBef>
              <a:spcAft>
                <a:spcPts val="0"/>
              </a:spcAft>
              <a:buSzPts val="1400"/>
              <a:buNone/>
              <a:defRPr sz="1800" b="0" i="0" u="none" strike="noStrike" cap="none"/>
            </a:lvl4pPr>
            <a:lvl5pPr marL="2286000" marR="0" indent="-228600" algn="l">
              <a:spcBef>
                <a:spcPts val="0"/>
              </a:spcBef>
              <a:spcAft>
                <a:spcPts val="0"/>
              </a:spcAft>
              <a:buSzPts val="1400"/>
              <a:buNone/>
              <a:defRPr sz="1800" b="0" i="0" u="none" strike="noStrike" cap="none"/>
            </a:lvl5pPr>
            <a:lvl6pPr marL="2743200" marR="0" indent="-228600" algn="l">
              <a:spcBef>
                <a:spcPts val="0"/>
              </a:spcBef>
              <a:spcAft>
                <a:spcPts val="0"/>
              </a:spcAft>
              <a:buSzPts val="1400"/>
              <a:buNone/>
              <a:defRPr sz="1800" b="0" i="0" u="none" strike="noStrike" cap="none"/>
            </a:lvl6pPr>
            <a:lvl7pPr marL="3200400" marR="0" indent="-228600" algn="l">
              <a:spcBef>
                <a:spcPts val="0"/>
              </a:spcBef>
              <a:spcAft>
                <a:spcPts val="0"/>
              </a:spcAft>
              <a:buSzPts val="1400"/>
              <a:buNone/>
              <a:defRPr sz="1800" b="0" i="0" u="none" strike="noStrike" cap="none"/>
            </a:lvl7pPr>
            <a:lvl8pPr marL="3657600" marR="0" indent="-228600" algn="l">
              <a:spcBef>
                <a:spcPts val="0"/>
              </a:spcBef>
              <a:spcAft>
                <a:spcPts val="0"/>
              </a:spcAft>
              <a:buSzPts val="1400"/>
              <a:buNone/>
              <a:defRPr sz="1800" b="0" i="0" u="none" strike="noStrike" cap="none"/>
            </a:lvl8pPr>
            <a:lvl9pPr marL="4114800" marR="0" indent="-228600" algn="l">
              <a:spcBef>
                <a:spcPts val="0"/>
              </a:spcBef>
              <a:spcAft>
                <a:spcPts val="0"/>
              </a:spcAft>
              <a:buSzPts val="1400"/>
              <a:buNone/>
              <a:defRPr sz="1800" b="0" i="0" u="none" strike="noStrike" cap="none"/>
            </a:lvl9pPr>
          </a:lstStyle>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84fd6c5d6a94dfd" /><Relationship Type="http://schemas.openxmlformats.org/officeDocument/2006/relationships/slideLayout" Target="/ppt/slideLayouts/slideLayout1.xml" Id="R9a7c1aa3ab3a461f" /></Relationships>
</file>

<file path=ppt/slideMasters/_rels/slideMaster2.xml.rels>&#65279;<?xml version="1.0" encoding="utf-8"?><Relationships xmlns="http://schemas.openxmlformats.org/package/2006/relationships"><Relationship Type="http://schemas.openxmlformats.org/officeDocument/2006/relationships/theme" Target="/ppt/slideMasters/theme/theme3.xml" Id="R2666d145dd28466a" /><Relationship Type="http://schemas.openxmlformats.org/officeDocument/2006/relationships/slideLayout" Target="/ppt/slideLayouts/slideLayout2.xml" Id="R7896200c8a1548a0" /><Relationship Type="http://schemas.openxmlformats.org/officeDocument/2006/relationships/slideLayout" Target="/ppt/slideLayouts/slideLayout3.xml" Id="R003723175f0742cb" /><Relationship Type="http://schemas.openxmlformats.org/officeDocument/2006/relationships/slideLayout" Target="/ppt/slideLayouts/slideLayout4.xml" Id="R640273a3503048c0" /><Relationship Type="http://schemas.openxmlformats.org/officeDocument/2006/relationships/slideLayout" Target="/ppt/slideLayouts/slideLayout5.xml" Id="Rcd72772904c04b9d" /></Relationships>
</file>

<file path=ppt/slideMasters/slideMaster1.xml><?xml version="1.0" encoding="utf-8"?>
<p:sldMaster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a7c1aa3ab3a461f"/>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slideMaster2.xml><?xml version="1.0" encoding="utf-8"?>
<p:sldMaster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51" r:id="R7896200c8a1548a0"/>
    <p:sldLayoutId xmlns:r="http://schemas.openxmlformats.org/officeDocument/2006/relationships" id="2147483652" r:id="R003723175f0742cb"/>
    <p:sldLayoutId xmlns:r="http://schemas.openxmlformats.org/officeDocument/2006/relationships" id="2147483653" r:id="R640273a3503048c0"/>
    <p:sldLayoutId xmlns:r="http://schemas.openxmlformats.org/officeDocument/2006/relationships" id="2147483654" r:id="Rcd72772904c04b9d"/>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ChatGPT">
  <a:themeElements>
    <a:clrScheme name="COMP2120 cream and teal">
      <a:dk1>
        <a:srgbClr val="172033"/>
      </a:dk1>
      <a:lt1>
        <a:srgbClr val="F7F4EE"/>
      </a:lt1>
      <a:dk2>
        <a:srgbClr val="1F5F61"/>
      </a:dk2>
      <a:lt2>
        <a:srgbClr val="FFFFFF"/>
      </a:lt2>
      <a:accent1>
        <a:srgbClr val="1F5F61"/>
      </a:accent1>
      <a:accent2>
        <a:srgbClr val="C58B2A"/>
      </a:accent2>
      <a:accent3>
        <a:srgbClr val="456A91"/>
      </a:accent3>
      <a:accent4>
        <a:srgbClr val="B36B5E"/>
      </a:accent4>
      <a:accent5>
        <a:srgbClr val="67558A"/>
      </a:accent5>
      <a:accent6>
        <a:srgbClr val="63826C"/>
      </a:accent6>
      <a:hlink>
        <a:srgbClr val="1F5F61"/>
      </a:hlink>
      <a:folHlink>
        <a:srgbClr val="6755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P2120 cream and te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Masters/theme/theme3.xml><?xml version="1.0" encoding="utf-8"?>
<a:theme xmlns:a="http://schemas.openxmlformats.org/drawingml/2006/main" name="ChatGPT">
  <a:themeElements>
    <a:clrScheme name="COMP2120 cream and teal">
      <a:dk1>
        <a:srgbClr val="172033"/>
      </a:dk1>
      <a:lt1>
        <a:srgbClr val="F7F4EE"/>
      </a:lt1>
      <a:dk2>
        <a:srgbClr val="1F5F61"/>
      </a:dk2>
      <a:lt2>
        <a:srgbClr val="FFFFFF"/>
      </a:lt2>
      <a:accent1>
        <a:srgbClr val="1F5F61"/>
      </a:accent1>
      <a:accent2>
        <a:srgbClr val="C58B2A"/>
      </a:accent2>
      <a:accent3>
        <a:srgbClr val="456A91"/>
      </a:accent3>
      <a:accent4>
        <a:srgbClr val="B36B5E"/>
      </a:accent4>
      <a:accent5>
        <a:srgbClr val="67558A"/>
      </a:accent5>
      <a:accent6>
        <a:srgbClr val="63826C"/>
      </a:accent6>
      <a:hlink>
        <a:srgbClr val="1F5F61"/>
      </a:hlink>
      <a:folHlink>
        <a:srgbClr val="6755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P2120 cream and te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3.xml" Id="R81ded41ada694a17" /><Relationship Type="http://schemas.openxmlformats.org/officeDocument/2006/relationships/notesSlide" Target="/ppt/notesSlides/notesSlide1.xml" Id="R149cd5e89a7441c2" /></Relationships>
</file>

<file path=ppt/slides/_rels/slide2.xml.rels>&#65279;<?xml version="1.0" encoding="utf-8"?><Relationships xmlns="http://schemas.openxmlformats.org/package/2006/relationships"><Relationship Type="http://schemas.openxmlformats.org/officeDocument/2006/relationships/slideLayout" Target="/ppt/slideLayouts/slideLayout4.xml" Id="Ra1f8049021834a4e" /><Relationship Type="http://schemas.openxmlformats.org/officeDocument/2006/relationships/notesSlide" Target="/ppt/notesSlides/notesSlide2.xml" Id="R2ed8a70a358d4f75"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8ee518df8bc04580" /><Relationship Type="http://schemas.openxmlformats.org/officeDocument/2006/relationships/notesSlide" Target="/ppt/notesSlides/notesSlide3.xml" Id="R1004a6be53d2442f"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2fffc39cec8f4b27" /><Relationship Type="http://schemas.openxmlformats.org/officeDocument/2006/relationships/notesSlide" Target="/ppt/notesSlides/notesSlide4.xml" Id="R859dac76e4cd4f02" /></Relationships>
</file>

<file path=ppt/slides/slide1.xml><?xml version="1.0" encoding="utf-8"?>
<p:sld xmlns:p="http://schemas.openxmlformats.org/presentationml/2006/main">
  <p:cSld>
    <p:bg>
      <p:bgPr>
        <a:solidFill xmlns:a="http://schemas.openxmlformats.org/drawingml/2006/main">
          <a:srgbClr val="203B34"/>
        </a:solidFill>
      </p:bgPr>
    </p:bg>
    <p:spTree>
      <p:nvGrpSpPr>
        <p:cNvPr id="1" name=""/>
        <p:cNvGrpSpPr/>
        <p:nvPr/>
      </p:nvGrpSpPr>
      <p:grpSpPr>
        <a:xfrm xmlns:a="http://schemas.openxmlformats.org/drawingml/2006/main"/>
      </p:grpSpPr>
      <p:sp>
        <p:nvSpPr>
          <p:cNvPr id="42" name="Google Shape;42;p9">
            <a:extLst xmlns:a="http://schemas.openxmlformats.org/drawingml/2006/main">
              <a:ext uri="{FF2B5EF4-FFF2-40B4-BE49-F238E27FC236}">
                <a16:creationId xmlns:a16="http://schemas.microsoft.com/office/drawing/2014/main" id="{C1340FE7-B61F-41F0-A116-925E50319B7C}"/>
              </a:ext>
            </a:extLst>
          </p:cNvPr>
          <p:cNvSpPr>
            <a:spLocks xmlns:a="http://schemas.openxmlformats.org/drawingml/2006/main" noGrp="1"/>
          </p:cNvSpPr>
          <p:nvPr/>
        </p:nvSpPr>
        <p:spPr>
          <a:xfrm xmlns:a="http://schemas.openxmlformats.org/drawingml/2006/main">
            <a:off x="0" y="3835400"/>
            <a:ext cx="12192000" cy="3022500"/>
          </a:xfrm>
          <a:prstGeom xmlns:a="http://schemas.openxmlformats.org/drawingml/2006/main" prst="rect">
            <a:avLst/>
          </a:prstGeom>
          <a:solidFill xmlns:a="http://schemas.openxmlformats.org/drawingml/2006/main">
            <a:srgbClr val="F0E8D9"/>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43" name="Google Shape;43;p9">
            <a:extLst xmlns:a="http://schemas.openxmlformats.org/drawingml/2006/main">
              <a:ext uri="{FF2B5EF4-FFF2-40B4-BE49-F238E27FC236}">
                <a16:creationId xmlns:a16="http://schemas.microsoft.com/office/drawing/2014/main" id="{DFBAAEE3-A132-436E-9D22-08B27C35CD00}"/>
              </a:ext>
            </a:extLst>
          </p:cNvPr>
          <p:cNvSpPr>
            <a:spLocks xmlns:a="http://schemas.openxmlformats.org/drawingml/2006/main" noGrp="1"/>
          </p:cNvSpPr>
          <p:nvPr/>
        </p:nvSpPr>
        <p:spPr>
          <a:xfrm xmlns:a="http://schemas.openxmlformats.org/drawingml/2006/main">
            <a:off x="609600" y="330200"/>
            <a:ext cx="9651900" cy="279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00">
                <a:solidFill>
                  <a:srgbClr val="B8C7AB"/>
                </a:solidFill>
                <a:latin typeface="Roboto Mono"/>
                <a:ea typeface="Roboto Mono"/>
                <a:cs typeface="Roboto Mono"/>
              </a:rPr>
              <a:t>TIKA-4408 / DEVELOPMENT CHALLENGES</a:t>
            </a:r>
            <a:endParaRPr sz="1100">
              <a:solidFill>
                <a:srgbClr val="B8C7AB"/>
              </a:solidFill>
              <a:latin typeface="Roboto Mono"/>
              <a:ea typeface="Roboto Mono"/>
              <a:cs typeface="Roboto Mono"/>
            </a:endParaRPr>
          </a:p>
        </p:txBody>
      </p:sp>
      <p:sp>
        <p:nvSpPr>
          <p:cNvPr id="44" name="Google Shape;44;p9">
            <a:extLst xmlns:a="http://schemas.openxmlformats.org/drawingml/2006/main">
              <a:ext uri="{FF2B5EF4-FFF2-40B4-BE49-F238E27FC236}">
                <a16:creationId xmlns:a16="http://schemas.microsoft.com/office/drawing/2014/main" id="{6073055B-66AA-4AC5-841A-797957109C9A}"/>
              </a:ext>
            </a:extLst>
          </p:cNvPr>
          <p:cNvSpPr>
            <a:spLocks xmlns:a="http://schemas.openxmlformats.org/drawingml/2006/main" noGrp="1"/>
          </p:cNvSpPr>
          <p:nvPr/>
        </p:nvSpPr>
        <p:spPr>
          <a:xfrm xmlns:a="http://schemas.openxmlformats.org/drawingml/2006/main">
            <a:off x="10871200" y="330200"/>
            <a:ext cx="711300" cy="279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100">
                <a:solidFill>
                  <a:srgbClr val="B8C7AB"/>
                </a:solidFill>
                <a:latin typeface="Roboto Mono"/>
                <a:ea typeface="Roboto Mono"/>
                <a:cs typeface="Roboto Mono"/>
              </a:rPr>
              <a:t>01</a:t>
            </a:r>
            <a:endParaRPr sz="1100">
              <a:solidFill>
                <a:srgbClr val="B8C7AB"/>
              </a:solidFill>
              <a:latin typeface="Roboto Mono"/>
              <a:ea typeface="Roboto Mono"/>
              <a:cs typeface="Roboto Mono"/>
            </a:endParaRPr>
          </a:p>
        </p:txBody>
      </p:sp>
      <p:sp>
        <p:nvSpPr>
          <p:cNvPr id="45" name="Google Shape;45;p9">
            <a:extLst xmlns:a="http://schemas.openxmlformats.org/drawingml/2006/main">
              <a:ext uri="{FF2B5EF4-FFF2-40B4-BE49-F238E27FC236}">
                <a16:creationId xmlns:a16="http://schemas.microsoft.com/office/drawing/2014/main" id="{A9C7B549-6AAC-417E-BC30-3CA6964C4B46}"/>
              </a:ext>
            </a:extLst>
          </p:cNvPr>
          <p:cNvSpPr>
            <a:spLocks xmlns:a="http://schemas.openxmlformats.org/drawingml/2006/main" noGrp="1"/>
          </p:cNvSpPr>
          <p:nvPr>
            <p:ph type="title" idx="0"/>
          </p:nvPr>
        </p:nvSpPr>
        <p:spPr>
          <a:xfrm xmlns:a="http://schemas.openxmlformats.org/drawingml/2006/main">
            <a:off x="609600" y="952500"/>
            <a:ext cx="10972800" cy="9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3300"/>
            </a:defPPr>
            <a:lvl1pPr>
              <a:defRPr sz="3300"/>
            </a:lvl1pPr>
            <a:lvl2pPr>
              <a:defRPr sz="3300"/>
            </a:lvl2pPr>
            <a:lvl3pPr>
              <a:defRPr sz="3300"/>
            </a:lvl3pPr>
            <a:lvl4pPr>
              <a:defRPr sz="3300"/>
            </a:lvl4pPr>
            <a:lvl5pPr>
              <a:defRPr sz="3300"/>
            </a:lvl5pPr>
            <a:lvl6pPr>
              <a:defRPr sz="3300"/>
            </a:lvl6pPr>
            <a:lvl7pPr>
              <a:defRPr sz="3300"/>
            </a:lvl7pPr>
            <a:lvl8pPr>
              <a:defRPr sz="3300"/>
            </a:lvl8pPr>
            <a:lvl9pPr>
              <a:defRPr sz="3300"/>
            </a:lvl9pPr>
          </a:lstStyle>
          <a:p xmlns:a="http://schemas.openxmlformats.org/drawingml/2006/main">
            <a:pPr marL="0" marR="0" lvl="0" indent="0" algn="l">
              <a:spcBef>
                <a:spcPts val="0"/>
              </a:spcBef>
              <a:spcAft>
                <a:spcPts val="0"/>
              </a:spcAft>
              <a:buNone/>
              <a:defRPr sz="3300"/>
            </a:pPr>
            <a:r>
              <a:rPr sz="3300" b="1">
                <a:solidFill>
                  <a:srgbClr val="F0E8D9"/>
                </a:solidFill>
                <a:latin typeface="Manrope"/>
                <a:ea typeface="Manrope"/>
                <a:cs typeface="Manrope"/>
              </a:rPr>
              <a:t>Challenge 1: finding the real cause</a:t>
            </a:r>
            <a:endParaRPr sz="3500" b="1">
              <a:solidFill>
                <a:srgbClr val="F0E8D9"/>
              </a:solidFill>
              <a:latin typeface="Manrope"/>
              <a:ea typeface="Manrope"/>
              <a:cs typeface="Manrope"/>
            </a:endParaRPr>
          </a:p>
        </p:txBody>
      </p:sp>
      <p:sp>
        <p:nvSpPr>
          <p:cNvPr id="46" name="Google Shape;46;p9">
            <a:extLst xmlns:a="http://schemas.openxmlformats.org/drawingml/2006/main">
              <a:ext uri="{FF2B5EF4-FFF2-40B4-BE49-F238E27FC236}">
                <a16:creationId xmlns:a16="http://schemas.microsoft.com/office/drawing/2014/main" id="{E57E1CAC-9BC7-43EC-92C5-7741A4537BC1}"/>
              </a:ext>
            </a:extLst>
          </p:cNvPr>
          <p:cNvSpPr>
            <a:spLocks xmlns:a="http://schemas.openxmlformats.org/drawingml/2006/main" noGrp="1"/>
          </p:cNvSpPr>
          <p:nvPr/>
        </p:nvSpPr>
        <p:spPr>
          <a:xfrm xmlns:a="http://schemas.openxmlformats.org/drawingml/2006/main">
            <a:off x="7620000" y="6578600"/>
            <a:ext cx="3962400" cy="203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900">
                <a:solidFill>
                  <a:srgbClr val="203B34"/>
                </a:solidFill>
                <a:latin typeface="Manrope"/>
                <a:ea typeface="Manrope"/>
                <a:cs typeface="Manrope"/>
              </a:rPr>
              <a:t>Jiajun Li / TIKA-4408</a:t>
            </a:r>
            <a:endParaRPr sz="900">
              <a:solidFill>
                <a:srgbClr val="203B34"/>
              </a:solidFill>
              <a:latin typeface="Manrope"/>
              <a:ea typeface="Manrope"/>
              <a:cs typeface="Manrope"/>
            </a:endParaRPr>
          </a:p>
        </p:txBody>
      </p:sp>
      <p:sp>
        <p:nvSpPr>
          <p:cNvPr id="47" name="Google Shape;47;p9">
            <a:extLst xmlns:a="http://schemas.openxmlformats.org/drawingml/2006/main">
              <a:ext uri="{FF2B5EF4-FFF2-40B4-BE49-F238E27FC236}">
                <a16:creationId xmlns:a16="http://schemas.microsoft.com/office/drawing/2014/main" id="{191B553B-F88A-44D5-986D-1DE7A551EDDC}"/>
              </a:ext>
            </a:extLst>
          </p:cNvPr>
          <p:cNvSpPr>
            <a:spLocks xmlns:a="http://schemas.openxmlformats.org/drawingml/2006/main" noGrp="1"/>
          </p:cNvSpPr>
          <p:nvPr/>
        </p:nvSpPr>
        <p:spPr>
          <a:xfrm xmlns:a="http://schemas.openxmlformats.org/drawingml/2006/main">
            <a:off x="609600" y="4152900"/>
            <a:ext cx="5079900" cy="33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300"/>
            </a:defPPr>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xmlns:a="http://schemas.openxmlformats.org/drawingml/2006/main">
            <a:pPr marL="0" marR="0" lvl="0" indent="0" algn="l">
              <a:spcBef>
                <a:spcPts val="0"/>
              </a:spcBef>
              <a:spcAft>
                <a:spcPts val="0"/>
              </a:spcAft>
              <a:buNone/>
              <a:defRPr sz="1300"/>
            </a:pPr>
            <a:r>
              <a:rPr sz="1300" b="1">
                <a:solidFill>
                  <a:srgbClr val="A14F37"/>
                </a:solidFill>
                <a:latin typeface="Manrope"/>
                <a:ea typeface="Manrope"/>
                <a:cs typeface="Manrope"/>
              </a:rPr>
              <a:t>OLD RULE: WRONG POSITION</a:t>
            </a:r>
            <a:endParaRPr sz="1200" b="1">
              <a:solidFill>
                <a:srgbClr val="A14F37"/>
              </a:solidFill>
              <a:latin typeface="Manrope"/>
              <a:ea typeface="Manrope"/>
              <a:cs typeface="Manrope"/>
            </a:endParaRPr>
          </a:p>
        </p:txBody>
      </p:sp>
      <p:sp>
        <p:nvSpPr>
          <p:cNvPr id="48" name="Google Shape;48;p9">
            <a:extLst xmlns:a="http://schemas.openxmlformats.org/drawingml/2006/main">
              <a:ext uri="{FF2B5EF4-FFF2-40B4-BE49-F238E27FC236}">
                <a16:creationId xmlns:a16="http://schemas.microsoft.com/office/drawing/2014/main" id="{8C37168D-6927-438E-AB48-D40BF8862705}"/>
              </a:ext>
            </a:extLst>
          </p:cNvPr>
          <p:cNvSpPr>
            <a:spLocks xmlns:a="http://schemas.openxmlformats.org/drawingml/2006/main" noGrp="1"/>
          </p:cNvSpPr>
          <p:nvPr/>
        </p:nvSpPr>
        <p:spPr>
          <a:xfrm xmlns:a="http://schemas.openxmlformats.org/drawingml/2006/main">
            <a:off x="6604000" y="4152900"/>
            <a:ext cx="4978500" cy="33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300"/>
            </a:defPPr>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xmlns:a="http://schemas.openxmlformats.org/drawingml/2006/main">
            <a:pPr marL="0" marR="0" lvl="0" indent="0" algn="l">
              <a:spcBef>
                <a:spcPts val="0"/>
              </a:spcBef>
              <a:spcAft>
                <a:spcPts val="0"/>
              </a:spcAft>
              <a:buNone/>
              <a:defRPr sz="1300"/>
            </a:pPr>
            <a:r>
              <a:rPr sz="1300" b="1">
                <a:solidFill>
                  <a:srgbClr val="203B34"/>
                </a:solidFill>
                <a:latin typeface="Manrope"/>
                <a:ea typeface="Manrope"/>
                <a:cs typeface="Manrope"/>
              </a:rPr>
              <a:t>FIXED RULE: START OF FILE</a:t>
            </a:r>
            <a:endParaRPr sz="1200" b="1">
              <a:solidFill>
                <a:srgbClr val="203B34"/>
              </a:solidFill>
              <a:latin typeface="Manrope"/>
              <a:ea typeface="Manrope"/>
              <a:cs typeface="Manrope"/>
            </a:endParaRPr>
          </a:p>
        </p:txBody>
      </p:sp>
      <p:sp>
        <p:nvSpPr>
          <p:cNvPr id="49" name="Google Shape;49;p9">
            <a:extLst xmlns:a="http://schemas.openxmlformats.org/drawingml/2006/main">
              <a:ext uri="{FF2B5EF4-FFF2-40B4-BE49-F238E27FC236}">
                <a16:creationId xmlns:a16="http://schemas.microsoft.com/office/drawing/2014/main" id="{CFFD0363-3CA8-4E8D-BC5A-667442094B37}"/>
              </a:ext>
            </a:extLst>
          </p:cNvPr>
          <p:cNvSpPr>
            <a:spLocks xmlns:a="http://schemas.openxmlformats.org/drawingml/2006/main" noGrp="1"/>
          </p:cNvSpPr>
          <p:nvPr/>
        </p:nvSpPr>
        <p:spPr>
          <a:xfrm xmlns:a="http://schemas.openxmlformats.org/drawingml/2006/main">
            <a:off x="609600" y="2257425"/>
            <a:ext cx="10972800" cy="857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4200">
                <a:solidFill>
                  <a:srgbClr val="F0E8D9"/>
                </a:solidFill>
                <a:latin typeface="Roboto Mono"/>
                <a:ea typeface="Roboto Mono"/>
                <a:cs typeface="Roboto Mono"/>
              </a:defRPr>
            </a:defPPr>
            <a:lvl1pPr>
              <a:defRPr sz="4200">
                <a:solidFill>
                  <a:srgbClr val="F0E8D9"/>
                </a:solidFill>
                <a:latin typeface="Roboto Mono"/>
                <a:ea typeface="Roboto Mono"/>
                <a:cs typeface="Roboto Mono"/>
              </a:defRPr>
            </a:lvl1pPr>
            <a:lvl2pPr>
              <a:defRPr sz="4200">
                <a:solidFill>
                  <a:srgbClr val="F0E8D9"/>
                </a:solidFill>
                <a:latin typeface="Roboto Mono"/>
                <a:ea typeface="Roboto Mono"/>
                <a:cs typeface="Roboto Mono"/>
              </a:defRPr>
            </a:lvl2pPr>
            <a:lvl3pPr>
              <a:defRPr sz="4200">
                <a:solidFill>
                  <a:srgbClr val="F0E8D9"/>
                </a:solidFill>
                <a:latin typeface="Roboto Mono"/>
                <a:ea typeface="Roboto Mono"/>
                <a:cs typeface="Roboto Mono"/>
              </a:defRPr>
            </a:lvl3pPr>
            <a:lvl4pPr>
              <a:defRPr sz="4200">
                <a:solidFill>
                  <a:srgbClr val="F0E8D9"/>
                </a:solidFill>
                <a:latin typeface="Roboto Mono"/>
                <a:ea typeface="Roboto Mono"/>
                <a:cs typeface="Roboto Mono"/>
              </a:defRPr>
            </a:lvl4pPr>
            <a:lvl5pPr>
              <a:defRPr sz="4200">
                <a:solidFill>
                  <a:srgbClr val="F0E8D9"/>
                </a:solidFill>
                <a:latin typeface="Roboto Mono"/>
                <a:ea typeface="Roboto Mono"/>
                <a:cs typeface="Roboto Mono"/>
              </a:defRPr>
            </a:lvl5pPr>
            <a:lvl6pPr>
              <a:defRPr sz="4200">
                <a:solidFill>
                  <a:srgbClr val="F0E8D9"/>
                </a:solidFill>
                <a:latin typeface="Roboto Mono"/>
                <a:ea typeface="Roboto Mono"/>
                <a:cs typeface="Roboto Mono"/>
              </a:defRPr>
            </a:lvl6pPr>
            <a:lvl7pPr>
              <a:defRPr sz="4200">
                <a:solidFill>
                  <a:srgbClr val="F0E8D9"/>
                </a:solidFill>
                <a:latin typeface="Roboto Mono"/>
                <a:ea typeface="Roboto Mono"/>
                <a:cs typeface="Roboto Mono"/>
              </a:defRPr>
            </a:lvl7pPr>
            <a:lvl8pPr>
              <a:defRPr sz="4200">
                <a:solidFill>
                  <a:srgbClr val="F0E8D9"/>
                </a:solidFill>
                <a:latin typeface="Roboto Mono"/>
                <a:ea typeface="Roboto Mono"/>
                <a:cs typeface="Roboto Mono"/>
              </a:defRPr>
            </a:lvl8pPr>
            <a:lvl9pPr>
              <a:defRPr sz="4200">
                <a:solidFill>
                  <a:srgbClr val="F0E8D9"/>
                </a:solidFill>
                <a:latin typeface="Roboto Mono"/>
                <a:ea typeface="Roboto Mono"/>
                <a:cs typeface="Roboto Mono"/>
              </a:defRPr>
            </a:lvl9pPr>
          </a:lstStyle>
          <a:p xmlns:a="http://schemas.openxmlformats.org/drawingml/2006/main">
            <a:pPr marL="0" marR="0" lvl="0" indent="0" algn="l">
              <a:spcBef>
                <a:spcPts val="0"/>
              </a:spcBef>
              <a:spcAft>
                <a:spcPts val="0"/>
              </a:spcAft>
              <a:buNone/>
              <a:defRPr sz="4200">
                <a:solidFill>
                  <a:srgbClr val="F0E8D9"/>
                </a:solidFill>
                <a:latin typeface="Roboto Mono"/>
                <a:ea typeface="Roboto Mono"/>
                <a:cs typeface="Roboto Mono"/>
              </a:defRPr>
            </a:pPr>
            <a:r>
              <a:rPr sz="4200">
                <a:solidFill>
                  <a:srgbClr val="F0E8D9"/>
                </a:solidFill>
                <a:latin typeface="Roboto Mono"/>
                <a:ea typeface="Roboto Mono"/>
                <a:cs typeface="Roboto Mono"/>
              </a:rPr>
              <a:t>#!/usr</a:t>
            </a:r>
            <a:r>
              <a:rPr sz="4200">
                <a:solidFill>
                  <a:srgbClr val="D99575"/>
                </a:solidFill>
                <a:latin typeface="Roboto Mono"/>
                <a:ea typeface="Roboto Mono"/>
                <a:cs typeface="Roboto Mono"/>
              </a:rPr>
              <a:t>/bin/env python</a:t>
            </a:r>
            <a:r>
              <a:rPr sz="4200">
                <a:solidFill>
                  <a:srgbClr val="F0E8D9"/>
                </a:solidFill>
                <a:latin typeface="Roboto Mono"/>
                <a:ea typeface="Roboto Mono"/>
                <a:cs typeface="Roboto Mono"/>
              </a:rPr>
              <a:t>3</a:t>
            </a:r>
            <a:endParaRPr sz="4800">
              <a:solidFill>
                <a:srgbClr val="F0E8D9"/>
              </a:solidFill>
              <a:latin typeface="Roboto Mono"/>
              <a:ea typeface="Roboto Mono"/>
              <a:cs typeface="Roboto Mono"/>
            </a:endParaRPr>
          </a:p>
        </p:txBody>
      </p:sp>
      <p:sp>
        <p:nvSpPr>
          <p:cNvPr id="50" name="Google Shape;50;p9">
            <a:extLst xmlns:a="http://schemas.openxmlformats.org/drawingml/2006/main">
              <a:ext uri="{FF2B5EF4-FFF2-40B4-BE49-F238E27FC236}">
                <a16:creationId xmlns:a16="http://schemas.microsoft.com/office/drawing/2014/main" id="{19CC6346-043C-4C88-BB39-64BC8D1DEEF0}"/>
              </a:ext>
            </a:extLst>
          </p:cNvPr>
          <p:cNvSpPr>
            <a:spLocks xmlns:a="http://schemas.openxmlformats.org/drawingml/2006/main" noGrp="1"/>
          </p:cNvSpPr>
          <p:nvPr/>
        </p:nvSpPr>
        <p:spPr>
          <a:xfrm xmlns:a="http://schemas.openxmlformats.org/drawingml/2006/main">
            <a:off x="609600" y="4673600"/>
            <a:ext cx="53340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50">
                <a:latin typeface="Roboto Mono"/>
                <a:ea typeface="Roboto Mono"/>
                <a:cs typeface="Roboto Mono"/>
              </a:defRPr>
            </a:defPPr>
            <a:lvl1pPr>
              <a:defRPr sz="1950">
                <a:latin typeface="Roboto Mono"/>
                <a:ea typeface="Roboto Mono"/>
                <a:cs typeface="Roboto Mono"/>
              </a:defRPr>
            </a:lvl1pPr>
            <a:lvl2pPr>
              <a:defRPr sz="1950">
                <a:latin typeface="Roboto Mono"/>
                <a:ea typeface="Roboto Mono"/>
                <a:cs typeface="Roboto Mono"/>
              </a:defRPr>
            </a:lvl2pPr>
            <a:lvl3pPr>
              <a:defRPr sz="1950">
                <a:latin typeface="Roboto Mono"/>
                <a:ea typeface="Roboto Mono"/>
                <a:cs typeface="Roboto Mono"/>
              </a:defRPr>
            </a:lvl3pPr>
            <a:lvl4pPr>
              <a:defRPr sz="1950">
                <a:latin typeface="Roboto Mono"/>
                <a:ea typeface="Roboto Mono"/>
                <a:cs typeface="Roboto Mono"/>
              </a:defRPr>
            </a:lvl4pPr>
            <a:lvl5pPr>
              <a:defRPr sz="1950">
                <a:latin typeface="Roboto Mono"/>
                <a:ea typeface="Roboto Mono"/>
                <a:cs typeface="Roboto Mono"/>
              </a:defRPr>
            </a:lvl5pPr>
            <a:lvl6pPr>
              <a:defRPr sz="1950">
                <a:latin typeface="Roboto Mono"/>
                <a:ea typeface="Roboto Mono"/>
                <a:cs typeface="Roboto Mono"/>
              </a:defRPr>
            </a:lvl6pPr>
            <a:lvl7pPr>
              <a:defRPr sz="1950">
                <a:latin typeface="Roboto Mono"/>
                <a:ea typeface="Roboto Mono"/>
                <a:cs typeface="Roboto Mono"/>
              </a:defRPr>
            </a:lvl7pPr>
            <a:lvl8pPr>
              <a:defRPr sz="1950">
                <a:latin typeface="Roboto Mono"/>
                <a:ea typeface="Roboto Mono"/>
                <a:cs typeface="Roboto Mono"/>
              </a:defRPr>
            </a:lvl8pPr>
            <a:lvl9pPr>
              <a:defRPr sz="1950">
                <a:latin typeface="Roboto Mono"/>
                <a:ea typeface="Roboto Mono"/>
                <a:cs typeface="Roboto Mono"/>
              </a:defRPr>
            </a:lvl9pPr>
          </a:lstStyle>
          <a:p xmlns:a="http://schemas.openxmlformats.org/drawingml/2006/main">
            <a:pPr marL="0" marR="0" lvl="0" indent="0" algn="l">
              <a:spcBef>
                <a:spcPts val="0"/>
              </a:spcBef>
              <a:spcAft>
                <a:spcPts val="0"/>
              </a:spcAft>
              <a:buNone/>
              <a:defRPr sz="1950">
                <a:latin typeface="Roboto Mono"/>
                <a:ea typeface="Roboto Mono"/>
                <a:cs typeface="Roboto Mono"/>
              </a:defRPr>
            </a:pPr>
            <a:r>
              <a:rPr sz="1950">
                <a:solidFill>
                  <a:srgbClr val="203B34"/>
                </a:solidFill>
                <a:latin typeface="Roboto Mono"/>
                <a:ea typeface="Roboto Mono"/>
                <a:cs typeface="Roboto Mono"/>
              </a:rPr>
              <a:t>/bin/env python</a:t>
            </a:r>
            <a:endParaRPr sz="1900">
              <a:solidFill>
                <a:srgbClr val="203B34"/>
              </a:solidFill>
              <a:latin typeface="Roboto Mono"/>
              <a:ea typeface="Roboto Mono"/>
              <a:cs typeface="Roboto Mono"/>
            </a:endParaRPr>
          </a:p>
          <a:p xmlns:a="http://schemas.openxmlformats.org/drawingml/2006/main">
            <a:pPr marL="0" marR="0" lvl="0" indent="0" algn="l">
              <a:spcBef>
                <a:spcPts val="0"/>
              </a:spcBef>
              <a:spcAft>
                <a:spcPts val="0"/>
              </a:spcAft>
              <a:buNone/>
              <a:defRPr sz="1950">
                <a:latin typeface="Roboto Mono"/>
                <a:ea typeface="Roboto Mono"/>
                <a:cs typeface="Roboto Mono"/>
              </a:defRPr>
            </a:pPr>
            <a:r>
              <a:rPr sz="1950">
                <a:solidFill>
                  <a:srgbClr val="203B34"/>
                </a:solidFill>
                <a:latin typeface="Roboto Mono"/>
                <a:ea typeface="Roboto Mono"/>
                <a:cs typeface="Roboto Mono"/>
              </a:rPr>
              <a:t>at offset 1</a:t>
            </a:r>
            <a:endParaRPr sz="1900">
              <a:solidFill>
                <a:srgbClr val="203B34"/>
              </a:solidFill>
              <a:latin typeface="Roboto Mono"/>
              <a:ea typeface="Roboto Mono"/>
              <a:cs typeface="Roboto Mono"/>
            </a:endParaRPr>
          </a:p>
        </p:txBody>
      </p:sp>
      <p:sp>
        <p:nvSpPr>
          <p:cNvPr id="51" name="Google Shape;51;p9">
            <a:extLst xmlns:a="http://schemas.openxmlformats.org/drawingml/2006/main">
              <a:ext uri="{FF2B5EF4-FFF2-40B4-BE49-F238E27FC236}">
                <a16:creationId xmlns:a16="http://schemas.microsoft.com/office/drawing/2014/main" id="{83BADD35-9E46-4E83-8266-1B7177A0C4CF}"/>
              </a:ext>
            </a:extLst>
          </p:cNvPr>
          <p:cNvSpPr>
            <a:spLocks xmlns:a="http://schemas.openxmlformats.org/drawingml/2006/main" noGrp="1"/>
          </p:cNvSpPr>
          <p:nvPr/>
        </p:nvSpPr>
        <p:spPr>
          <a:xfrm xmlns:a="http://schemas.openxmlformats.org/drawingml/2006/main">
            <a:off x="6604000" y="4673600"/>
            <a:ext cx="4978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800">
                <a:latin typeface="Roboto Mono"/>
                <a:ea typeface="Roboto Mono"/>
                <a:cs typeface="Roboto Mono"/>
              </a:defRPr>
            </a:defPPr>
            <a:lvl1pPr>
              <a:defRPr sz="1800">
                <a:latin typeface="Roboto Mono"/>
                <a:ea typeface="Roboto Mono"/>
                <a:cs typeface="Roboto Mono"/>
              </a:defRPr>
            </a:lvl1pPr>
            <a:lvl2pPr>
              <a:defRPr sz="1800">
                <a:latin typeface="Roboto Mono"/>
                <a:ea typeface="Roboto Mono"/>
                <a:cs typeface="Roboto Mono"/>
              </a:defRPr>
            </a:lvl2pPr>
            <a:lvl3pPr>
              <a:defRPr sz="1800">
                <a:latin typeface="Roboto Mono"/>
                <a:ea typeface="Roboto Mono"/>
                <a:cs typeface="Roboto Mono"/>
              </a:defRPr>
            </a:lvl3pPr>
            <a:lvl4pPr>
              <a:defRPr sz="1800">
                <a:latin typeface="Roboto Mono"/>
                <a:ea typeface="Roboto Mono"/>
                <a:cs typeface="Roboto Mono"/>
              </a:defRPr>
            </a:lvl4pPr>
            <a:lvl5pPr>
              <a:defRPr sz="1800">
                <a:latin typeface="Roboto Mono"/>
                <a:ea typeface="Roboto Mono"/>
                <a:cs typeface="Roboto Mono"/>
              </a:defRPr>
            </a:lvl5pPr>
            <a:lvl6pPr>
              <a:defRPr sz="1800">
                <a:latin typeface="Roboto Mono"/>
                <a:ea typeface="Roboto Mono"/>
                <a:cs typeface="Roboto Mono"/>
              </a:defRPr>
            </a:lvl6pPr>
            <a:lvl7pPr>
              <a:defRPr sz="1800">
                <a:latin typeface="Roboto Mono"/>
                <a:ea typeface="Roboto Mono"/>
                <a:cs typeface="Roboto Mono"/>
              </a:defRPr>
            </a:lvl7pPr>
            <a:lvl8pPr>
              <a:defRPr sz="1800">
                <a:latin typeface="Roboto Mono"/>
                <a:ea typeface="Roboto Mono"/>
                <a:cs typeface="Roboto Mono"/>
              </a:defRPr>
            </a:lvl8pPr>
            <a:lvl9pPr>
              <a:defRPr sz="1800">
                <a:latin typeface="Roboto Mono"/>
                <a:ea typeface="Roboto Mono"/>
                <a:cs typeface="Roboto Mono"/>
              </a:defRPr>
            </a:lvl9pPr>
          </a:lstStyle>
          <a:p xmlns:a="http://schemas.openxmlformats.org/drawingml/2006/main">
            <a:pPr marL="0" marR="0" lvl="0" indent="0" algn="l">
              <a:spcBef>
                <a:spcPts val="0"/>
              </a:spcBef>
              <a:spcAft>
                <a:spcPts val="0"/>
              </a:spcAft>
              <a:buNone/>
              <a:defRPr sz="1800">
                <a:latin typeface="Roboto Mono"/>
                <a:ea typeface="Roboto Mono"/>
                <a:cs typeface="Roboto Mono"/>
              </a:defRPr>
            </a:pPr>
            <a:r>
              <a:rPr sz="1800">
                <a:solidFill>
                  <a:srgbClr val="203B34"/>
                </a:solidFill>
                <a:latin typeface="Roboto Mono"/>
                <a:ea typeface="Roboto Mono"/>
                <a:cs typeface="Roboto Mono"/>
              </a:rPr>
              <a:t>#!/usr/bin/env python</a:t>
            </a:r>
            <a:endParaRPr sz="2200">
              <a:solidFill>
                <a:srgbClr val="203B34"/>
              </a:solidFill>
              <a:latin typeface="Roboto Mono"/>
              <a:ea typeface="Roboto Mono"/>
              <a:cs typeface="Roboto Mono"/>
            </a:endParaRPr>
          </a:p>
          <a:p xmlns:a="http://schemas.openxmlformats.org/drawingml/2006/main">
            <a:pPr marL="0" marR="0" lvl="0" indent="0" algn="l">
              <a:spcBef>
                <a:spcPts val="0"/>
              </a:spcBef>
              <a:spcAft>
                <a:spcPts val="0"/>
              </a:spcAft>
              <a:buNone/>
              <a:defRPr sz="1800">
                <a:latin typeface="Roboto Mono"/>
                <a:ea typeface="Roboto Mono"/>
                <a:cs typeface="Roboto Mono"/>
              </a:defRPr>
            </a:pPr>
            <a:r>
              <a:rPr sz="1800">
                <a:solidFill>
                  <a:srgbClr val="203B34"/>
                </a:solidFill>
                <a:latin typeface="Roboto Mono"/>
                <a:ea typeface="Roboto Mono"/>
                <a:cs typeface="Roboto Mono"/>
              </a:rPr>
              <a:t>at offset 0</a:t>
            </a:r>
            <a:endParaRPr sz="2200">
              <a:solidFill>
                <a:srgbClr val="203B34"/>
              </a:solidFill>
              <a:latin typeface="Roboto Mono"/>
              <a:ea typeface="Roboto Mono"/>
              <a:cs typeface="Roboto Mono"/>
            </a:endParaRPr>
          </a:p>
        </p:txBody>
      </p:sp>
      <p:sp>
        <p:nvSpPr>
          <p:cNvPr id="52" name="Google Shape;52;p9">
            <a:extLst xmlns:a="http://schemas.openxmlformats.org/drawingml/2006/main">
              <a:ext uri="{FF2B5EF4-FFF2-40B4-BE49-F238E27FC236}">
                <a16:creationId xmlns:a16="http://schemas.microsoft.com/office/drawing/2014/main" id="{CC8605B5-D1D1-4293-8306-D137143565D5}"/>
              </a:ext>
            </a:extLst>
          </p:cNvPr>
          <p:cNvSpPr>
            <a:spLocks xmlns:a="http://schemas.openxmlformats.org/drawingml/2006/main" noGrp="1"/>
          </p:cNvSpPr>
          <p:nvPr/>
        </p:nvSpPr>
        <p:spPr>
          <a:xfrm xmlns:a="http://schemas.openxmlformats.org/drawingml/2006/main">
            <a:off x="6604000" y="5562600"/>
            <a:ext cx="4978500" cy="5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400" b="1">
                <a:latin typeface="Roboto Mono"/>
                <a:ea typeface="Roboto Mono"/>
                <a:cs typeface="Roboto Mono"/>
              </a:defRPr>
            </a:defPPr>
            <a:lvl1pPr>
              <a:defRPr sz="2400" b="1">
                <a:latin typeface="Roboto Mono"/>
                <a:ea typeface="Roboto Mono"/>
                <a:cs typeface="Roboto Mono"/>
              </a:defRPr>
            </a:lvl1pPr>
            <a:lvl2pPr>
              <a:defRPr sz="2400" b="1">
                <a:latin typeface="Roboto Mono"/>
                <a:ea typeface="Roboto Mono"/>
                <a:cs typeface="Roboto Mono"/>
              </a:defRPr>
            </a:lvl2pPr>
            <a:lvl3pPr>
              <a:defRPr sz="2400" b="1">
                <a:latin typeface="Roboto Mono"/>
                <a:ea typeface="Roboto Mono"/>
                <a:cs typeface="Roboto Mono"/>
              </a:defRPr>
            </a:lvl3pPr>
            <a:lvl4pPr>
              <a:defRPr sz="2400" b="1">
                <a:latin typeface="Roboto Mono"/>
                <a:ea typeface="Roboto Mono"/>
                <a:cs typeface="Roboto Mono"/>
              </a:defRPr>
            </a:lvl4pPr>
            <a:lvl5pPr>
              <a:defRPr sz="2400" b="1">
                <a:latin typeface="Roboto Mono"/>
                <a:ea typeface="Roboto Mono"/>
                <a:cs typeface="Roboto Mono"/>
              </a:defRPr>
            </a:lvl5pPr>
            <a:lvl6pPr>
              <a:defRPr sz="2400" b="1">
                <a:latin typeface="Roboto Mono"/>
                <a:ea typeface="Roboto Mono"/>
                <a:cs typeface="Roboto Mono"/>
              </a:defRPr>
            </a:lvl6pPr>
            <a:lvl7pPr>
              <a:defRPr sz="2400" b="1">
                <a:latin typeface="Roboto Mono"/>
                <a:ea typeface="Roboto Mono"/>
                <a:cs typeface="Roboto Mono"/>
              </a:defRPr>
            </a:lvl7pPr>
            <a:lvl8pPr>
              <a:defRPr sz="2400" b="1">
                <a:latin typeface="Roboto Mono"/>
                <a:ea typeface="Roboto Mono"/>
                <a:cs typeface="Roboto Mono"/>
              </a:defRPr>
            </a:lvl8pPr>
            <a:lvl9pPr>
              <a:defRPr sz="2400" b="1">
                <a:latin typeface="Roboto Mono"/>
                <a:ea typeface="Roboto Mono"/>
                <a:cs typeface="Roboto Mono"/>
              </a:defRPr>
            </a:lvl9pPr>
          </a:lstStyle>
          <a:p xmlns:a="http://schemas.openxmlformats.org/drawingml/2006/main">
            <a:pPr marL="0" marR="0" lvl="0" indent="0" algn="l">
              <a:spcBef>
                <a:spcPts val="0"/>
              </a:spcBef>
              <a:spcAft>
                <a:spcPts val="0"/>
              </a:spcAft>
              <a:buNone/>
              <a:defRPr sz="2400" b="1">
                <a:latin typeface="Roboto Mono"/>
                <a:ea typeface="Roboto Mono"/>
                <a:cs typeface="Roboto Mono"/>
              </a:defRPr>
            </a:pPr>
            <a:r>
              <a:rPr sz="2400" b="1">
                <a:solidFill>
                  <a:srgbClr val="203B34"/>
                </a:solidFill>
                <a:latin typeface="Roboto Mono"/>
                <a:ea typeface="Roboto Mono"/>
                <a:cs typeface="Roboto Mono"/>
              </a:rPr>
              <a:t>text/x-python</a:t>
            </a:r>
            <a:endParaRPr sz="2600" b="1">
              <a:solidFill>
                <a:srgbClr val="203B34"/>
              </a:solidFill>
              <a:latin typeface="Roboto Mono"/>
              <a:ea typeface="Roboto Mono"/>
              <a:cs typeface="Roboto Mono"/>
            </a:endParaRPr>
          </a:p>
        </p:txBody>
      </p:sp>
      <p:sp>
        <p:nvSpPr>
          <p:cNvPr id="53" name="Google Shape;53;p9">
            <a:extLst xmlns:a="http://schemas.openxmlformats.org/drawingml/2006/main">
              <a:ext uri="{FF2B5EF4-FFF2-40B4-BE49-F238E27FC236}">
                <a16:creationId xmlns:a16="http://schemas.microsoft.com/office/drawing/2014/main" id="{5B17C138-3530-430F-9552-64D06802E843}"/>
              </a:ext>
            </a:extLst>
          </p:cNvPr>
          <p:cNvSpPr>
            <a:spLocks xmlns:a="http://schemas.openxmlformats.org/drawingml/2006/main" noGrp="1"/>
          </p:cNvSpPr>
          <p:nvPr/>
        </p:nvSpPr>
        <p:spPr>
          <a:xfrm xmlns:a="http://schemas.openxmlformats.org/drawingml/2006/main">
            <a:off x="609600" y="5562600"/>
            <a:ext cx="5334000" cy="5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400" b="1">
                <a:latin typeface="Roboto Mono"/>
                <a:ea typeface="Roboto Mono"/>
                <a:cs typeface="Roboto Mono"/>
              </a:defRPr>
            </a:defPPr>
            <a:lvl1pPr>
              <a:defRPr sz="2400" b="1">
                <a:latin typeface="Roboto Mono"/>
                <a:ea typeface="Roboto Mono"/>
                <a:cs typeface="Roboto Mono"/>
              </a:defRPr>
            </a:lvl1pPr>
            <a:lvl2pPr>
              <a:defRPr sz="2400" b="1">
                <a:latin typeface="Roboto Mono"/>
                <a:ea typeface="Roboto Mono"/>
                <a:cs typeface="Roboto Mono"/>
              </a:defRPr>
            </a:lvl2pPr>
            <a:lvl3pPr>
              <a:defRPr sz="2400" b="1">
                <a:latin typeface="Roboto Mono"/>
                <a:ea typeface="Roboto Mono"/>
                <a:cs typeface="Roboto Mono"/>
              </a:defRPr>
            </a:lvl3pPr>
            <a:lvl4pPr>
              <a:defRPr sz="2400" b="1">
                <a:latin typeface="Roboto Mono"/>
                <a:ea typeface="Roboto Mono"/>
                <a:cs typeface="Roboto Mono"/>
              </a:defRPr>
            </a:lvl4pPr>
            <a:lvl5pPr>
              <a:defRPr sz="2400" b="1">
                <a:latin typeface="Roboto Mono"/>
                <a:ea typeface="Roboto Mono"/>
                <a:cs typeface="Roboto Mono"/>
              </a:defRPr>
            </a:lvl5pPr>
            <a:lvl6pPr>
              <a:defRPr sz="2400" b="1">
                <a:latin typeface="Roboto Mono"/>
                <a:ea typeface="Roboto Mono"/>
                <a:cs typeface="Roboto Mono"/>
              </a:defRPr>
            </a:lvl6pPr>
            <a:lvl7pPr>
              <a:defRPr sz="2400" b="1">
                <a:latin typeface="Roboto Mono"/>
                <a:ea typeface="Roboto Mono"/>
                <a:cs typeface="Roboto Mono"/>
              </a:defRPr>
            </a:lvl7pPr>
            <a:lvl8pPr>
              <a:defRPr sz="2400" b="1">
                <a:latin typeface="Roboto Mono"/>
                <a:ea typeface="Roboto Mono"/>
                <a:cs typeface="Roboto Mono"/>
              </a:defRPr>
            </a:lvl8pPr>
            <a:lvl9pPr>
              <a:defRPr sz="2400" b="1">
                <a:latin typeface="Roboto Mono"/>
                <a:ea typeface="Roboto Mono"/>
                <a:cs typeface="Roboto Mono"/>
              </a:defRPr>
            </a:lvl9pPr>
          </a:lstStyle>
          <a:p xmlns:a="http://schemas.openxmlformats.org/drawingml/2006/main">
            <a:pPr marL="0" marR="0" lvl="0" indent="0" algn="l">
              <a:spcBef>
                <a:spcPts val="0"/>
              </a:spcBef>
              <a:spcAft>
                <a:spcPts val="0"/>
              </a:spcAft>
              <a:buNone/>
              <a:defRPr sz="2400" b="1">
                <a:latin typeface="Roboto Mono"/>
                <a:ea typeface="Roboto Mono"/>
                <a:cs typeface="Roboto Mono"/>
              </a:defRPr>
            </a:pPr>
            <a:r>
              <a:rPr sz="2400" b="1">
                <a:solidFill>
                  <a:srgbClr val="A14F37"/>
                </a:solidFill>
                <a:latin typeface="Roboto Mono"/>
                <a:ea typeface="Roboto Mono"/>
                <a:cs typeface="Roboto Mono"/>
              </a:rPr>
              <a:t>application/x-sh</a:t>
            </a:r>
            <a:endParaRPr sz="2600" b="1">
              <a:solidFill>
                <a:srgbClr val="A14F37"/>
              </a:solidFill>
              <a:latin typeface="Roboto Mono"/>
              <a:ea typeface="Roboto Mono"/>
              <a:cs typeface="Roboto Mono"/>
            </a:endParaRPr>
          </a:p>
        </p:txBody>
      </p:sp>
      <p:sp>
        <p:nvSpPr>
          <p:cNvPr id="54" name="Google Shape;54;p9">
            <a:extLst xmlns:a="http://schemas.openxmlformats.org/drawingml/2006/main">
              <a:ext uri="{FF2B5EF4-FFF2-40B4-BE49-F238E27FC236}">
                <a16:creationId xmlns:a16="http://schemas.microsoft.com/office/drawing/2014/main" id="{A3E23A32-8612-4039-98B3-E1AB2E225B98}"/>
              </a:ext>
            </a:extLst>
          </p:cNvPr>
          <p:cNvSpPr>
            <a:spLocks xmlns:a="http://schemas.openxmlformats.org/drawingml/2006/main" noGrp="1"/>
          </p:cNvSpPr>
          <p:nvPr/>
        </p:nvSpPr>
        <p:spPr>
          <a:xfrm xmlns:a="http://schemas.openxmlformats.org/drawingml/2006/main">
            <a:off x="609600" y="3267075"/>
            <a:ext cx="109728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solidFill>
                  <a:srgbClr val="B8C7AB"/>
                </a:solidFill>
                <a:latin typeface="Manrope"/>
                <a:ea typeface="Manrope"/>
                <a:cs typeface="Manrope"/>
              </a:defRPr>
            </a:defPPr>
            <a:lvl1pPr>
              <a:defRPr sz="1900">
                <a:solidFill>
                  <a:srgbClr val="B8C7AB"/>
                </a:solidFill>
                <a:latin typeface="Manrope"/>
                <a:ea typeface="Manrope"/>
                <a:cs typeface="Manrope"/>
              </a:defRPr>
            </a:lvl1pPr>
            <a:lvl2pPr>
              <a:defRPr sz="1900">
                <a:solidFill>
                  <a:srgbClr val="B8C7AB"/>
                </a:solidFill>
                <a:latin typeface="Manrope"/>
                <a:ea typeface="Manrope"/>
                <a:cs typeface="Manrope"/>
              </a:defRPr>
            </a:lvl2pPr>
            <a:lvl3pPr>
              <a:defRPr sz="1900">
                <a:solidFill>
                  <a:srgbClr val="B8C7AB"/>
                </a:solidFill>
                <a:latin typeface="Manrope"/>
                <a:ea typeface="Manrope"/>
                <a:cs typeface="Manrope"/>
              </a:defRPr>
            </a:lvl3pPr>
            <a:lvl4pPr>
              <a:defRPr sz="1900">
                <a:solidFill>
                  <a:srgbClr val="B8C7AB"/>
                </a:solidFill>
                <a:latin typeface="Manrope"/>
                <a:ea typeface="Manrope"/>
                <a:cs typeface="Manrope"/>
              </a:defRPr>
            </a:lvl4pPr>
            <a:lvl5pPr>
              <a:defRPr sz="1900">
                <a:solidFill>
                  <a:srgbClr val="B8C7AB"/>
                </a:solidFill>
                <a:latin typeface="Manrope"/>
                <a:ea typeface="Manrope"/>
                <a:cs typeface="Manrope"/>
              </a:defRPr>
            </a:lvl5pPr>
            <a:lvl6pPr>
              <a:defRPr sz="1900">
                <a:solidFill>
                  <a:srgbClr val="B8C7AB"/>
                </a:solidFill>
                <a:latin typeface="Manrope"/>
                <a:ea typeface="Manrope"/>
                <a:cs typeface="Manrope"/>
              </a:defRPr>
            </a:lvl6pPr>
            <a:lvl7pPr>
              <a:defRPr sz="1900">
                <a:solidFill>
                  <a:srgbClr val="B8C7AB"/>
                </a:solidFill>
                <a:latin typeface="Manrope"/>
                <a:ea typeface="Manrope"/>
                <a:cs typeface="Manrope"/>
              </a:defRPr>
            </a:lvl7pPr>
            <a:lvl8pPr>
              <a:defRPr sz="1900">
                <a:solidFill>
                  <a:srgbClr val="B8C7AB"/>
                </a:solidFill>
                <a:latin typeface="Manrope"/>
                <a:ea typeface="Manrope"/>
                <a:cs typeface="Manrope"/>
              </a:defRPr>
            </a:lvl8pPr>
            <a:lvl9pPr>
              <a:defRPr sz="1900">
                <a:solidFill>
                  <a:srgbClr val="B8C7AB"/>
                </a:solidFill>
                <a:latin typeface="Manrope"/>
                <a:ea typeface="Manrope"/>
                <a:cs typeface="Manrope"/>
              </a:defRPr>
            </a:lvl9pPr>
          </a:lstStyle>
          <a:p xmlns:a="http://schemas.openxmlformats.org/drawingml/2006/main">
            <a:pPr marL="0" marR="0" lvl="0" indent="0" algn="l">
              <a:spcBef>
                <a:spcPts val="0"/>
              </a:spcBef>
              <a:spcAft>
                <a:spcPts val="0"/>
              </a:spcAft>
              <a:buNone/>
              <a:defRPr sz="1900">
                <a:solidFill>
                  <a:srgbClr val="B8C7AB"/>
                </a:solidFill>
                <a:latin typeface="Manrope"/>
                <a:ea typeface="Manrope"/>
                <a:cs typeface="Manrope"/>
              </a:defRPr>
            </a:pPr>
            <a:r>
              <a:rPr sz="1900">
                <a:solidFill>
                  <a:srgbClr val="B8C7AB"/>
                </a:solidFill>
                <a:latin typeface="Manrope"/>
                <a:ea typeface="Manrope"/>
                <a:cs typeface="Manrope"/>
              </a:rPr>
              <a:t>The substring starts at offset 6. The old rule checked offset 1.</a:t>
            </a:r>
            <a:endParaRPr sz="1250">
              <a:solidFill>
                <a:srgbClr val="203B34"/>
              </a:solidFill>
              <a:latin typeface="Manrope"/>
              <a:ea typeface="Manrope"/>
              <a:cs typeface="Manrope"/>
            </a:endParaRPr>
          </a:p>
        </p:txBody>
      </p:sp>
      <p:sp>
        <p:nvSpPr>
          <p:cNvPr id="55" name="cause-takeaway">
            <a:extLst xmlns:a="http://schemas.openxmlformats.org/drawingml/2006/main">
              <a:ext uri="{FF2B5EF4-FFF2-40B4-BE49-F238E27FC236}">
                <a16:creationId xmlns:a16="http://schemas.microsoft.com/office/drawing/2014/main" id="{A65D76B2-A3C4-47E2-84CD-34CCADD80579}"/>
              </a:ext>
            </a:extLst>
          </p:cNvPr>
          <p:cNvSpPr>
            <a:spLocks xmlns:a="http://schemas.openxmlformats.org/drawingml/2006/main" noGrp="1"/>
          </p:cNvSpPr>
          <p:nvPr/>
        </p:nvSpPr>
        <p:spPr>
          <a:xfrm xmlns:a="http://schemas.openxmlformats.org/drawingml/2006/main">
            <a:off x="609600" y="620077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00">
                <a:solidFill>
                  <a:srgbClr val="203B34"/>
                </a:solidFill>
                <a:latin typeface="Manrope"/>
                <a:ea typeface="Manrope"/>
                <a:cs typeface="Manrope"/>
              </a:defRPr>
            </a:defPPr>
            <a:lvl1pPr>
              <a:defRPr sz="1600">
                <a:solidFill>
                  <a:srgbClr val="203B34"/>
                </a:solidFill>
                <a:latin typeface="Manrope"/>
                <a:ea typeface="Manrope"/>
                <a:cs typeface="Manrope"/>
              </a:defRPr>
            </a:lvl1pPr>
            <a:lvl2pPr>
              <a:defRPr sz="1600">
                <a:solidFill>
                  <a:srgbClr val="203B34"/>
                </a:solidFill>
                <a:latin typeface="Manrope"/>
                <a:ea typeface="Manrope"/>
                <a:cs typeface="Manrope"/>
              </a:defRPr>
            </a:lvl2pPr>
            <a:lvl3pPr>
              <a:defRPr sz="1600">
                <a:solidFill>
                  <a:srgbClr val="203B34"/>
                </a:solidFill>
                <a:latin typeface="Manrope"/>
                <a:ea typeface="Manrope"/>
                <a:cs typeface="Manrope"/>
              </a:defRPr>
            </a:lvl3pPr>
            <a:lvl4pPr>
              <a:defRPr sz="1600">
                <a:solidFill>
                  <a:srgbClr val="203B34"/>
                </a:solidFill>
                <a:latin typeface="Manrope"/>
                <a:ea typeface="Manrope"/>
                <a:cs typeface="Manrope"/>
              </a:defRPr>
            </a:lvl4pPr>
            <a:lvl5pPr>
              <a:defRPr sz="1600">
                <a:solidFill>
                  <a:srgbClr val="203B34"/>
                </a:solidFill>
                <a:latin typeface="Manrope"/>
                <a:ea typeface="Manrope"/>
                <a:cs typeface="Manrope"/>
              </a:defRPr>
            </a:lvl5pPr>
            <a:lvl6pPr>
              <a:defRPr sz="1600">
                <a:solidFill>
                  <a:srgbClr val="203B34"/>
                </a:solidFill>
                <a:latin typeface="Manrope"/>
                <a:ea typeface="Manrope"/>
                <a:cs typeface="Manrope"/>
              </a:defRPr>
            </a:lvl6pPr>
            <a:lvl7pPr>
              <a:defRPr sz="1600">
                <a:solidFill>
                  <a:srgbClr val="203B34"/>
                </a:solidFill>
                <a:latin typeface="Manrope"/>
                <a:ea typeface="Manrope"/>
                <a:cs typeface="Manrope"/>
              </a:defRPr>
            </a:lvl7pPr>
            <a:lvl8pPr>
              <a:defRPr sz="1600">
                <a:solidFill>
                  <a:srgbClr val="203B34"/>
                </a:solidFill>
                <a:latin typeface="Manrope"/>
                <a:ea typeface="Manrope"/>
                <a:cs typeface="Manrope"/>
              </a:defRPr>
            </a:lvl8pPr>
            <a:lvl9pPr>
              <a:defRPr sz="1600">
                <a:solidFill>
                  <a:srgbClr val="203B34"/>
                </a:solidFill>
                <a:latin typeface="Manrope"/>
                <a:ea typeface="Manrope"/>
                <a:cs typeface="Manrope"/>
              </a:defRPr>
            </a:lvl9pPr>
          </a:lstStyle>
          <a:p xmlns:a="http://schemas.openxmlformats.org/drawingml/2006/main">
            <a:pPr>
              <a:defRPr sz="1600">
                <a:solidFill>
                  <a:srgbClr val="203B34"/>
                </a:solidFill>
                <a:latin typeface="Manrope"/>
                <a:ea typeface="Manrope"/>
                <a:cs typeface="Manrope"/>
              </a:defRPr>
            </a:pPr>
            <a:r>
              <a:rPr sz="1600">
                <a:solidFill>
                  <a:srgbClr val="203B34"/>
                </a:solidFill>
                <a:latin typeface="Manrope"/>
                <a:ea typeface="Manrope"/>
                <a:cs typeface="Manrope"/>
              </a:rPr>
              <a:t>The challenge was tracing which detection rule matched, and why.</a:t>
            </a:r>
          </a:p>
        </p:txBody>
      </p:sp>
    </p:spTree>
    <p:extLst>
      <p:ext uri="{BB962C8B-B14F-4D97-AF65-F5344CB8AC3E}">
        <p14:creationId xmlns:p14="http://schemas.microsoft.com/office/powerpoint/2010/main" val="1680951504"/>
      </p:ext>
    </p:extLst>
  </p:cSld>
</p:sld>
</file>

<file path=ppt/slides/slide2.xml><?xml version="1.0" encoding="utf-8"?>
<p:sld xmlns:p="http://schemas.openxmlformats.org/presentationml/2006/main">
  <p:cSld>
    <p:bg>
      <p:bgPr>
        <a:solidFill xmlns:a="http://schemas.openxmlformats.org/drawingml/2006/main">
          <a:srgbClr val="203B34"/>
        </a:solidFill>
      </p:bgPr>
    </p:bg>
    <p:spTree>
      <p:nvGrpSpPr>
        <p:cNvPr id="1" name=""/>
        <p:cNvGrpSpPr/>
        <p:nvPr/>
      </p:nvGrpSpPr>
      <p:grpSpPr>
        <a:xfrm xmlns:a="http://schemas.openxmlformats.org/drawingml/2006/main"/>
      </p:grpSpPr>
      <p:sp>
        <p:nvSpPr>
          <p:cNvPr id="77" name="Google Shape;77;p11">
            <a:extLst xmlns:a="http://schemas.openxmlformats.org/drawingml/2006/main">
              <a:ext uri="{FF2B5EF4-FFF2-40B4-BE49-F238E27FC236}">
                <a16:creationId xmlns:a16="http://schemas.microsoft.com/office/drawing/2014/main" id="{BFFB46ED-80CE-4967-BE50-1A7E4044B174}"/>
              </a:ext>
            </a:extLst>
          </p:cNvPr>
          <p:cNvSpPr>
            <a:spLocks xmlns:a="http://schemas.openxmlformats.org/drawingml/2006/main" noGrp="1"/>
          </p:cNvSpPr>
          <p:nvPr/>
        </p:nvSpPr>
        <p:spPr>
          <a:xfrm xmlns:a="http://schemas.openxmlformats.org/drawingml/2006/main">
            <a:off x="609600" y="390525"/>
            <a:ext cx="90487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050" b="1">
                <a:solidFill>
                  <a:srgbClr val="F0E8D9"/>
                </a:solidFill>
                <a:latin typeface="Manrope"/>
                <a:ea typeface="Manrope"/>
                <a:cs typeface="Manrope"/>
              </a:rPr>
              <a:t>TIKA-4408 / DEVELOPMENT CHALLENGES</a:t>
            </a:r>
            <a:endParaRPr sz="1050" b="1">
              <a:solidFill>
                <a:srgbClr val="F0E8D9"/>
              </a:solidFill>
              <a:latin typeface="Manrope"/>
              <a:ea typeface="Manrope"/>
              <a:cs typeface="Manrope"/>
            </a:endParaRPr>
          </a:p>
        </p:txBody>
      </p:sp>
      <p:sp>
        <p:nvSpPr>
          <p:cNvPr id="78" name="Google Shape;78;p11">
            <a:extLst xmlns:a="http://schemas.openxmlformats.org/drawingml/2006/main">
              <a:ext uri="{FF2B5EF4-FFF2-40B4-BE49-F238E27FC236}">
                <a16:creationId xmlns:a16="http://schemas.microsoft.com/office/drawing/2014/main" id="{4F547F1B-07C7-4334-855E-F7347EAB298C}"/>
              </a:ext>
            </a:extLst>
          </p:cNvPr>
          <p:cNvSpPr>
            <a:spLocks xmlns:a="http://schemas.openxmlformats.org/drawingml/2006/main" noGrp="1"/>
          </p:cNvSpPr>
          <p:nvPr/>
        </p:nvSpPr>
        <p:spPr>
          <a:xfrm xmlns:a="http://schemas.openxmlformats.org/drawingml/2006/main">
            <a:off x="10953750" y="390525"/>
            <a:ext cx="6286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000">
                <a:solidFill>
                  <a:srgbClr val="B8C7AB"/>
                </a:solidFill>
                <a:latin typeface="Manrope"/>
                <a:ea typeface="Manrope"/>
                <a:cs typeface="Manrope"/>
              </a:rPr>
              <a:t>02</a:t>
            </a:r>
            <a:endParaRPr sz="1000">
              <a:solidFill>
                <a:srgbClr val="B8C7AB"/>
              </a:solidFill>
              <a:latin typeface="Manrope"/>
              <a:ea typeface="Manrope"/>
              <a:cs typeface="Manrope"/>
            </a:endParaRPr>
          </a:p>
        </p:txBody>
      </p:sp>
      <p:sp>
        <p:nvSpPr>
          <p:cNvPr id="79" name="Google Shape;79;p11">
            <a:extLst xmlns:a="http://schemas.openxmlformats.org/drawingml/2006/main">
              <a:ext uri="{FF2B5EF4-FFF2-40B4-BE49-F238E27FC236}">
                <a16:creationId xmlns:a16="http://schemas.microsoft.com/office/drawing/2014/main" id="{D8C37912-345D-412E-980D-DD51CD273976}"/>
              </a:ext>
            </a:extLst>
          </p:cNvPr>
          <p:cNvSpPr>
            <a:spLocks xmlns:a="http://schemas.openxmlformats.org/drawingml/2006/main" noGrp="1"/>
          </p:cNvSpPr>
          <p:nvPr>
            <p:ph type="title" idx="0"/>
          </p:nvPr>
        </p:nvSpPr>
        <p:spPr>
          <a:xfrm xmlns:a="http://schemas.openxmlformats.org/drawingml/2006/main">
            <a:off x="609600" y="825500"/>
            <a:ext cx="10972800" cy="1016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3300"/>
            </a:defPPr>
            <a:lvl1pPr>
              <a:defRPr sz="3300"/>
            </a:lvl1pPr>
            <a:lvl2pPr>
              <a:defRPr sz="3300"/>
            </a:lvl2pPr>
            <a:lvl3pPr>
              <a:defRPr sz="3300"/>
            </a:lvl3pPr>
            <a:lvl4pPr>
              <a:defRPr sz="3300"/>
            </a:lvl4pPr>
            <a:lvl5pPr>
              <a:defRPr sz="3300"/>
            </a:lvl5pPr>
            <a:lvl6pPr>
              <a:defRPr sz="3300"/>
            </a:lvl6pPr>
            <a:lvl7pPr>
              <a:defRPr sz="3300"/>
            </a:lvl7pPr>
            <a:lvl8pPr>
              <a:defRPr sz="3300"/>
            </a:lvl8pPr>
            <a:lvl9pPr>
              <a:defRPr sz="3300"/>
            </a:lvl9pPr>
          </a:lstStyle>
          <a:p xmlns:a="http://schemas.openxmlformats.org/drawingml/2006/main">
            <a:pPr marL="0" marR="0" lvl="0" indent="0" algn="l">
              <a:spcBef>
                <a:spcPts val="0"/>
              </a:spcBef>
              <a:spcAft>
                <a:spcPts val="0"/>
              </a:spcAft>
              <a:buNone/>
              <a:defRPr sz="3300"/>
            </a:pPr>
            <a:r>
              <a:rPr sz="3300" b="1">
                <a:solidFill>
                  <a:srgbClr val="F0E8D9"/>
                </a:solidFill>
                <a:latin typeface="Manrope"/>
                <a:ea typeface="Manrope"/>
                <a:cs typeface="Manrope"/>
              </a:rPr>
              <a:t>Challenge 2: proving the fix</a:t>
            </a:r>
            <a:endParaRPr sz="3200" b="1">
              <a:solidFill>
                <a:srgbClr val="F0E8D9"/>
              </a:solidFill>
              <a:latin typeface="Manrope"/>
              <a:ea typeface="Manrope"/>
              <a:cs typeface="Manrope"/>
            </a:endParaRPr>
          </a:p>
        </p:txBody>
      </p:sp>
      <p:sp>
        <p:nvSpPr>
          <p:cNvPr id="80" name="Google Shape;80;p11">
            <a:extLst xmlns:a="http://schemas.openxmlformats.org/drawingml/2006/main">
              <a:ext uri="{FF2B5EF4-FFF2-40B4-BE49-F238E27FC236}">
                <a16:creationId xmlns:a16="http://schemas.microsoft.com/office/drawing/2014/main" id="{E80A6EAA-E288-4677-80CA-10F201D90F7F}"/>
              </a:ext>
            </a:extLst>
          </p:cNvPr>
          <p:cNvSpPr>
            <a:spLocks xmlns:a="http://schemas.openxmlformats.org/drawingml/2006/main" noGrp="1"/>
          </p:cNvSpPr>
          <p:nvPr/>
        </p:nvSpPr>
        <p:spPr>
          <a:xfrm xmlns:a="http://schemas.openxmlformats.org/drawingml/2006/main">
            <a:off x="5238750" y="6486525"/>
            <a:ext cx="6343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000">
                <a:solidFill>
                  <a:srgbClr val="B8C7AB"/>
                </a:solidFill>
                <a:latin typeface="Manrope"/>
                <a:ea typeface="Manrope"/>
                <a:cs typeface="Manrope"/>
              </a:rPr>
              <a:t>Jiajun Li / TIKA-4408</a:t>
            </a:r>
            <a:endParaRPr sz="1000">
              <a:solidFill>
                <a:srgbClr val="B8C7AB"/>
              </a:solidFill>
              <a:latin typeface="Manrope"/>
              <a:ea typeface="Manrope"/>
              <a:cs typeface="Manrope"/>
            </a:endParaRPr>
          </a:p>
        </p:txBody>
      </p:sp>
      <p:sp>
        <p:nvSpPr>
          <p:cNvPr id="81" name="Google Shape;81;p11">
            <a:extLst xmlns:a="http://schemas.openxmlformats.org/drawingml/2006/main">
              <a:ext uri="{FF2B5EF4-FFF2-40B4-BE49-F238E27FC236}">
                <a16:creationId xmlns:a16="http://schemas.microsoft.com/office/drawing/2014/main" id="{7A0ADB32-8CB8-43A1-91EF-3D8C5F6C7CD2}"/>
              </a:ext>
            </a:extLst>
          </p:cNvPr>
          <p:cNvSpPr>
            <a:spLocks xmlns:a="http://schemas.openxmlformats.org/drawingml/2006/main" noGrp="1"/>
          </p:cNvSpPr>
          <p:nvPr/>
        </p:nvSpPr>
        <p:spPr>
          <a:xfrm xmlns:a="http://schemas.openxmlformats.org/drawingml/2006/main">
            <a:off x="609600" y="2032000"/>
            <a:ext cx="7365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F0E8D9"/>
                </a:solidFill>
                <a:latin typeface="Roboto Mono"/>
                <a:ea typeface="Roboto Mono"/>
                <a:cs typeface="Roboto Mono"/>
              </a:rPr>
              <a:t>01</a:t>
            </a:r>
            <a:endParaRPr sz="3000" b="1">
              <a:solidFill>
                <a:srgbClr val="F0E8D9"/>
              </a:solidFill>
              <a:latin typeface="Roboto Mono"/>
              <a:ea typeface="Roboto Mono"/>
              <a:cs typeface="Roboto Mono"/>
            </a:endParaRPr>
          </a:p>
        </p:txBody>
      </p:sp>
      <p:sp>
        <p:nvSpPr>
          <p:cNvPr id="82" name="Google Shape;82;p11">
            <a:extLst xmlns:a="http://schemas.openxmlformats.org/drawingml/2006/main">
              <a:ext uri="{FF2B5EF4-FFF2-40B4-BE49-F238E27FC236}">
                <a16:creationId xmlns:a16="http://schemas.microsoft.com/office/drawing/2014/main" id="{91C40E41-CFD6-43E0-B9CB-F225F04E37A9}"/>
              </a:ext>
            </a:extLst>
          </p:cNvPr>
          <p:cNvSpPr>
            <a:spLocks xmlns:a="http://schemas.openxmlformats.org/drawingml/2006/main" noGrp="1"/>
          </p:cNvSpPr>
          <p:nvPr/>
        </p:nvSpPr>
        <p:spPr>
          <a:xfrm xmlns:a="http://schemas.openxmlformats.org/drawingml/2006/main">
            <a:off x="1587500" y="2032000"/>
            <a:ext cx="99948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F0E8D9"/>
                </a:solidFill>
                <a:latin typeface="Manrope"/>
                <a:ea typeface="Manrope"/>
                <a:cs typeface="Manrope"/>
              </a:rPr>
              <a:t>Separate content from filename hints</a:t>
            </a:r>
            <a:endParaRPr sz="2400" b="1">
              <a:solidFill>
                <a:srgbClr val="F0E8D9"/>
              </a:solidFill>
              <a:latin typeface="Manrope"/>
              <a:ea typeface="Manrope"/>
              <a:cs typeface="Manrope"/>
            </a:endParaRPr>
          </a:p>
        </p:txBody>
      </p:sp>
      <p:sp>
        <p:nvSpPr>
          <p:cNvPr id="83" name="Google Shape;83;p11">
            <a:extLst xmlns:a="http://schemas.openxmlformats.org/drawingml/2006/main">
              <a:ext uri="{FF2B5EF4-FFF2-40B4-BE49-F238E27FC236}">
                <a16:creationId xmlns:a16="http://schemas.microsoft.com/office/drawing/2014/main" id="{090ABDF0-E7EE-4D30-9468-B62BD5EC0841}"/>
              </a:ext>
            </a:extLst>
          </p:cNvPr>
          <p:cNvSpPr>
            <a:spLocks xmlns:a="http://schemas.openxmlformats.org/drawingml/2006/main" noGrp="1"/>
          </p:cNvSpPr>
          <p:nvPr/>
        </p:nvSpPr>
        <p:spPr>
          <a:xfrm xmlns:a="http://schemas.openxmlformats.org/drawingml/2006/main">
            <a:off x="1587500" y="2590800"/>
            <a:ext cx="9994800" cy="7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B8C7AB"/>
                </a:solidFill>
                <a:latin typeface="Manrope"/>
                <a:ea typeface="Manrope"/>
                <a:cs typeface="Manrope"/>
              </a:rPr>
              <a:t>Test each input without a filename, then with script.py.</a:t>
            </a:r>
            <a:endParaRPr sz="1900">
              <a:solidFill>
                <a:srgbClr val="B8C7AB"/>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B8C7AB"/>
                </a:solidFill>
                <a:latin typeface="Manrope"/>
                <a:ea typeface="Manrope"/>
                <a:cs typeface="Manrope"/>
              </a:rPr>
              <a:t>This checks the content rule and the effect of metadata.</a:t>
            </a:r>
            <a:endParaRPr sz="1900">
              <a:solidFill>
                <a:srgbClr val="B8C7AB"/>
              </a:solidFill>
              <a:latin typeface="Manrope"/>
              <a:ea typeface="Manrope"/>
              <a:cs typeface="Manrope"/>
            </a:endParaRPr>
          </a:p>
        </p:txBody>
      </p:sp>
      <p:sp>
        <p:nvSpPr>
          <p:cNvPr id="84" name="Google Shape;84;p11">
            <a:extLst xmlns:a="http://schemas.openxmlformats.org/drawingml/2006/main">
              <a:ext uri="{FF2B5EF4-FFF2-40B4-BE49-F238E27FC236}">
                <a16:creationId xmlns:a16="http://schemas.microsoft.com/office/drawing/2014/main" id="{0EAB67C9-729F-45B7-8354-1BEC3D8B9817}"/>
              </a:ext>
            </a:extLst>
          </p:cNvPr>
          <p:cNvSpPr>
            <a:spLocks xmlns:a="http://schemas.openxmlformats.org/drawingml/2006/main" noGrp="1"/>
          </p:cNvSpPr>
          <p:nvPr/>
        </p:nvSpPr>
        <p:spPr>
          <a:xfrm xmlns:a="http://schemas.openxmlformats.org/drawingml/2006/main">
            <a:off x="609600" y="3429000"/>
            <a:ext cx="7365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F0E8D9"/>
                </a:solidFill>
                <a:latin typeface="Roboto Mono"/>
                <a:ea typeface="Roboto Mono"/>
                <a:cs typeface="Roboto Mono"/>
              </a:rPr>
              <a:t>02</a:t>
            </a:r>
            <a:endParaRPr sz="3000" b="1">
              <a:solidFill>
                <a:srgbClr val="F0E8D9"/>
              </a:solidFill>
              <a:latin typeface="Roboto Mono"/>
              <a:ea typeface="Roboto Mono"/>
              <a:cs typeface="Roboto Mono"/>
            </a:endParaRPr>
          </a:p>
        </p:txBody>
      </p:sp>
      <p:sp>
        <p:nvSpPr>
          <p:cNvPr id="85" name="Google Shape;85;p11">
            <a:extLst xmlns:a="http://schemas.openxmlformats.org/drawingml/2006/main">
              <a:ext uri="{FF2B5EF4-FFF2-40B4-BE49-F238E27FC236}">
                <a16:creationId xmlns:a16="http://schemas.microsoft.com/office/drawing/2014/main" id="{7872E774-C705-4431-89B2-257C771B4C47}"/>
              </a:ext>
            </a:extLst>
          </p:cNvPr>
          <p:cNvSpPr>
            <a:spLocks xmlns:a="http://schemas.openxmlformats.org/drawingml/2006/main" noGrp="1"/>
          </p:cNvSpPr>
          <p:nvPr/>
        </p:nvSpPr>
        <p:spPr>
          <a:xfrm xmlns:a="http://schemas.openxmlformats.org/drawingml/2006/main">
            <a:off x="1587500" y="3429000"/>
            <a:ext cx="99948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2400" b="1">
                <a:solidFill>
                  <a:srgbClr val="F0E8D9"/>
                </a:solidFill>
                <a:latin typeface="Manrope"/>
                <a:ea typeface="Manrope"/>
                <a:cs typeface="Manrope"/>
              </a:rPr>
              <a:t>Keep working behavior intact</a:t>
            </a:r>
            <a:endParaRPr sz="2400" b="1">
              <a:solidFill>
                <a:srgbClr val="F0E8D9"/>
              </a:solidFill>
              <a:latin typeface="Manrope"/>
              <a:ea typeface="Manrope"/>
              <a:cs typeface="Manrope"/>
            </a:endParaRPr>
          </a:p>
        </p:txBody>
      </p:sp>
      <p:sp>
        <p:nvSpPr>
          <p:cNvPr id="86" name="Google Shape;86;p11">
            <a:extLst xmlns:a="http://schemas.openxmlformats.org/drawingml/2006/main">
              <a:ext uri="{FF2B5EF4-FFF2-40B4-BE49-F238E27FC236}">
                <a16:creationId xmlns:a16="http://schemas.microsoft.com/office/drawing/2014/main" id="{2CA38638-F1D0-4CE5-A12E-E40F9FDD339F}"/>
              </a:ext>
            </a:extLst>
          </p:cNvPr>
          <p:cNvSpPr>
            <a:spLocks xmlns:a="http://schemas.openxmlformats.org/drawingml/2006/main" noGrp="1"/>
          </p:cNvSpPr>
          <p:nvPr/>
        </p:nvSpPr>
        <p:spPr>
          <a:xfrm xmlns:a="http://schemas.openxmlformats.org/drawingml/2006/main">
            <a:off x="1587500" y="3987800"/>
            <a:ext cx="9994800" cy="7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B8C7AB"/>
                </a:solidFill>
                <a:latin typeface="Manrope"/>
                <a:ea typeface="Manrope"/>
                <a:cs typeface="Manrope"/>
              </a:rPr>
              <a:t>Check direct Python paths, Shell scripts and an input</a:t>
            </a:r>
            <a:endParaRPr sz="1900">
              <a:solidFill>
                <a:srgbClr val="B8C7AB"/>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B8C7AB"/>
                </a:solidFill>
                <a:latin typeface="Manrope"/>
                <a:ea typeface="Manrope"/>
                <a:cs typeface="Manrope"/>
              </a:rPr>
              <a:t>with a newline before the shebang.</a:t>
            </a:r>
            <a:endParaRPr sz="1900">
              <a:solidFill>
                <a:srgbClr val="B8C7AB"/>
              </a:solidFill>
              <a:latin typeface="Manrope"/>
              <a:ea typeface="Manrope"/>
              <a:cs typeface="Manrope"/>
            </a:endParaRPr>
          </a:p>
        </p:txBody>
      </p:sp>
      <p:sp>
        <p:nvSpPr>
          <p:cNvPr id="87" name="Google Shape;87;p11">
            <a:extLst xmlns:a="http://schemas.openxmlformats.org/drawingml/2006/main">
              <a:ext uri="{FF2B5EF4-FFF2-40B4-BE49-F238E27FC236}">
                <a16:creationId xmlns:a16="http://schemas.microsoft.com/office/drawing/2014/main" id="{06448C92-2418-4982-B7E5-C8DC977E27CC}"/>
              </a:ext>
            </a:extLst>
          </p:cNvPr>
          <p:cNvSpPr>
            <a:spLocks xmlns:a="http://schemas.openxmlformats.org/drawingml/2006/main" noGrp="1"/>
          </p:cNvSpPr>
          <p:nvPr/>
        </p:nvSpPr>
        <p:spPr>
          <a:xfrm xmlns:a="http://schemas.openxmlformats.org/drawingml/2006/main">
            <a:off x="609600" y="4826000"/>
            <a:ext cx="736500" cy="609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3000" b="1">
                <a:solidFill>
                  <a:srgbClr val="D99575"/>
                </a:solidFill>
                <a:latin typeface="Roboto Mono"/>
                <a:ea typeface="Roboto Mono"/>
                <a:cs typeface="Roboto Mono"/>
              </a:rPr>
              <a:t>03</a:t>
            </a:r>
            <a:endParaRPr sz="3000" b="1">
              <a:solidFill>
                <a:srgbClr val="D99575"/>
              </a:solidFill>
              <a:latin typeface="Roboto Mono"/>
              <a:ea typeface="Roboto Mono"/>
              <a:cs typeface="Roboto Mono"/>
            </a:endParaRPr>
          </a:p>
        </p:txBody>
      </p:sp>
      <p:sp>
        <p:nvSpPr>
          <p:cNvPr id="88" name="Google Shape;88;p11">
            <a:extLst xmlns:a="http://schemas.openxmlformats.org/drawingml/2006/main">
              <a:ext uri="{FF2B5EF4-FFF2-40B4-BE49-F238E27FC236}">
                <a16:creationId xmlns:a16="http://schemas.microsoft.com/office/drawing/2014/main" id="{9B2D947C-DE19-451B-93F0-EB3077165569}"/>
              </a:ext>
            </a:extLst>
          </p:cNvPr>
          <p:cNvSpPr>
            <a:spLocks xmlns:a="http://schemas.openxmlformats.org/drawingml/2006/main" noGrp="1"/>
          </p:cNvSpPr>
          <p:nvPr/>
        </p:nvSpPr>
        <p:spPr>
          <a:xfrm xmlns:a="http://schemas.openxmlformats.org/drawingml/2006/main">
            <a:off x="1587500" y="4826000"/>
            <a:ext cx="9994800" cy="533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300"/>
            </a:defPPr>
            <a:lvl1pPr>
              <a:defRPr sz="2300"/>
            </a:lvl1pPr>
            <a:lvl2pPr>
              <a:defRPr sz="2300"/>
            </a:lvl2pPr>
            <a:lvl3pPr>
              <a:defRPr sz="2300"/>
            </a:lvl3pPr>
            <a:lvl4pPr>
              <a:defRPr sz="2300"/>
            </a:lvl4pPr>
            <a:lvl5pPr>
              <a:defRPr sz="2300"/>
            </a:lvl5pPr>
            <a:lvl6pPr>
              <a:defRPr sz="2300"/>
            </a:lvl6pPr>
            <a:lvl7pPr>
              <a:defRPr sz="2300"/>
            </a:lvl7pPr>
            <a:lvl8pPr>
              <a:defRPr sz="2300"/>
            </a:lvl8pPr>
            <a:lvl9pPr>
              <a:defRPr sz="2300"/>
            </a:lvl9pPr>
          </a:lstStyle>
          <a:p xmlns:a="http://schemas.openxmlformats.org/drawingml/2006/main">
            <a:pPr marL="0" marR="0" lvl="0" indent="0" algn="l">
              <a:spcBef>
                <a:spcPts val="0"/>
              </a:spcBef>
              <a:spcAft>
                <a:spcPts val="0"/>
              </a:spcAft>
              <a:buNone/>
              <a:defRPr sz="2300"/>
            </a:pPr>
            <a:r>
              <a:rPr sz="2300" b="1">
                <a:solidFill>
                  <a:srgbClr val="F0E8D9"/>
                </a:solidFill>
                <a:latin typeface="Manrope"/>
                <a:ea typeface="Manrope"/>
                <a:cs typeface="Manrope"/>
              </a:rPr>
              <a:t>Same 18 focused checks: 7 failures before, 0 after</a:t>
            </a:r>
            <a:endParaRPr sz="2400" b="1">
              <a:solidFill>
                <a:srgbClr val="F0E8D9"/>
              </a:solidFill>
              <a:latin typeface="Manrope"/>
              <a:ea typeface="Manrope"/>
              <a:cs typeface="Manrope"/>
            </a:endParaRPr>
          </a:p>
        </p:txBody>
      </p:sp>
      <p:sp>
        <p:nvSpPr>
          <p:cNvPr id="89" name="Google Shape;89;p11">
            <a:extLst xmlns:a="http://schemas.openxmlformats.org/drawingml/2006/main">
              <a:ext uri="{FF2B5EF4-FFF2-40B4-BE49-F238E27FC236}">
                <a16:creationId xmlns:a16="http://schemas.microsoft.com/office/drawing/2014/main" id="{E17AA8AE-636C-4366-BC59-D9E54291B3F2}"/>
              </a:ext>
            </a:extLst>
          </p:cNvPr>
          <p:cNvSpPr>
            <a:spLocks xmlns:a="http://schemas.openxmlformats.org/drawingml/2006/main" noGrp="1"/>
          </p:cNvSpPr>
          <p:nvPr/>
        </p:nvSpPr>
        <p:spPr>
          <a:xfrm xmlns:a="http://schemas.openxmlformats.org/drawingml/2006/main">
            <a:off x="1587500" y="5384800"/>
            <a:ext cx="9994800" cy="7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latin typeface="Manrope"/>
                <a:ea typeface="Manrope"/>
                <a:cs typeface="Manrope"/>
              </a:defRPr>
            </a:defPPr>
            <a:lvl1pPr>
              <a:defRPr sz="1900">
                <a:latin typeface="Manrope"/>
                <a:ea typeface="Manrope"/>
                <a:cs typeface="Manrope"/>
              </a:defRPr>
            </a:lvl1pPr>
            <a:lvl2pPr>
              <a:defRPr sz="1900">
                <a:latin typeface="Manrope"/>
                <a:ea typeface="Manrope"/>
                <a:cs typeface="Manrope"/>
              </a:defRPr>
            </a:lvl2pPr>
            <a:lvl3pPr>
              <a:defRPr sz="1900">
                <a:latin typeface="Manrope"/>
                <a:ea typeface="Manrope"/>
                <a:cs typeface="Manrope"/>
              </a:defRPr>
            </a:lvl3pPr>
            <a:lvl4pPr>
              <a:defRPr sz="1900">
                <a:latin typeface="Manrope"/>
                <a:ea typeface="Manrope"/>
                <a:cs typeface="Manrope"/>
              </a:defRPr>
            </a:lvl4pPr>
            <a:lvl5pPr>
              <a:defRPr sz="1900">
                <a:latin typeface="Manrope"/>
                <a:ea typeface="Manrope"/>
                <a:cs typeface="Manrope"/>
              </a:defRPr>
            </a:lvl5pPr>
            <a:lvl6pPr>
              <a:defRPr sz="1900">
                <a:latin typeface="Manrope"/>
                <a:ea typeface="Manrope"/>
                <a:cs typeface="Manrope"/>
              </a:defRPr>
            </a:lvl6pPr>
            <a:lvl7pPr>
              <a:defRPr sz="1900">
                <a:latin typeface="Manrope"/>
                <a:ea typeface="Manrope"/>
                <a:cs typeface="Manrope"/>
              </a:defRPr>
            </a:lvl7pPr>
            <a:lvl8pPr>
              <a:defRPr sz="1900">
                <a:latin typeface="Manrope"/>
                <a:ea typeface="Manrope"/>
                <a:cs typeface="Manrope"/>
              </a:defRPr>
            </a:lvl8pPr>
            <a:lvl9pPr>
              <a:defRPr sz="1900">
                <a:latin typeface="Manrope"/>
                <a:ea typeface="Manrope"/>
                <a:cs typeface="Manrope"/>
              </a:defRPr>
            </a:lvl9pPr>
          </a:lstStyle>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B8C7AB"/>
                </a:solidFill>
                <a:latin typeface="Manrope"/>
                <a:ea typeface="Manrope"/>
                <a:cs typeface="Manrope"/>
              </a:rPr>
              <a:t>All 18 passed after the fix. These are local results.</a:t>
            </a:r>
            <a:endParaRPr sz="1900">
              <a:solidFill>
                <a:srgbClr val="B8C7AB"/>
              </a:solidFill>
              <a:latin typeface="Manrope"/>
              <a:ea typeface="Manrope"/>
              <a:cs typeface="Manrope"/>
            </a:endParaRPr>
          </a:p>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B8C7AB"/>
                </a:solidFill>
                <a:latin typeface="Manrope"/>
                <a:ea typeface="Manrope"/>
                <a:cs typeface="Manrope"/>
              </a:rPr>
              <a:t>They do not establish remote CI or whole-project validation.</a:t>
            </a:r>
            <a:endParaRPr sz="1900">
              <a:solidFill>
                <a:srgbClr val="B8C7AB"/>
              </a:solidFill>
              <a:latin typeface="Manrope"/>
              <a:ea typeface="Manrope"/>
              <a:cs typeface="Manrope"/>
            </a:endParaRPr>
          </a:p>
        </p:txBody>
      </p:sp>
    </p:spTree>
    <p:extLst>
      <p:ext uri="{BB962C8B-B14F-4D97-AF65-F5344CB8AC3E}">
        <p14:creationId xmlns:p14="http://schemas.microsoft.com/office/powerpoint/2010/main" val="2084517141"/>
      </p:ext>
    </p:extLst>
  </p:cSld>
</p:sld>
</file>

<file path=ppt/slides/slide3.xml><?xml version="1.0" encoding="utf-8"?>
<p:sld xmlns:p="http://schemas.openxmlformats.org/presentationml/2006/main">
  <p:cSld>
    <p:bg>
      <p:bgPr>
        <a:solidFill xmlns:a="http://schemas.openxmlformats.org/drawingml/2006/main">
          <a:srgbClr val="203B34"/>
        </a:solidFill>
      </p:bgPr>
    </p:bg>
    <p:spTree>
      <p:nvGrpSpPr>
        <p:cNvPr id="1" name=""/>
        <p:cNvGrpSpPr/>
        <p:nvPr/>
      </p:nvGrpSpPr>
      <p:grpSpPr>
        <a:xfrm xmlns:a="http://schemas.openxmlformats.org/drawingml/2006/main"/>
      </p:grpSpPr>
      <p:sp>
        <p:nvSpPr>
          <p:cNvPr id="42" name="Google Shape;42;p9">
            <a:extLst xmlns:a="http://schemas.openxmlformats.org/drawingml/2006/main">
              <a:ext uri="{FF2B5EF4-FFF2-40B4-BE49-F238E27FC236}">
                <a16:creationId xmlns:a16="http://schemas.microsoft.com/office/drawing/2014/main" id="{C1340FE7-B61F-41F0-A116-925E50319B7C}"/>
              </a:ext>
            </a:extLst>
          </p:cNvPr>
          <p:cNvSpPr>
            <a:spLocks xmlns:a="http://schemas.openxmlformats.org/drawingml/2006/main" noGrp="1"/>
          </p:cNvSpPr>
          <p:nvPr/>
        </p:nvSpPr>
        <p:spPr>
          <a:xfrm xmlns:a="http://schemas.openxmlformats.org/drawingml/2006/main">
            <a:off x="0" y="3835400"/>
            <a:ext cx="12192000" cy="3022500"/>
          </a:xfrm>
          <a:prstGeom xmlns:a="http://schemas.openxmlformats.org/drawingml/2006/main" prst="rect">
            <a:avLst/>
          </a:prstGeom>
          <a:solidFill xmlns:a="http://schemas.openxmlformats.org/drawingml/2006/main">
            <a:srgbClr val="F0E8D9"/>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endParaRPr/>
          </a:p>
        </p:txBody>
      </p:sp>
      <p:sp>
        <p:nvSpPr>
          <p:cNvPr id="43" name="Google Shape;43;p9">
            <a:extLst xmlns:a="http://schemas.openxmlformats.org/drawingml/2006/main">
              <a:ext uri="{FF2B5EF4-FFF2-40B4-BE49-F238E27FC236}">
                <a16:creationId xmlns:a16="http://schemas.microsoft.com/office/drawing/2014/main" id="{DFBAAEE3-A132-436E-9D22-08B27C35CD00}"/>
              </a:ext>
            </a:extLst>
          </p:cNvPr>
          <p:cNvSpPr>
            <a:spLocks xmlns:a="http://schemas.openxmlformats.org/drawingml/2006/main" noGrp="1"/>
          </p:cNvSpPr>
          <p:nvPr/>
        </p:nvSpPr>
        <p:spPr>
          <a:xfrm xmlns:a="http://schemas.openxmlformats.org/drawingml/2006/main">
            <a:off x="609600" y="330200"/>
            <a:ext cx="9651900" cy="279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100">
                <a:solidFill>
                  <a:srgbClr val="B8C7AB"/>
                </a:solidFill>
                <a:latin typeface="Roboto Mono"/>
                <a:ea typeface="Roboto Mono"/>
                <a:cs typeface="Roboto Mono"/>
              </a:rPr>
              <a:t>TIKA-4408 / LESSONS FROM REVIEW</a:t>
            </a:r>
            <a:endParaRPr sz="1100">
              <a:solidFill>
                <a:srgbClr val="B8C7AB"/>
              </a:solidFill>
              <a:latin typeface="Roboto Mono"/>
              <a:ea typeface="Roboto Mono"/>
              <a:cs typeface="Roboto Mono"/>
            </a:endParaRPr>
          </a:p>
        </p:txBody>
      </p:sp>
      <p:sp>
        <p:nvSpPr>
          <p:cNvPr id="44" name="Google Shape;44;p9">
            <a:extLst xmlns:a="http://schemas.openxmlformats.org/drawingml/2006/main">
              <a:ext uri="{FF2B5EF4-FFF2-40B4-BE49-F238E27FC236}">
                <a16:creationId xmlns:a16="http://schemas.microsoft.com/office/drawing/2014/main" id="{6073055B-66AA-4AC5-841A-797957109C9A}"/>
              </a:ext>
            </a:extLst>
          </p:cNvPr>
          <p:cNvSpPr>
            <a:spLocks xmlns:a="http://schemas.openxmlformats.org/drawingml/2006/main" noGrp="1"/>
          </p:cNvSpPr>
          <p:nvPr/>
        </p:nvSpPr>
        <p:spPr>
          <a:xfrm xmlns:a="http://schemas.openxmlformats.org/drawingml/2006/main">
            <a:off x="10871200" y="330200"/>
            <a:ext cx="711300" cy="279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100">
                <a:solidFill>
                  <a:srgbClr val="B8C7AB"/>
                </a:solidFill>
                <a:latin typeface="Roboto Mono"/>
                <a:ea typeface="Roboto Mono"/>
                <a:cs typeface="Roboto Mono"/>
              </a:rPr>
              <a:t>03</a:t>
            </a:r>
            <a:endParaRPr sz="1100">
              <a:solidFill>
                <a:srgbClr val="B8C7AB"/>
              </a:solidFill>
              <a:latin typeface="Roboto Mono"/>
              <a:ea typeface="Roboto Mono"/>
              <a:cs typeface="Roboto Mono"/>
            </a:endParaRPr>
          </a:p>
        </p:txBody>
      </p:sp>
      <p:sp>
        <p:nvSpPr>
          <p:cNvPr id="45" name="Google Shape;45;p9">
            <a:extLst xmlns:a="http://schemas.openxmlformats.org/drawingml/2006/main">
              <a:ext uri="{FF2B5EF4-FFF2-40B4-BE49-F238E27FC236}">
                <a16:creationId xmlns:a16="http://schemas.microsoft.com/office/drawing/2014/main" id="{A9C7B549-6AAC-417E-BC30-3CA6964C4B46}"/>
              </a:ext>
            </a:extLst>
          </p:cNvPr>
          <p:cNvSpPr>
            <a:spLocks xmlns:a="http://schemas.openxmlformats.org/drawingml/2006/main" noGrp="1"/>
          </p:cNvSpPr>
          <p:nvPr>
            <p:ph type="title" idx="0"/>
          </p:nvPr>
        </p:nvSpPr>
        <p:spPr>
          <a:xfrm xmlns:a="http://schemas.openxmlformats.org/drawingml/2006/main">
            <a:off x="609600" y="952500"/>
            <a:ext cx="10972800" cy="965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3300"/>
            </a:defPPr>
            <a:lvl1pPr>
              <a:defRPr sz="3300"/>
            </a:lvl1pPr>
            <a:lvl2pPr>
              <a:defRPr sz="3300"/>
            </a:lvl2pPr>
            <a:lvl3pPr>
              <a:defRPr sz="3300"/>
            </a:lvl3pPr>
            <a:lvl4pPr>
              <a:defRPr sz="3300"/>
            </a:lvl4pPr>
            <a:lvl5pPr>
              <a:defRPr sz="3300"/>
            </a:lvl5pPr>
            <a:lvl6pPr>
              <a:defRPr sz="3300"/>
            </a:lvl6pPr>
            <a:lvl7pPr>
              <a:defRPr sz="3300"/>
            </a:lvl7pPr>
            <a:lvl8pPr>
              <a:defRPr sz="3300"/>
            </a:lvl8pPr>
            <a:lvl9pPr>
              <a:defRPr sz="3300"/>
            </a:lvl9pPr>
          </a:lstStyle>
          <a:p xmlns:a="http://schemas.openxmlformats.org/drawingml/2006/main">
            <a:pPr marL="0" marR="0" lvl="0" indent="0" algn="l">
              <a:spcBef>
                <a:spcPts val="0"/>
              </a:spcBef>
              <a:spcAft>
                <a:spcPts val="0"/>
              </a:spcAft>
              <a:buNone/>
              <a:defRPr sz="3300"/>
            </a:pPr>
            <a:r>
              <a:rPr sz="3300" b="1">
                <a:solidFill>
                  <a:srgbClr val="F0E8D9"/>
                </a:solidFill>
                <a:latin typeface="Manrope"/>
                <a:ea typeface="Manrope"/>
                <a:cs typeface="Manrope"/>
              </a:rPr>
              <a:t>Negative tests catch false positives</a:t>
            </a:r>
            <a:endParaRPr sz="3500" b="1">
              <a:solidFill>
                <a:srgbClr val="F0E8D9"/>
              </a:solidFill>
              <a:latin typeface="Manrope"/>
              <a:ea typeface="Manrope"/>
              <a:cs typeface="Manrope"/>
            </a:endParaRPr>
          </a:p>
        </p:txBody>
      </p:sp>
      <p:sp>
        <p:nvSpPr>
          <p:cNvPr id="46" name="Google Shape;46;p9">
            <a:extLst xmlns:a="http://schemas.openxmlformats.org/drawingml/2006/main">
              <a:ext uri="{FF2B5EF4-FFF2-40B4-BE49-F238E27FC236}">
                <a16:creationId xmlns:a16="http://schemas.microsoft.com/office/drawing/2014/main" id="{E57E1CAC-9BC7-43EC-92C5-7741A4537BC1}"/>
              </a:ext>
            </a:extLst>
          </p:cNvPr>
          <p:cNvSpPr>
            <a:spLocks xmlns:a="http://schemas.openxmlformats.org/drawingml/2006/main" noGrp="1"/>
          </p:cNvSpPr>
          <p:nvPr/>
        </p:nvSpPr>
        <p:spPr>
          <a:xfrm xmlns:a="http://schemas.openxmlformats.org/drawingml/2006/main">
            <a:off x="7620000" y="6578600"/>
            <a:ext cx="3962400" cy="203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900">
                <a:solidFill>
                  <a:srgbClr val="203B34"/>
                </a:solidFill>
                <a:latin typeface="Manrope"/>
                <a:ea typeface="Manrope"/>
                <a:cs typeface="Manrope"/>
              </a:rPr>
              <a:t>Jiajun Li / TIKA-4408</a:t>
            </a:r>
            <a:endParaRPr sz="900">
              <a:solidFill>
                <a:srgbClr val="203B34"/>
              </a:solidFill>
              <a:latin typeface="Manrope"/>
              <a:ea typeface="Manrope"/>
              <a:cs typeface="Manrope"/>
            </a:endParaRPr>
          </a:p>
        </p:txBody>
      </p:sp>
      <p:sp>
        <p:nvSpPr>
          <p:cNvPr id="47" name="Google Shape;47;p9">
            <a:extLst xmlns:a="http://schemas.openxmlformats.org/drawingml/2006/main">
              <a:ext uri="{FF2B5EF4-FFF2-40B4-BE49-F238E27FC236}">
                <a16:creationId xmlns:a16="http://schemas.microsoft.com/office/drawing/2014/main" id="{191B553B-F88A-44D5-986D-1DE7A551EDDC}"/>
              </a:ext>
            </a:extLst>
          </p:cNvPr>
          <p:cNvSpPr>
            <a:spLocks xmlns:a="http://schemas.openxmlformats.org/drawingml/2006/main" noGrp="1"/>
          </p:cNvSpPr>
          <p:nvPr/>
        </p:nvSpPr>
        <p:spPr>
          <a:xfrm xmlns:a="http://schemas.openxmlformats.org/drawingml/2006/main">
            <a:off x="609600" y="4152900"/>
            <a:ext cx="5079900" cy="33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300"/>
            </a:defPPr>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xmlns:a="http://schemas.openxmlformats.org/drawingml/2006/main">
            <a:pPr marL="0" marR="0" lvl="0" indent="0" algn="l">
              <a:spcBef>
                <a:spcPts val="0"/>
              </a:spcBef>
              <a:spcAft>
                <a:spcPts val="0"/>
              </a:spcAft>
              <a:buNone/>
              <a:defRPr sz="1300"/>
            </a:pPr>
            <a:r>
              <a:rPr sz="1300" b="1">
                <a:solidFill>
                  <a:srgbClr val="A14F37"/>
                </a:solidFill>
                <a:latin typeface="Manrope"/>
                <a:ea typeface="Manrope"/>
                <a:cs typeface="Manrope"/>
              </a:rPr>
              <a:t>OLD RULE: ACCIDENTAL MATCH</a:t>
            </a:r>
            <a:endParaRPr sz="1200" b="1">
              <a:solidFill>
                <a:srgbClr val="A14F37"/>
              </a:solidFill>
              <a:latin typeface="Manrope"/>
              <a:ea typeface="Manrope"/>
              <a:cs typeface="Manrope"/>
            </a:endParaRPr>
          </a:p>
        </p:txBody>
      </p:sp>
      <p:sp>
        <p:nvSpPr>
          <p:cNvPr id="48" name="Google Shape;48;p9">
            <a:extLst xmlns:a="http://schemas.openxmlformats.org/drawingml/2006/main">
              <a:ext uri="{FF2B5EF4-FFF2-40B4-BE49-F238E27FC236}">
                <a16:creationId xmlns:a16="http://schemas.microsoft.com/office/drawing/2014/main" id="{8C37168D-6927-438E-AB48-D40BF8862705}"/>
              </a:ext>
            </a:extLst>
          </p:cNvPr>
          <p:cNvSpPr>
            <a:spLocks xmlns:a="http://schemas.openxmlformats.org/drawingml/2006/main" noGrp="1"/>
          </p:cNvSpPr>
          <p:nvPr/>
        </p:nvSpPr>
        <p:spPr>
          <a:xfrm xmlns:a="http://schemas.openxmlformats.org/drawingml/2006/main">
            <a:off x="6604000" y="4152900"/>
            <a:ext cx="4978500" cy="330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300"/>
            </a:defPPr>
            <a:lvl1pPr>
              <a:defRPr sz="1300"/>
            </a:lvl1pPr>
            <a:lvl2pPr>
              <a:defRPr sz="1300"/>
            </a:lvl2pPr>
            <a:lvl3pPr>
              <a:defRPr sz="1300"/>
            </a:lvl3pPr>
            <a:lvl4pPr>
              <a:defRPr sz="1300"/>
            </a:lvl4pPr>
            <a:lvl5pPr>
              <a:defRPr sz="1300"/>
            </a:lvl5pPr>
            <a:lvl6pPr>
              <a:defRPr sz="1300"/>
            </a:lvl6pPr>
            <a:lvl7pPr>
              <a:defRPr sz="1300"/>
            </a:lvl7pPr>
            <a:lvl8pPr>
              <a:defRPr sz="1300"/>
            </a:lvl8pPr>
            <a:lvl9pPr>
              <a:defRPr sz="1300"/>
            </a:lvl9pPr>
          </a:lstStyle>
          <a:p xmlns:a="http://schemas.openxmlformats.org/drawingml/2006/main">
            <a:pPr marL="0" marR="0" lvl="0" indent="0" algn="l">
              <a:spcBef>
                <a:spcPts val="0"/>
              </a:spcBef>
              <a:spcAft>
                <a:spcPts val="0"/>
              </a:spcAft>
              <a:buNone/>
              <a:defRPr sz="1300"/>
            </a:pPr>
            <a:r>
              <a:rPr sz="1300" b="1">
                <a:solidFill>
                  <a:srgbClr val="203B34"/>
                </a:solidFill>
                <a:latin typeface="Manrope"/>
                <a:ea typeface="Manrope"/>
                <a:cs typeface="Manrope"/>
              </a:rPr>
              <a:t>FIXED RULE: FILE-START CHECK</a:t>
            </a:r>
            <a:endParaRPr sz="1200" b="1">
              <a:solidFill>
                <a:srgbClr val="203B34"/>
              </a:solidFill>
              <a:latin typeface="Manrope"/>
              <a:ea typeface="Manrope"/>
              <a:cs typeface="Manrope"/>
            </a:endParaRPr>
          </a:p>
        </p:txBody>
      </p:sp>
      <p:sp>
        <p:nvSpPr>
          <p:cNvPr id="49" name="Google Shape;49;p9">
            <a:extLst xmlns:a="http://schemas.openxmlformats.org/drawingml/2006/main">
              <a:ext uri="{FF2B5EF4-FFF2-40B4-BE49-F238E27FC236}">
                <a16:creationId xmlns:a16="http://schemas.microsoft.com/office/drawing/2014/main" id="{CFFD0363-3CA8-4E8D-BC5A-667442094B37}"/>
              </a:ext>
            </a:extLst>
          </p:cNvPr>
          <p:cNvSpPr>
            <a:spLocks xmlns:a="http://schemas.openxmlformats.org/drawingml/2006/main" noGrp="1"/>
          </p:cNvSpPr>
          <p:nvPr/>
        </p:nvSpPr>
        <p:spPr>
          <a:xfrm xmlns:a="http://schemas.openxmlformats.org/drawingml/2006/main">
            <a:off x="609600" y="2257425"/>
            <a:ext cx="10972800" cy="876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4800">
                <a:solidFill>
                  <a:srgbClr val="F0E8D9"/>
                </a:solidFill>
                <a:latin typeface="Roboto Mono"/>
                <a:ea typeface="Roboto Mono"/>
                <a:cs typeface="Roboto Mono"/>
              </a:defRPr>
            </a:defPPr>
            <a:lvl1pPr>
              <a:defRPr sz="4800">
                <a:solidFill>
                  <a:srgbClr val="F0E8D9"/>
                </a:solidFill>
                <a:latin typeface="Roboto Mono"/>
                <a:ea typeface="Roboto Mono"/>
                <a:cs typeface="Roboto Mono"/>
              </a:defRPr>
            </a:lvl1pPr>
            <a:lvl2pPr>
              <a:defRPr sz="4800">
                <a:solidFill>
                  <a:srgbClr val="F0E8D9"/>
                </a:solidFill>
                <a:latin typeface="Roboto Mono"/>
                <a:ea typeface="Roboto Mono"/>
                <a:cs typeface="Roboto Mono"/>
              </a:defRPr>
            </a:lvl2pPr>
            <a:lvl3pPr>
              <a:defRPr sz="4800">
                <a:solidFill>
                  <a:srgbClr val="F0E8D9"/>
                </a:solidFill>
                <a:latin typeface="Roboto Mono"/>
                <a:ea typeface="Roboto Mono"/>
                <a:cs typeface="Roboto Mono"/>
              </a:defRPr>
            </a:lvl3pPr>
            <a:lvl4pPr>
              <a:defRPr sz="4800">
                <a:solidFill>
                  <a:srgbClr val="F0E8D9"/>
                </a:solidFill>
                <a:latin typeface="Roboto Mono"/>
                <a:ea typeface="Roboto Mono"/>
                <a:cs typeface="Roboto Mono"/>
              </a:defRPr>
            </a:lvl4pPr>
            <a:lvl5pPr>
              <a:defRPr sz="4800">
                <a:solidFill>
                  <a:srgbClr val="F0E8D9"/>
                </a:solidFill>
                <a:latin typeface="Roboto Mono"/>
                <a:ea typeface="Roboto Mono"/>
                <a:cs typeface="Roboto Mono"/>
              </a:defRPr>
            </a:lvl5pPr>
            <a:lvl6pPr>
              <a:defRPr sz="4800">
                <a:solidFill>
                  <a:srgbClr val="F0E8D9"/>
                </a:solidFill>
                <a:latin typeface="Roboto Mono"/>
                <a:ea typeface="Roboto Mono"/>
                <a:cs typeface="Roboto Mono"/>
              </a:defRPr>
            </a:lvl6pPr>
            <a:lvl7pPr>
              <a:defRPr sz="4800">
                <a:solidFill>
                  <a:srgbClr val="F0E8D9"/>
                </a:solidFill>
                <a:latin typeface="Roboto Mono"/>
                <a:ea typeface="Roboto Mono"/>
                <a:cs typeface="Roboto Mono"/>
              </a:defRPr>
            </a:lvl7pPr>
            <a:lvl8pPr>
              <a:defRPr sz="4800">
                <a:solidFill>
                  <a:srgbClr val="F0E8D9"/>
                </a:solidFill>
                <a:latin typeface="Roboto Mono"/>
                <a:ea typeface="Roboto Mono"/>
                <a:cs typeface="Roboto Mono"/>
              </a:defRPr>
            </a:lvl8pPr>
            <a:lvl9pPr>
              <a:defRPr sz="4800">
                <a:solidFill>
                  <a:srgbClr val="F0E8D9"/>
                </a:solidFill>
                <a:latin typeface="Roboto Mono"/>
                <a:ea typeface="Roboto Mono"/>
                <a:cs typeface="Roboto Mono"/>
              </a:defRPr>
            </a:lvl9pPr>
          </a:lstStyle>
          <a:p xmlns:a="http://schemas.openxmlformats.org/drawingml/2006/main">
            <a:pPr marL="0" marR="0" lvl="0" indent="0" algn="l">
              <a:spcBef>
                <a:spcPts val="0"/>
              </a:spcBef>
              <a:spcAft>
                <a:spcPts val="0"/>
              </a:spcAft>
              <a:buNone/>
              <a:defRPr sz="4800">
                <a:solidFill>
                  <a:srgbClr val="F0E8D9"/>
                </a:solidFill>
                <a:latin typeface="Roboto Mono"/>
                <a:ea typeface="Roboto Mono"/>
                <a:cs typeface="Roboto Mono"/>
              </a:defRPr>
            </a:pPr>
            <a:r>
              <a:rPr sz="4800">
                <a:solidFill>
                  <a:srgbClr val="D99575"/>
                </a:solidFill>
                <a:latin typeface="Roboto Mono"/>
                <a:ea typeface="Roboto Mono"/>
                <a:cs typeface="Roboto Mono"/>
              </a:rPr>
              <a:t>x</a:t>
            </a:r>
            <a:r>
              <a:rPr sz="4800">
                <a:solidFill>
                  <a:srgbClr val="F0E8D9"/>
                </a:solidFill>
                <a:latin typeface="Roboto Mono"/>
                <a:ea typeface="Roboto Mono"/>
                <a:cs typeface="Roboto Mono"/>
              </a:rPr>
              <a:t>/bin/env python</a:t>
            </a:r>
            <a:endParaRPr sz="4800">
              <a:solidFill>
                <a:srgbClr val="F0E8D9"/>
              </a:solidFill>
              <a:latin typeface="Roboto Mono"/>
              <a:ea typeface="Roboto Mono"/>
              <a:cs typeface="Roboto Mono"/>
            </a:endParaRPr>
          </a:p>
        </p:txBody>
      </p:sp>
      <p:sp>
        <p:nvSpPr>
          <p:cNvPr id="50" name="Google Shape;50;p9">
            <a:extLst xmlns:a="http://schemas.openxmlformats.org/drawingml/2006/main">
              <a:ext uri="{FF2B5EF4-FFF2-40B4-BE49-F238E27FC236}">
                <a16:creationId xmlns:a16="http://schemas.microsoft.com/office/drawing/2014/main" id="{19CC6346-043C-4C88-BB39-64BC8D1DEEF0}"/>
              </a:ext>
            </a:extLst>
          </p:cNvPr>
          <p:cNvSpPr>
            <a:spLocks xmlns:a="http://schemas.openxmlformats.org/drawingml/2006/main" noGrp="1"/>
          </p:cNvSpPr>
          <p:nvPr/>
        </p:nvSpPr>
        <p:spPr>
          <a:xfrm xmlns:a="http://schemas.openxmlformats.org/drawingml/2006/main">
            <a:off x="609600" y="4673600"/>
            <a:ext cx="53340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latin typeface="Manrope"/>
                <a:ea typeface="Manrope"/>
                <a:cs typeface="Manrope"/>
              </a:defRPr>
            </a:defPPr>
            <a:lvl1pPr>
              <a:defRPr sz="1900">
                <a:latin typeface="Manrope"/>
                <a:ea typeface="Manrope"/>
                <a:cs typeface="Manrope"/>
              </a:defRPr>
            </a:lvl1pPr>
            <a:lvl2pPr>
              <a:defRPr sz="1900">
                <a:latin typeface="Manrope"/>
                <a:ea typeface="Manrope"/>
                <a:cs typeface="Manrope"/>
              </a:defRPr>
            </a:lvl2pPr>
            <a:lvl3pPr>
              <a:defRPr sz="1900">
                <a:latin typeface="Manrope"/>
                <a:ea typeface="Manrope"/>
                <a:cs typeface="Manrope"/>
              </a:defRPr>
            </a:lvl3pPr>
            <a:lvl4pPr>
              <a:defRPr sz="1900">
                <a:latin typeface="Manrope"/>
                <a:ea typeface="Manrope"/>
                <a:cs typeface="Manrope"/>
              </a:defRPr>
            </a:lvl4pPr>
            <a:lvl5pPr>
              <a:defRPr sz="1900">
                <a:latin typeface="Manrope"/>
                <a:ea typeface="Manrope"/>
                <a:cs typeface="Manrope"/>
              </a:defRPr>
            </a:lvl5pPr>
            <a:lvl6pPr>
              <a:defRPr sz="1900">
                <a:latin typeface="Manrope"/>
                <a:ea typeface="Manrope"/>
                <a:cs typeface="Manrope"/>
              </a:defRPr>
            </a:lvl6pPr>
            <a:lvl7pPr>
              <a:defRPr sz="1900">
                <a:latin typeface="Manrope"/>
                <a:ea typeface="Manrope"/>
                <a:cs typeface="Manrope"/>
              </a:defRPr>
            </a:lvl7pPr>
            <a:lvl8pPr>
              <a:defRPr sz="1900">
                <a:latin typeface="Manrope"/>
                <a:ea typeface="Manrope"/>
                <a:cs typeface="Manrope"/>
              </a:defRPr>
            </a:lvl8pPr>
            <a:lvl9pPr>
              <a:defRPr sz="1900">
                <a:latin typeface="Manrope"/>
                <a:ea typeface="Manrope"/>
                <a:cs typeface="Manrope"/>
              </a:defRPr>
            </a:lvl9pPr>
          </a:lstStyle>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203B34"/>
                </a:solidFill>
                <a:latin typeface="Manrope"/>
                <a:ea typeface="Manrope"/>
                <a:cs typeface="Manrope"/>
              </a:rPr>
              <a:t>Matches the text after x</a:t>
            </a:r>
            <a:endParaRPr sz="1900">
              <a:solidFill>
                <a:srgbClr val="203B34"/>
              </a:solidFill>
              <a:latin typeface="Roboto Mono"/>
              <a:ea typeface="Roboto Mono"/>
              <a:cs typeface="Roboto Mono"/>
            </a:endParaRPr>
          </a:p>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203B34"/>
                </a:solidFill>
                <a:latin typeface="Manrope"/>
                <a:ea typeface="Manrope"/>
                <a:cs typeface="Manrope"/>
              </a:rPr>
              <a:t>Mistakes ordinary text for Python</a:t>
            </a:r>
            <a:endParaRPr sz="1900">
              <a:solidFill>
                <a:srgbClr val="203B34"/>
              </a:solidFill>
              <a:latin typeface="Roboto Mono"/>
              <a:ea typeface="Roboto Mono"/>
              <a:cs typeface="Roboto Mono"/>
            </a:endParaRPr>
          </a:p>
        </p:txBody>
      </p:sp>
      <p:sp>
        <p:nvSpPr>
          <p:cNvPr id="51" name="Google Shape;51;p9">
            <a:extLst xmlns:a="http://schemas.openxmlformats.org/drawingml/2006/main">
              <a:ext uri="{FF2B5EF4-FFF2-40B4-BE49-F238E27FC236}">
                <a16:creationId xmlns:a16="http://schemas.microsoft.com/office/drawing/2014/main" id="{83BADD35-9E46-4E83-8266-1B7177A0C4CF}"/>
              </a:ext>
            </a:extLst>
          </p:cNvPr>
          <p:cNvSpPr>
            <a:spLocks xmlns:a="http://schemas.openxmlformats.org/drawingml/2006/main" noGrp="1"/>
          </p:cNvSpPr>
          <p:nvPr/>
        </p:nvSpPr>
        <p:spPr>
          <a:xfrm xmlns:a="http://schemas.openxmlformats.org/drawingml/2006/main">
            <a:off x="6604000" y="4673600"/>
            <a:ext cx="49785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latin typeface="Manrope"/>
                <a:ea typeface="Manrope"/>
                <a:cs typeface="Manrope"/>
              </a:defRPr>
            </a:defPPr>
            <a:lvl1pPr>
              <a:defRPr sz="1900">
                <a:latin typeface="Manrope"/>
                <a:ea typeface="Manrope"/>
                <a:cs typeface="Manrope"/>
              </a:defRPr>
            </a:lvl1pPr>
            <a:lvl2pPr>
              <a:defRPr sz="1900">
                <a:latin typeface="Manrope"/>
                <a:ea typeface="Manrope"/>
                <a:cs typeface="Manrope"/>
              </a:defRPr>
            </a:lvl2pPr>
            <a:lvl3pPr>
              <a:defRPr sz="1900">
                <a:latin typeface="Manrope"/>
                <a:ea typeface="Manrope"/>
                <a:cs typeface="Manrope"/>
              </a:defRPr>
            </a:lvl3pPr>
            <a:lvl4pPr>
              <a:defRPr sz="1900">
                <a:latin typeface="Manrope"/>
                <a:ea typeface="Manrope"/>
                <a:cs typeface="Manrope"/>
              </a:defRPr>
            </a:lvl4pPr>
            <a:lvl5pPr>
              <a:defRPr sz="1900">
                <a:latin typeface="Manrope"/>
                <a:ea typeface="Manrope"/>
                <a:cs typeface="Manrope"/>
              </a:defRPr>
            </a:lvl5pPr>
            <a:lvl6pPr>
              <a:defRPr sz="1900">
                <a:latin typeface="Manrope"/>
                <a:ea typeface="Manrope"/>
                <a:cs typeface="Manrope"/>
              </a:defRPr>
            </a:lvl6pPr>
            <a:lvl7pPr>
              <a:defRPr sz="1900">
                <a:latin typeface="Manrope"/>
                <a:ea typeface="Manrope"/>
                <a:cs typeface="Manrope"/>
              </a:defRPr>
            </a:lvl7pPr>
            <a:lvl8pPr>
              <a:defRPr sz="1900">
                <a:latin typeface="Manrope"/>
                <a:ea typeface="Manrope"/>
                <a:cs typeface="Manrope"/>
              </a:defRPr>
            </a:lvl8pPr>
            <a:lvl9pPr>
              <a:defRPr sz="1900">
                <a:latin typeface="Manrope"/>
                <a:ea typeface="Manrope"/>
                <a:cs typeface="Manrope"/>
              </a:defRPr>
            </a:lvl9pPr>
          </a:lstStyle>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203B34"/>
                </a:solidFill>
                <a:latin typeface="Manrope"/>
                <a:ea typeface="Manrope"/>
                <a:cs typeface="Manrope"/>
              </a:rPr>
              <a:t>No #! prefix at the start</a:t>
            </a:r>
            <a:endParaRPr sz="2200">
              <a:solidFill>
                <a:srgbClr val="203B34"/>
              </a:solidFill>
              <a:latin typeface="Roboto Mono"/>
              <a:ea typeface="Roboto Mono"/>
              <a:cs typeface="Roboto Mono"/>
            </a:endParaRPr>
          </a:p>
          <a:p xmlns:a="http://schemas.openxmlformats.org/drawingml/2006/main">
            <a:pPr marL="0" marR="0" lvl="0" indent="0" algn="l">
              <a:spcBef>
                <a:spcPts val="0"/>
              </a:spcBef>
              <a:spcAft>
                <a:spcPts val="0"/>
              </a:spcAft>
              <a:buNone/>
              <a:defRPr sz="1900">
                <a:latin typeface="Manrope"/>
                <a:ea typeface="Manrope"/>
                <a:cs typeface="Manrope"/>
              </a:defRPr>
            </a:pPr>
            <a:r>
              <a:rPr sz="1900">
                <a:solidFill>
                  <a:srgbClr val="203B34"/>
                </a:solidFill>
                <a:latin typeface="Manrope"/>
                <a:ea typeface="Manrope"/>
                <a:cs typeface="Manrope"/>
              </a:rPr>
              <a:t>The Python rule does not match</a:t>
            </a:r>
            <a:endParaRPr sz="2200">
              <a:solidFill>
                <a:srgbClr val="203B34"/>
              </a:solidFill>
              <a:latin typeface="Roboto Mono"/>
              <a:ea typeface="Roboto Mono"/>
              <a:cs typeface="Roboto Mono"/>
            </a:endParaRPr>
          </a:p>
        </p:txBody>
      </p:sp>
      <p:sp>
        <p:nvSpPr>
          <p:cNvPr id="52" name="Google Shape;52;p9">
            <a:extLst xmlns:a="http://schemas.openxmlformats.org/drawingml/2006/main">
              <a:ext uri="{FF2B5EF4-FFF2-40B4-BE49-F238E27FC236}">
                <a16:creationId xmlns:a16="http://schemas.microsoft.com/office/drawing/2014/main" id="{CC8605B5-D1D1-4293-8306-D137143565D5}"/>
              </a:ext>
            </a:extLst>
          </p:cNvPr>
          <p:cNvSpPr>
            <a:spLocks xmlns:a="http://schemas.openxmlformats.org/drawingml/2006/main" noGrp="1"/>
          </p:cNvSpPr>
          <p:nvPr/>
        </p:nvSpPr>
        <p:spPr>
          <a:xfrm xmlns:a="http://schemas.openxmlformats.org/drawingml/2006/main">
            <a:off x="6604000" y="5562600"/>
            <a:ext cx="4978500" cy="5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400" b="1">
                <a:latin typeface="Roboto Mono"/>
                <a:ea typeface="Roboto Mono"/>
                <a:cs typeface="Roboto Mono"/>
              </a:defRPr>
            </a:defPPr>
            <a:lvl1pPr>
              <a:defRPr sz="2400" b="1">
                <a:latin typeface="Roboto Mono"/>
                <a:ea typeface="Roboto Mono"/>
                <a:cs typeface="Roboto Mono"/>
              </a:defRPr>
            </a:lvl1pPr>
            <a:lvl2pPr>
              <a:defRPr sz="2400" b="1">
                <a:latin typeface="Roboto Mono"/>
                <a:ea typeface="Roboto Mono"/>
                <a:cs typeface="Roboto Mono"/>
              </a:defRPr>
            </a:lvl2pPr>
            <a:lvl3pPr>
              <a:defRPr sz="2400" b="1">
                <a:latin typeface="Roboto Mono"/>
                <a:ea typeface="Roboto Mono"/>
                <a:cs typeface="Roboto Mono"/>
              </a:defRPr>
            </a:lvl3pPr>
            <a:lvl4pPr>
              <a:defRPr sz="2400" b="1">
                <a:latin typeface="Roboto Mono"/>
                <a:ea typeface="Roboto Mono"/>
                <a:cs typeface="Roboto Mono"/>
              </a:defRPr>
            </a:lvl4pPr>
            <a:lvl5pPr>
              <a:defRPr sz="2400" b="1">
                <a:latin typeface="Roboto Mono"/>
                <a:ea typeface="Roboto Mono"/>
                <a:cs typeface="Roboto Mono"/>
              </a:defRPr>
            </a:lvl5pPr>
            <a:lvl6pPr>
              <a:defRPr sz="2400" b="1">
                <a:latin typeface="Roboto Mono"/>
                <a:ea typeface="Roboto Mono"/>
                <a:cs typeface="Roboto Mono"/>
              </a:defRPr>
            </a:lvl6pPr>
            <a:lvl7pPr>
              <a:defRPr sz="2400" b="1">
                <a:latin typeface="Roboto Mono"/>
                <a:ea typeface="Roboto Mono"/>
                <a:cs typeface="Roboto Mono"/>
              </a:defRPr>
            </a:lvl7pPr>
            <a:lvl8pPr>
              <a:defRPr sz="2400" b="1">
                <a:latin typeface="Roboto Mono"/>
                <a:ea typeface="Roboto Mono"/>
                <a:cs typeface="Roboto Mono"/>
              </a:defRPr>
            </a:lvl8pPr>
            <a:lvl9pPr>
              <a:defRPr sz="2400" b="1">
                <a:latin typeface="Roboto Mono"/>
                <a:ea typeface="Roboto Mono"/>
                <a:cs typeface="Roboto Mono"/>
              </a:defRPr>
            </a:lvl9pPr>
          </a:lstStyle>
          <a:p xmlns:a="http://schemas.openxmlformats.org/drawingml/2006/main">
            <a:pPr marL="0" marR="0" lvl="0" indent="0" algn="l">
              <a:spcBef>
                <a:spcPts val="0"/>
              </a:spcBef>
              <a:spcAft>
                <a:spcPts val="0"/>
              </a:spcAft>
              <a:buNone/>
              <a:defRPr sz="2400" b="1">
                <a:latin typeface="Roboto Mono"/>
                <a:ea typeface="Roboto Mono"/>
                <a:cs typeface="Roboto Mono"/>
              </a:defRPr>
            </a:pPr>
            <a:r>
              <a:rPr sz="2400" b="1">
                <a:solidFill>
                  <a:srgbClr val="203B34"/>
                </a:solidFill>
                <a:latin typeface="Roboto Mono"/>
                <a:ea typeface="Roboto Mono"/>
                <a:cs typeface="Roboto Mono"/>
              </a:rPr>
              <a:t>text/plain</a:t>
            </a:r>
            <a:endParaRPr sz="2600" b="1">
              <a:solidFill>
                <a:srgbClr val="203B34"/>
              </a:solidFill>
              <a:latin typeface="Roboto Mono"/>
              <a:ea typeface="Roboto Mono"/>
              <a:cs typeface="Roboto Mono"/>
            </a:endParaRPr>
          </a:p>
        </p:txBody>
      </p:sp>
      <p:sp>
        <p:nvSpPr>
          <p:cNvPr id="53" name="Google Shape;53;p9">
            <a:extLst xmlns:a="http://schemas.openxmlformats.org/drawingml/2006/main">
              <a:ext uri="{FF2B5EF4-FFF2-40B4-BE49-F238E27FC236}">
                <a16:creationId xmlns:a16="http://schemas.microsoft.com/office/drawing/2014/main" id="{5B17C138-3530-430F-9552-64D06802E843}"/>
              </a:ext>
            </a:extLst>
          </p:cNvPr>
          <p:cNvSpPr>
            <a:spLocks xmlns:a="http://schemas.openxmlformats.org/drawingml/2006/main" noGrp="1"/>
          </p:cNvSpPr>
          <p:nvPr/>
        </p:nvSpPr>
        <p:spPr>
          <a:xfrm xmlns:a="http://schemas.openxmlformats.org/drawingml/2006/main">
            <a:off x="609600" y="5562600"/>
            <a:ext cx="5334000" cy="5589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400" b="1">
                <a:latin typeface="Roboto Mono"/>
                <a:ea typeface="Roboto Mono"/>
                <a:cs typeface="Roboto Mono"/>
              </a:defRPr>
            </a:defPPr>
            <a:lvl1pPr>
              <a:defRPr sz="2400" b="1">
                <a:latin typeface="Roboto Mono"/>
                <a:ea typeface="Roboto Mono"/>
                <a:cs typeface="Roboto Mono"/>
              </a:defRPr>
            </a:lvl1pPr>
            <a:lvl2pPr>
              <a:defRPr sz="2400" b="1">
                <a:latin typeface="Roboto Mono"/>
                <a:ea typeface="Roboto Mono"/>
                <a:cs typeface="Roboto Mono"/>
              </a:defRPr>
            </a:lvl2pPr>
            <a:lvl3pPr>
              <a:defRPr sz="2400" b="1">
                <a:latin typeface="Roboto Mono"/>
                <a:ea typeface="Roboto Mono"/>
                <a:cs typeface="Roboto Mono"/>
              </a:defRPr>
            </a:lvl3pPr>
            <a:lvl4pPr>
              <a:defRPr sz="2400" b="1">
                <a:latin typeface="Roboto Mono"/>
                <a:ea typeface="Roboto Mono"/>
                <a:cs typeface="Roboto Mono"/>
              </a:defRPr>
            </a:lvl4pPr>
            <a:lvl5pPr>
              <a:defRPr sz="2400" b="1">
                <a:latin typeface="Roboto Mono"/>
                <a:ea typeface="Roboto Mono"/>
                <a:cs typeface="Roboto Mono"/>
              </a:defRPr>
            </a:lvl5pPr>
            <a:lvl6pPr>
              <a:defRPr sz="2400" b="1">
                <a:latin typeface="Roboto Mono"/>
                <a:ea typeface="Roboto Mono"/>
                <a:cs typeface="Roboto Mono"/>
              </a:defRPr>
            </a:lvl6pPr>
            <a:lvl7pPr>
              <a:defRPr sz="2400" b="1">
                <a:latin typeface="Roboto Mono"/>
                <a:ea typeface="Roboto Mono"/>
                <a:cs typeface="Roboto Mono"/>
              </a:defRPr>
            </a:lvl7pPr>
            <a:lvl8pPr>
              <a:defRPr sz="2400" b="1">
                <a:latin typeface="Roboto Mono"/>
                <a:ea typeface="Roboto Mono"/>
                <a:cs typeface="Roboto Mono"/>
              </a:defRPr>
            </a:lvl8pPr>
            <a:lvl9pPr>
              <a:defRPr sz="2400" b="1">
                <a:latin typeface="Roboto Mono"/>
                <a:ea typeface="Roboto Mono"/>
                <a:cs typeface="Roboto Mono"/>
              </a:defRPr>
            </a:lvl9pPr>
          </a:lstStyle>
          <a:p xmlns:a="http://schemas.openxmlformats.org/drawingml/2006/main">
            <a:pPr marL="0" marR="0" lvl="0" indent="0" algn="l">
              <a:spcBef>
                <a:spcPts val="0"/>
              </a:spcBef>
              <a:spcAft>
                <a:spcPts val="0"/>
              </a:spcAft>
              <a:buNone/>
              <a:defRPr sz="2400" b="1">
                <a:latin typeface="Roboto Mono"/>
                <a:ea typeface="Roboto Mono"/>
                <a:cs typeface="Roboto Mono"/>
              </a:defRPr>
            </a:pPr>
            <a:r>
              <a:rPr sz="2400" b="1">
                <a:solidFill>
                  <a:srgbClr val="A14F37"/>
                </a:solidFill>
                <a:latin typeface="Roboto Mono"/>
                <a:ea typeface="Roboto Mono"/>
                <a:cs typeface="Roboto Mono"/>
              </a:rPr>
              <a:t>text/x-python</a:t>
            </a:r>
            <a:endParaRPr sz="2600" b="1">
              <a:solidFill>
                <a:srgbClr val="A14F37"/>
              </a:solidFill>
              <a:latin typeface="Roboto Mono"/>
              <a:ea typeface="Roboto Mono"/>
              <a:cs typeface="Roboto Mono"/>
            </a:endParaRPr>
          </a:p>
        </p:txBody>
      </p:sp>
      <p:sp>
        <p:nvSpPr>
          <p:cNvPr id="54" name="Google Shape;54;p9">
            <a:extLst xmlns:a="http://schemas.openxmlformats.org/drawingml/2006/main">
              <a:ext uri="{FF2B5EF4-FFF2-40B4-BE49-F238E27FC236}">
                <a16:creationId xmlns:a16="http://schemas.microsoft.com/office/drawing/2014/main" id="{A3E23A32-8612-4039-98B3-E1AB2E225B98}"/>
              </a:ext>
            </a:extLst>
          </p:cNvPr>
          <p:cNvSpPr>
            <a:spLocks xmlns:a="http://schemas.openxmlformats.org/drawingml/2006/main" noGrp="1"/>
          </p:cNvSpPr>
          <p:nvPr/>
        </p:nvSpPr>
        <p:spPr>
          <a:xfrm xmlns:a="http://schemas.openxmlformats.org/drawingml/2006/main">
            <a:off x="609600" y="3267075"/>
            <a:ext cx="10972800" cy="419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900">
                <a:solidFill>
                  <a:srgbClr val="B8C7AB"/>
                </a:solidFill>
                <a:latin typeface="Manrope"/>
                <a:ea typeface="Manrope"/>
                <a:cs typeface="Manrope"/>
              </a:defRPr>
            </a:defPPr>
            <a:lvl1pPr>
              <a:defRPr sz="1900">
                <a:solidFill>
                  <a:srgbClr val="B8C7AB"/>
                </a:solidFill>
                <a:latin typeface="Manrope"/>
                <a:ea typeface="Manrope"/>
                <a:cs typeface="Manrope"/>
              </a:defRPr>
            </a:lvl1pPr>
            <a:lvl2pPr>
              <a:defRPr sz="1900">
                <a:solidFill>
                  <a:srgbClr val="B8C7AB"/>
                </a:solidFill>
                <a:latin typeface="Manrope"/>
                <a:ea typeface="Manrope"/>
                <a:cs typeface="Manrope"/>
              </a:defRPr>
            </a:lvl2pPr>
            <a:lvl3pPr>
              <a:defRPr sz="1900">
                <a:solidFill>
                  <a:srgbClr val="B8C7AB"/>
                </a:solidFill>
                <a:latin typeface="Manrope"/>
                <a:ea typeface="Manrope"/>
                <a:cs typeface="Manrope"/>
              </a:defRPr>
            </a:lvl3pPr>
            <a:lvl4pPr>
              <a:defRPr sz="1900">
                <a:solidFill>
                  <a:srgbClr val="B8C7AB"/>
                </a:solidFill>
                <a:latin typeface="Manrope"/>
                <a:ea typeface="Manrope"/>
                <a:cs typeface="Manrope"/>
              </a:defRPr>
            </a:lvl4pPr>
            <a:lvl5pPr>
              <a:defRPr sz="1900">
                <a:solidFill>
                  <a:srgbClr val="B8C7AB"/>
                </a:solidFill>
                <a:latin typeface="Manrope"/>
                <a:ea typeface="Manrope"/>
                <a:cs typeface="Manrope"/>
              </a:defRPr>
            </a:lvl5pPr>
            <a:lvl6pPr>
              <a:defRPr sz="1900">
                <a:solidFill>
                  <a:srgbClr val="B8C7AB"/>
                </a:solidFill>
                <a:latin typeface="Manrope"/>
                <a:ea typeface="Manrope"/>
                <a:cs typeface="Manrope"/>
              </a:defRPr>
            </a:lvl6pPr>
            <a:lvl7pPr>
              <a:defRPr sz="1900">
                <a:solidFill>
                  <a:srgbClr val="B8C7AB"/>
                </a:solidFill>
                <a:latin typeface="Manrope"/>
                <a:ea typeface="Manrope"/>
                <a:cs typeface="Manrope"/>
              </a:defRPr>
            </a:lvl7pPr>
            <a:lvl8pPr>
              <a:defRPr sz="1900">
                <a:solidFill>
                  <a:srgbClr val="B8C7AB"/>
                </a:solidFill>
                <a:latin typeface="Manrope"/>
                <a:ea typeface="Manrope"/>
                <a:cs typeface="Manrope"/>
              </a:defRPr>
            </a:lvl8pPr>
            <a:lvl9pPr>
              <a:defRPr sz="1900">
                <a:solidFill>
                  <a:srgbClr val="B8C7AB"/>
                </a:solidFill>
                <a:latin typeface="Manrope"/>
                <a:ea typeface="Manrope"/>
                <a:cs typeface="Manrope"/>
              </a:defRPr>
            </a:lvl9pPr>
          </a:lstStyle>
          <a:p xmlns:a="http://schemas.openxmlformats.org/drawingml/2006/main">
            <a:pPr marL="0" marR="0" lvl="0" indent="0" algn="l">
              <a:spcBef>
                <a:spcPts val="0"/>
              </a:spcBef>
              <a:spcAft>
                <a:spcPts val="0"/>
              </a:spcAft>
              <a:buNone/>
              <a:defRPr sz="1900">
                <a:solidFill>
                  <a:srgbClr val="B8C7AB"/>
                </a:solidFill>
                <a:latin typeface="Manrope"/>
                <a:ea typeface="Manrope"/>
                <a:cs typeface="Manrope"/>
              </a:defRPr>
            </a:pPr>
            <a:r>
              <a:rPr sz="1900">
                <a:solidFill>
                  <a:srgbClr val="B8C7AB"/>
                </a:solidFill>
                <a:latin typeface="Manrope"/>
                <a:ea typeface="Manrope"/>
                <a:cs typeface="Manrope"/>
              </a:rPr>
              <a:t>x is at offset 0. /bin/env python begins at offset 1.</a:t>
            </a:r>
            <a:endParaRPr sz="1250">
              <a:solidFill>
                <a:srgbClr val="203B34"/>
              </a:solidFill>
              <a:latin typeface="Manrope"/>
              <a:ea typeface="Manrope"/>
              <a:cs typeface="Manrope"/>
            </a:endParaRPr>
          </a:p>
        </p:txBody>
      </p:sp>
      <p:sp>
        <p:nvSpPr>
          <p:cNvPr id="55" name="review-limit">
            <a:extLst xmlns:a="http://schemas.openxmlformats.org/drawingml/2006/main">
              <a:ext uri="{FF2B5EF4-FFF2-40B4-BE49-F238E27FC236}">
                <a16:creationId xmlns:a16="http://schemas.microsoft.com/office/drawing/2014/main" id="{A8D66395-283D-4A74-A83C-675C189512F4}"/>
              </a:ext>
            </a:extLst>
          </p:cNvPr>
          <p:cNvSpPr>
            <a:spLocks xmlns:a="http://schemas.openxmlformats.org/drawingml/2006/main" noGrp="1"/>
          </p:cNvSpPr>
          <p:nvPr/>
        </p:nvSpPr>
        <p:spPr>
          <a:xfrm xmlns:a="http://schemas.openxmlformats.org/drawingml/2006/main">
            <a:off x="609600" y="62007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50">
                <a:solidFill>
                  <a:srgbClr val="203B34"/>
                </a:solidFill>
                <a:latin typeface="Manrope"/>
                <a:ea typeface="Manrope"/>
                <a:cs typeface="Manrope"/>
              </a:defRPr>
            </a:defPPr>
            <a:lvl1pPr>
              <a:defRPr sz="1550">
                <a:solidFill>
                  <a:srgbClr val="203B34"/>
                </a:solidFill>
                <a:latin typeface="Manrope"/>
                <a:ea typeface="Manrope"/>
                <a:cs typeface="Manrope"/>
              </a:defRPr>
            </a:lvl1pPr>
            <a:lvl2pPr>
              <a:defRPr sz="1550">
                <a:solidFill>
                  <a:srgbClr val="203B34"/>
                </a:solidFill>
                <a:latin typeface="Manrope"/>
                <a:ea typeface="Manrope"/>
                <a:cs typeface="Manrope"/>
              </a:defRPr>
            </a:lvl2pPr>
            <a:lvl3pPr>
              <a:defRPr sz="1550">
                <a:solidFill>
                  <a:srgbClr val="203B34"/>
                </a:solidFill>
                <a:latin typeface="Manrope"/>
                <a:ea typeface="Manrope"/>
                <a:cs typeface="Manrope"/>
              </a:defRPr>
            </a:lvl3pPr>
            <a:lvl4pPr>
              <a:defRPr sz="1550">
                <a:solidFill>
                  <a:srgbClr val="203B34"/>
                </a:solidFill>
                <a:latin typeface="Manrope"/>
                <a:ea typeface="Manrope"/>
                <a:cs typeface="Manrope"/>
              </a:defRPr>
            </a:lvl4pPr>
            <a:lvl5pPr>
              <a:defRPr sz="1550">
                <a:solidFill>
                  <a:srgbClr val="203B34"/>
                </a:solidFill>
                <a:latin typeface="Manrope"/>
                <a:ea typeface="Manrope"/>
                <a:cs typeface="Manrope"/>
              </a:defRPr>
            </a:lvl5pPr>
            <a:lvl6pPr>
              <a:defRPr sz="1550">
                <a:solidFill>
                  <a:srgbClr val="203B34"/>
                </a:solidFill>
                <a:latin typeface="Manrope"/>
                <a:ea typeface="Manrope"/>
                <a:cs typeface="Manrope"/>
              </a:defRPr>
            </a:lvl6pPr>
            <a:lvl7pPr>
              <a:defRPr sz="1550">
                <a:solidFill>
                  <a:srgbClr val="203B34"/>
                </a:solidFill>
                <a:latin typeface="Manrope"/>
                <a:ea typeface="Manrope"/>
                <a:cs typeface="Manrope"/>
              </a:defRPr>
            </a:lvl7pPr>
            <a:lvl8pPr>
              <a:defRPr sz="1550">
                <a:solidFill>
                  <a:srgbClr val="203B34"/>
                </a:solidFill>
                <a:latin typeface="Manrope"/>
                <a:ea typeface="Manrope"/>
                <a:cs typeface="Manrope"/>
              </a:defRPr>
            </a:lvl8pPr>
            <a:lvl9pPr>
              <a:defRPr sz="1550">
                <a:solidFill>
                  <a:srgbClr val="203B34"/>
                </a:solidFill>
                <a:latin typeface="Manrope"/>
                <a:ea typeface="Manrope"/>
                <a:cs typeface="Manrope"/>
              </a:defRPr>
            </a:lvl9pPr>
          </a:lstStyle>
          <a:p xmlns:a="http://schemas.openxmlformats.org/drawingml/2006/main">
            <a:pPr>
              <a:defRPr sz="1550">
                <a:solidFill>
                  <a:srgbClr val="203B34"/>
                </a:solidFill>
                <a:latin typeface="Manrope"/>
                <a:ea typeface="Manrope"/>
                <a:cs typeface="Manrope"/>
              </a:defRPr>
            </a:pPr>
            <a:r>
              <a:rPr sz="1550">
                <a:solidFill>
                  <a:srgbClr val="203B34"/>
                </a:solidFill>
                <a:latin typeface="Manrope"/>
                <a:ea typeface="Manrope"/>
                <a:cs typeface="Manrope"/>
              </a:rPr>
              <a:t>Terry suggested this case. Kyubin verified it separately. Automated test still pending.</a:t>
            </a:r>
          </a:p>
        </p:txBody>
      </p:sp>
    </p:spTree>
    <p:extLst>
      <p:ext uri="{BB962C8B-B14F-4D97-AF65-F5344CB8AC3E}">
        <p14:creationId xmlns:p14="http://schemas.microsoft.com/office/powerpoint/2010/main" val="1680951504"/>
      </p:ext>
    </p:extLst>
  </p:cSld>
</p:sld>
</file>

<file path=ppt/slides/slide4.xml><?xml version="1.0" encoding="utf-8"?>
<p:sld xmlns:p="http://schemas.openxmlformats.org/presentationml/2006/main">
  <p:cSld>
    <p:bg>
      <p:bgPr>
        <a:solidFill xmlns:a="http://schemas.openxmlformats.org/drawingml/2006/main">
          <a:srgbClr val="F0E8D9"/>
        </a:solidFill>
      </p:bgPr>
    </p:bg>
    <p:spTree>
      <p:nvGrpSpPr>
        <p:cNvPr id="1" name=""/>
        <p:cNvGrpSpPr/>
        <p:nvPr/>
      </p:nvGrpSpPr>
      <p:grpSpPr>
        <a:xfrm xmlns:a="http://schemas.openxmlformats.org/drawingml/2006/main"/>
      </p:grpSpPr>
      <p:sp>
        <p:nvSpPr>
          <p:cNvPr id="60" name="Google Shape;60;p10">
            <a:extLst xmlns:a="http://schemas.openxmlformats.org/drawingml/2006/main">
              <a:ext uri="{FF2B5EF4-FFF2-40B4-BE49-F238E27FC236}">
                <a16:creationId xmlns:a16="http://schemas.microsoft.com/office/drawing/2014/main" id="{9A128FC0-4835-47C9-99B3-8BBF8C7DE779}"/>
              </a:ext>
            </a:extLst>
          </p:cNvPr>
          <p:cNvSpPr>
            <a:spLocks xmlns:a="http://schemas.openxmlformats.org/drawingml/2006/main" noGrp="1"/>
          </p:cNvSpPr>
          <p:nvPr/>
        </p:nvSpPr>
        <p:spPr>
          <a:xfrm xmlns:a="http://schemas.openxmlformats.org/drawingml/2006/main">
            <a:off x="609600" y="390525"/>
            <a:ext cx="90487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l">
              <a:spcBef>
                <a:spcPts val="0"/>
              </a:spcBef>
              <a:spcAft>
                <a:spcPts val="0"/>
              </a:spcAft>
              <a:buNone/>
            </a:pPr>
            <a:r>
              <a:rPr sz="1050" b="1">
                <a:solidFill>
                  <a:srgbClr val="203B34"/>
                </a:solidFill>
                <a:latin typeface="Manrope"/>
                <a:ea typeface="Manrope"/>
                <a:cs typeface="Manrope"/>
              </a:rPr>
              <a:t>TIKA-4408 / LESSONS AND NEXT TIME</a:t>
            </a:r>
            <a:endParaRPr sz="1050" b="1">
              <a:solidFill>
                <a:srgbClr val="203B34"/>
              </a:solidFill>
              <a:latin typeface="Manrope"/>
              <a:ea typeface="Manrope"/>
              <a:cs typeface="Manrope"/>
            </a:endParaRPr>
          </a:p>
        </p:txBody>
      </p:sp>
      <p:sp>
        <p:nvSpPr>
          <p:cNvPr id="61" name="Google Shape;61;p10">
            <a:extLst xmlns:a="http://schemas.openxmlformats.org/drawingml/2006/main">
              <a:ext uri="{FF2B5EF4-FFF2-40B4-BE49-F238E27FC236}">
                <a16:creationId xmlns:a16="http://schemas.microsoft.com/office/drawing/2014/main" id="{A594872E-5FB5-4509-91F2-8B3819097AD0}"/>
              </a:ext>
            </a:extLst>
          </p:cNvPr>
          <p:cNvSpPr>
            <a:spLocks xmlns:a="http://schemas.openxmlformats.org/drawingml/2006/main" noGrp="1"/>
          </p:cNvSpPr>
          <p:nvPr/>
        </p:nvSpPr>
        <p:spPr>
          <a:xfrm xmlns:a="http://schemas.openxmlformats.org/drawingml/2006/main">
            <a:off x="10953750" y="390525"/>
            <a:ext cx="62865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000">
                <a:solidFill>
                  <a:srgbClr val="52665B"/>
                </a:solidFill>
                <a:latin typeface="Manrope"/>
                <a:ea typeface="Manrope"/>
                <a:cs typeface="Manrope"/>
              </a:rPr>
              <a:t>04</a:t>
            </a:r>
            <a:endParaRPr sz="1000">
              <a:solidFill>
                <a:srgbClr val="52665B"/>
              </a:solidFill>
              <a:latin typeface="Manrope"/>
              <a:ea typeface="Manrope"/>
              <a:cs typeface="Manrope"/>
            </a:endParaRPr>
          </a:p>
        </p:txBody>
      </p:sp>
      <p:sp>
        <p:nvSpPr>
          <p:cNvPr id="62" name="Google Shape;62;p10">
            <a:extLst xmlns:a="http://schemas.openxmlformats.org/drawingml/2006/main">
              <a:ext uri="{FF2B5EF4-FFF2-40B4-BE49-F238E27FC236}">
                <a16:creationId xmlns:a16="http://schemas.microsoft.com/office/drawing/2014/main" id="{6895F370-DC84-4C67-B143-32251B176A1A}"/>
              </a:ext>
            </a:extLst>
          </p:cNvPr>
          <p:cNvSpPr>
            <a:spLocks xmlns:a="http://schemas.openxmlformats.org/drawingml/2006/main" noGrp="1"/>
          </p:cNvSpPr>
          <p:nvPr>
            <p:ph type="title" idx="0"/>
          </p:nvPr>
        </p:nvSpPr>
        <p:spPr>
          <a:xfrm xmlns:a="http://schemas.openxmlformats.org/drawingml/2006/main">
            <a:off x="609600" y="825500"/>
            <a:ext cx="10972800" cy="1016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3300"/>
            </a:defPPr>
            <a:lvl1pPr>
              <a:defRPr sz="3300"/>
            </a:lvl1pPr>
            <a:lvl2pPr>
              <a:defRPr sz="3300"/>
            </a:lvl2pPr>
            <a:lvl3pPr>
              <a:defRPr sz="3300"/>
            </a:lvl3pPr>
            <a:lvl4pPr>
              <a:defRPr sz="3300"/>
            </a:lvl4pPr>
            <a:lvl5pPr>
              <a:defRPr sz="3300"/>
            </a:lvl5pPr>
            <a:lvl6pPr>
              <a:defRPr sz="3300"/>
            </a:lvl6pPr>
            <a:lvl7pPr>
              <a:defRPr sz="3300"/>
            </a:lvl7pPr>
            <a:lvl8pPr>
              <a:defRPr sz="3300"/>
            </a:lvl8pPr>
            <a:lvl9pPr>
              <a:defRPr sz="3300"/>
            </a:lvl9pPr>
          </a:lstStyle>
          <a:p xmlns:a="http://schemas.openxmlformats.org/drawingml/2006/main">
            <a:pPr marL="0" marR="0" lvl="0" indent="0" algn="l">
              <a:spcBef>
                <a:spcPts val="0"/>
              </a:spcBef>
              <a:spcAft>
                <a:spcPts val="0"/>
              </a:spcAft>
              <a:buNone/>
              <a:defRPr sz="3300"/>
            </a:pPr>
            <a:r>
              <a:rPr sz="3300" b="1">
                <a:solidFill>
                  <a:srgbClr val="203B34"/>
                </a:solidFill>
                <a:latin typeface="Manrope"/>
                <a:ea typeface="Manrope"/>
                <a:cs typeface="Manrope"/>
              </a:rPr>
              <a:t>What I learned and would change</a:t>
            </a:r>
            <a:endParaRPr sz="3200" b="1">
              <a:solidFill>
                <a:srgbClr val="203B34"/>
              </a:solidFill>
              <a:latin typeface="Manrope"/>
              <a:ea typeface="Manrope"/>
              <a:cs typeface="Manrope"/>
            </a:endParaRPr>
          </a:p>
        </p:txBody>
      </p:sp>
      <p:sp>
        <p:nvSpPr>
          <p:cNvPr id="63" name="Google Shape;63;p10">
            <a:extLst xmlns:a="http://schemas.openxmlformats.org/drawingml/2006/main">
              <a:ext uri="{FF2B5EF4-FFF2-40B4-BE49-F238E27FC236}">
                <a16:creationId xmlns:a16="http://schemas.microsoft.com/office/drawing/2014/main" id="{ECF57BD3-0FEB-4263-A74B-8F98125E11CD}"/>
              </a:ext>
            </a:extLst>
          </p:cNvPr>
          <p:cNvSpPr>
            <a:spLocks xmlns:a="http://schemas.openxmlformats.org/drawingml/2006/main" noGrp="1"/>
          </p:cNvSpPr>
          <p:nvPr/>
        </p:nvSpPr>
        <p:spPr>
          <a:xfrm xmlns:a="http://schemas.openxmlformats.org/drawingml/2006/main">
            <a:off x="5238750" y="6486525"/>
            <a:ext cx="6343650" cy="1714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marR="0" lvl="0" indent="0" algn="r">
              <a:spcBef>
                <a:spcPts val="0"/>
              </a:spcBef>
              <a:spcAft>
                <a:spcPts val="0"/>
              </a:spcAft>
              <a:buNone/>
            </a:pPr>
            <a:r>
              <a:rPr sz="1000">
                <a:solidFill>
                  <a:srgbClr val="52665B"/>
                </a:solidFill>
                <a:latin typeface="Manrope"/>
                <a:ea typeface="Manrope"/>
                <a:cs typeface="Manrope"/>
              </a:rPr>
              <a:t>Jiajun Li / TIKA-4408</a:t>
            </a:r>
            <a:endParaRPr sz="1000">
              <a:solidFill>
                <a:srgbClr val="52665B"/>
              </a:solidFill>
              <a:latin typeface="Manrope"/>
              <a:ea typeface="Manrope"/>
              <a:cs typeface="Manrope"/>
            </a:endParaRPr>
          </a:p>
        </p:txBody>
      </p:sp>
      <p:sp>
        <p:nvSpPr>
          <p:cNvPr id="64" name="Google Shape;64;p10">
            <a:extLst xmlns:a="http://schemas.openxmlformats.org/drawingml/2006/main">
              <a:ext uri="{FF2B5EF4-FFF2-40B4-BE49-F238E27FC236}">
                <a16:creationId xmlns:a16="http://schemas.microsoft.com/office/drawing/2014/main" id="{8D1264DC-C57E-4C98-9FFA-CD62CC2D6183}"/>
              </a:ext>
            </a:extLst>
          </p:cNvPr>
          <p:cNvSpPr>
            <a:spLocks xmlns:a="http://schemas.openxmlformats.org/drawingml/2006/main" noGrp="1"/>
          </p:cNvSpPr>
          <p:nvPr/>
        </p:nvSpPr>
        <p:spPr>
          <a:xfrm xmlns:a="http://schemas.openxmlformats.org/drawingml/2006/main">
            <a:off x="609600" y="2032000"/>
            <a:ext cx="35307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00" b="1">
                <a:latin typeface="Manrope"/>
                <a:ea typeface="Manrope"/>
                <a:cs typeface="Manrope"/>
              </a:defRPr>
            </a:defPPr>
            <a:lvl1pPr>
              <a:defRPr sz="1700" b="1">
                <a:latin typeface="Manrope"/>
                <a:ea typeface="Manrope"/>
                <a:cs typeface="Manrope"/>
              </a:defRPr>
            </a:lvl1pPr>
            <a:lvl2pPr>
              <a:defRPr sz="1700" b="1">
                <a:latin typeface="Manrope"/>
                <a:ea typeface="Manrope"/>
                <a:cs typeface="Manrope"/>
              </a:defRPr>
            </a:lvl2pPr>
            <a:lvl3pPr>
              <a:defRPr sz="1700" b="1">
                <a:latin typeface="Manrope"/>
                <a:ea typeface="Manrope"/>
                <a:cs typeface="Manrope"/>
              </a:defRPr>
            </a:lvl3pPr>
            <a:lvl4pPr>
              <a:defRPr sz="1700" b="1">
                <a:latin typeface="Manrope"/>
                <a:ea typeface="Manrope"/>
                <a:cs typeface="Manrope"/>
              </a:defRPr>
            </a:lvl4pPr>
            <a:lvl5pPr>
              <a:defRPr sz="1700" b="1">
                <a:latin typeface="Manrope"/>
                <a:ea typeface="Manrope"/>
                <a:cs typeface="Manrope"/>
              </a:defRPr>
            </a:lvl5pPr>
            <a:lvl6pPr>
              <a:defRPr sz="1700" b="1">
                <a:latin typeface="Manrope"/>
                <a:ea typeface="Manrope"/>
                <a:cs typeface="Manrope"/>
              </a:defRPr>
            </a:lvl6pPr>
            <a:lvl7pPr>
              <a:defRPr sz="1700" b="1">
                <a:latin typeface="Manrope"/>
                <a:ea typeface="Manrope"/>
                <a:cs typeface="Manrope"/>
              </a:defRPr>
            </a:lvl7pPr>
            <a:lvl8pPr>
              <a:defRPr sz="1700" b="1">
                <a:latin typeface="Manrope"/>
                <a:ea typeface="Manrope"/>
                <a:cs typeface="Manrope"/>
              </a:defRPr>
            </a:lvl8pPr>
            <a:lvl9pPr>
              <a:defRPr sz="1700" b="1">
                <a:latin typeface="Manrope"/>
                <a:ea typeface="Manrope"/>
                <a:cs typeface="Manrope"/>
              </a:defRPr>
            </a:lvl9pPr>
          </a:lstStyle>
          <a:p xmlns:a="http://schemas.openxmlformats.org/drawingml/2006/main">
            <a:pPr marL="0" marR="0" lvl="0" indent="0" algn="l">
              <a:spcBef>
                <a:spcPts val="0"/>
              </a:spcBef>
              <a:spcAft>
                <a:spcPts val="0"/>
              </a:spcAft>
              <a:buNone/>
              <a:defRPr sz="1700" b="1">
                <a:latin typeface="Manrope"/>
                <a:ea typeface="Manrope"/>
                <a:cs typeface="Manrope"/>
              </a:defRPr>
            </a:pPr>
            <a:r>
              <a:rPr sz="1700" b="1">
                <a:solidFill>
                  <a:srgbClr val="A14F37"/>
                </a:solidFill>
                <a:latin typeface="Manrope"/>
                <a:ea typeface="Manrope"/>
                <a:cs typeface="Manrope"/>
              </a:rPr>
              <a:t>Understand rule interactions</a:t>
            </a:r>
            <a:endParaRPr sz="1600" b="1">
              <a:solidFill>
                <a:srgbClr val="A14F37"/>
              </a:solidFill>
              <a:latin typeface="Manrope"/>
              <a:ea typeface="Manrope"/>
              <a:cs typeface="Manrope"/>
            </a:endParaRPr>
          </a:p>
        </p:txBody>
      </p:sp>
      <p:sp>
        <p:nvSpPr>
          <p:cNvPr id="65" name="Google Shape;65;p10">
            <a:extLst xmlns:a="http://schemas.openxmlformats.org/drawingml/2006/main">
              <a:ext uri="{FF2B5EF4-FFF2-40B4-BE49-F238E27FC236}">
                <a16:creationId xmlns:a16="http://schemas.microsoft.com/office/drawing/2014/main" id="{49D9879A-A2D5-4BD0-AA1A-E24C9D6AAB3B}"/>
              </a:ext>
            </a:extLst>
          </p:cNvPr>
          <p:cNvSpPr>
            <a:spLocks xmlns:a="http://schemas.openxmlformats.org/drawingml/2006/main" noGrp="1"/>
          </p:cNvSpPr>
          <p:nvPr/>
        </p:nvSpPr>
        <p:spPr>
          <a:xfrm xmlns:a="http://schemas.openxmlformats.org/drawingml/2006/main">
            <a:off x="4572000" y="2006600"/>
            <a:ext cx="7010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Trace competing rules and write the expected</a:t>
            </a:r>
            <a:endParaRPr sz="2000">
              <a:solidFill>
                <a:srgbClr val="203B34"/>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behavior before changing the implementation.</a:t>
            </a:r>
            <a:endParaRPr sz="2000">
              <a:solidFill>
                <a:srgbClr val="203B34"/>
              </a:solidFill>
              <a:latin typeface="Manrope"/>
              <a:ea typeface="Manrope"/>
              <a:cs typeface="Manrope"/>
            </a:endParaRPr>
          </a:p>
        </p:txBody>
      </p:sp>
      <p:sp>
        <p:nvSpPr>
          <p:cNvPr id="66" name="Google Shape;66;p10">
            <a:extLst xmlns:a="http://schemas.openxmlformats.org/drawingml/2006/main">
              <a:ext uri="{FF2B5EF4-FFF2-40B4-BE49-F238E27FC236}">
                <a16:creationId xmlns:a16="http://schemas.microsoft.com/office/drawing/2014/main" id="{D6104348-1828-43B7-B061-03CD275E6464}"/>
              </a:ext>
            </a:extLst>
          </p:cNvPr>
          <p:cNvSpPr>
            <a:spLocks xmlns:a="http://schemas.openxmlformats.org/drawingml/2006/main" noGrp="1"/>
          </p:cNvSpPr>
          <p:nvPr/>
        </p:nvSpPr>
        <p:spPr>
          <a:xfrm xmlns:a="http://schemas.openxmlformats.org/drawingml/2006/main">
            <a:off x="609600" y="3073400"/>
            <a:ext cx="35307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00" b="1">
                <a:latin typeface="Manrope"/>
                <a:ea typeface="Manrope"/>
                <a:cs typeface="Manrope"/>
              </a:defRPr>
            </a:defPPr>
            <a:lvl1pPr>
              <a:defRPr sz="1700" b="1">
                <a:latin typeface="Manrope"/>
                <a:ea typeface="Manrope"/>
                <a:cs typeface="Manrope"/>
              </a:defRPr>
            </a:lvl1pPr>
            <a:lvl2pPr>
              <a:defRPr sz="1700" b="1">
                <a:latin typeface="Manrope"/>
                <a:ea typeface="Manrope"/>
                <a:cs typeface="Manrope"/>
              </a:defRPr>
            </a:lvl2pPr>
            <a:lvl3pPr>
              <a:defRPr sz="1700" b="1">
                <a:latin typeface="Manrope"/>
                <a:ea typeface="Manrope"/>
                <a:cs typeface="Manrope"/>
              </a:defRPr>
            </a:lvl3pPr>
            <a:lvl4pPr>
              <a:defRPr sz="1700" b="1">
                <a:latin typeface="Manrope"/>
                <a:ea typeface="Manrope"/>
                <a:cs typeface="Manrope"/>
              </a:defRPr>
            </a:lvl4pPr>
            <a:lvl5pPr>
              <a:defRPr sz="1700" b="1">
                <a:latin typeface="Manrope"/>
                <a:ea typeface="Manrope"/>
                <a:cs typeface="Manrope"/>
              </a:defRPr>
            </a:lvl5pPr>
            <a:lvl6pPr>
              <a:defRPr sz="1700" b="1">
                <a:latin typeface="Manrope"/>
                <a:ea typeface="Manrope"/>
                <a:cs typeface="Manrope"/>
              </a:defRPr>
            </a:lvl6pPr>
            <a:lvl7pPr>
              <a:defRPr sz="1700" b="1">
                <a:latin typeface="Manrope"/>
                <a:ea typeface="Manrope"/>
                <a:cs typeface="Manrope"/>
              </a:defRPr>
            </a:lvl7pPr>
            <a:lvl8pPr>
              <a:defRPr sz="1700" b="1">
                <a:latin typeface="Manrope"/>
                <a:ea typeface="Manrope"/>
                <a:cs typeface="Manrope"/>
              </a:defRPr>
            </a:lvl8pPr>
            <a:lvl9pPr>
              <a:defRPr sz="1700" b="1">
                <a:latin typeface="Manrope"/>
                <a:ea typeface="Manrope"/>
                <a:cs typeface="Manrope"/>
              </a:defRPr>
            </a:lvl9pPr>
          </a:lstStyle>
          <a:p xmlns:a="http://schemas.openxmlformats.org/drawingml/2006/main">
            <a:pPr marL="0" marR="0" lvl="0" indent="0" algn="l">
              <a:spcBef>
                <a:spcPts val="0"/>
              </a:spcBef>
              <a:spcAft>
                <a:spcPts val="0"/>
              </a:spcAft>
              <a:buNone/>
              <a:defRPr sz="1700" b="1">
                <a:latin typeface="Manrope"/>
                <a:ea typeface="Manrope"/>
                <a:cs typeface="Manrope"/>
              </a:defRPr>
            </a:pPr>
            <a:r>
              <a:rPr sz="1700" b="1">
                <a:solidFill>
                  <a:srgbClr val="203B34"/>
                </a:solidFill>
                <a:latin typeface="Manrope"/>
                <a:ea typeface="Manrope"/>
                <a:cs typeface="Manrope"/>
              </a:rPr>
              <a:t>Plan broader coverage earlier</a:t>
            </a:r>
            <a:endParaRPr sz="1600" b="1">
              <a:solidFill>
                <a:srgbClr val="203B34"/>
              </a:solidFill>
              <a:latin typeface="Manrope"/>
              <a:ea typeface="Manrope"/>
              <a:cs typeface="Manrope"/>
            </a:endParaRPr>
          </a:p>
        </p:txBody>
      </p:sp>
      <p:sp>
        <p:nvSpPr>
          <p:cNvPr id="67" name="Google Shape;67;p10">
            <a:extLst xmlns:a="http://schemas.openxmlformats.org/drawingml/2006/main">
              <a:ext uri="{FF2B5EF4-FFF2-40B4-BE49-F238E27FC236}">
                <a16:creationId xmlns:a16="http://schemas.microsoft.com/office/drawing/2014/main" id="{6E886ED4-9093-4FDE-BB9E-15966EBCC987}"/>
              </a:ext>
            </a:extLst>
          </p:cNvPr>
          <p:cNvSpPr>
            <a:spLocks xmlns:a="http://schemas.openxmlformats.org/drawingml/2006/main" noGrp="1"/>
          </p:cNvSpPr>
          <p:nvPr/>
        </p:nvSpPr>
        <p:spPr>
          <a:xfrm xmlns:a="http://schemas.openxmlformats.org/drawingml/2006/main">
            <a:off x="4572000" y="3048000"/>
            <a:ext cx="7010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Build an initial test matrix for Python, Shell,</a:t>
            </a:r>
            <a:endParaRPr sz="2000">
              <a:solidFill>
                <a:srgbClr val="203B34"/>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filename hints and boundary cases.</a:t>
            </a:r>
            <a:endParaRPr sz="2000">
              <a:solidFill>
                <a:srgbClr val="203B34"/>
              </a:solidFill>
              <a:latin typeface="Manrope"/>
              <a:ea typeface="Manrope"/>
              <a:cs typeface="Manrope"/>
            </a:endParaRPr>
          </a:p>
        </p:txBody>
      </p:sp>
      <p:sp>
        <p:nvSpPr>
          <p:cNvPr id="68" name="Google Shape;68;p10">
            <a:extLst xmlns:a="http://schemas.openxmlformats.org/drawingml/2006/main">
              <a:ext uri="{FF2B5EF4-FFF2-40B4-BE49-F238E27FC236}">
                <a16:creationId xmlns:a16="http://schemas.microsoft.com/office/drawing/2014/main" id="{BD984870-DF5F-4EE6-A1EB-02C641416082}"/>
              </a:ext>
            </a:extLst>
          </p:cNvPr>
          <p:cNvSpPr>
            <a:spLocks xmlns:a="http://schemas.openxmlformats.org/drawingml/2006/main" noGrp="1"/>
          </p:cNvSpPr>
          <p:nvPr/>
        </p:nvSpPr>
        <p:spPr>
          <a:xfrm xmlns:a="http://schemas.openxmlformats.org/drawingml/2006/main">
            <a:off x="609600" y="4114800"/>
            <a:ext cx="35307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00" b="1">
                <a:latin typeface="Manrope"/>
                <a:ea typeface="Manrope"/>
                <a:cs typeface="Manrope"/>
              </a:defRPr>
            </a:defPPr>
            <a:lvl1pPr>
              <a:defRPr sz="1700" b="1">
                <a:latin typeface="Manrope"/>
                <a:ea typeface="Manrope"/>
                <a:cs typeface="Manrope"/>
              </a:defRPr>
            </a:lvl1pPr>
            <a:lvl2pPr>
              <a:defRPr sz="1700" b="1">
                <a:latin typeface="Manrope"/>
                <a:ea typeface="Manrope"/>
                <a:cs typeface="Manrope"/>
              </a:defRPr>
            </a:lvl2pPr>
            <a:lvl3pPr>
              <a:defRPr sz="1700" b="1">
                <a:latin typeface="Manrope"/>
                <a:ea typeface="Manrope"/>
                <a:cs typeface="Manrope"/>
              </a:defRPr>
            </a:lvl3pPr>
            <a:lvl4pPr>
              <a:defRPr sz="1700" b="1">
                <a:latin typeface="Manrope"/>
                <a:ea typeface="Manrope"/>
                <a:cs typeface="Manrope"/>
              </a:defRPr>
            </a:lvl4pPr>
            <a:lvl5pPr>
              <a:defRPr sz="1700" b="1">
                <a:latin typeface="Manrope"/>
                <a:ea typeface="Manrope"/>
                <a:cs typeface="Manrope"/>
              </a:defRPr>
            </a:lvl5pPr>
            <a:lvl6pPr>
              <a:defRPr sz="1700" b="1">
                <a:latin typeface="Manrope"/>
                <a:ea typeface="Manrope"/>
                <a:cs typeface="Manrope"/>
              </a:defRPr>
            </a:lvl6pPr>
            <a:lvl7pPr>
              <a:defRPr sz="1700" b="1">
                <a:latin typeface="Manrope"/>
                <a:ea typeface="Manrope"/>
                <a:cs typeface="Manrope"/>
              </a:defRPr>
            </a:lvl7pPr>
            <a:lvl8pPr>
              <a:defRPr sz="1700" b="1">
                <a:latin typeface="Manrope"/>
                <a:ea typeface="Manrope"/>
                <a:cs typeface="Manrope"/>
              </a:defRPr>
            </a:lvl8pPr>
            <a:lvl9pPr>
              <a:defRPr sz="1700" b="1">
                <a:latin typeface="Manrope"/>
                <a:ea typeface="Manrope"/>
                <a:cs typeface="Manrope"/>
              </a:defRPr>
            </a:lvl9pPr>
          </a:lstStyle>
          <a:p xmlns:a="http://schemas.openxmlformats.org/drawingml/2006/main">
            <a:pPr marL="0" marR="0" lvl="0" indent="0" algn="l">
              <a:spcBef>
                <a:spcPts val="0"/>
              </a:spcBef>
              <a:spcAft>
                <a:spcPts val="0"/>
              </a:spcAft>
              <a:buNone/>
              <a:defRPr sz="1700" b="1">
                <a:latin typeface="Manrope"/>
                <a:ea typeface="Manrope"/>
                <a:cs typeface="Manrope"/>
              </a:defRPr>
            </a:pPr>
            <a:r>
              <a:rPr sz="1700" b="1">
                <a:solidFill>
                  <a:srgbClr val="203B34"/>
                </a:solidFill>
                <a:latin typeface="Manrope"/>
                <a:ea typeface="Manrope"/>
                <a:cs typeface="Manrope"/>
              </a:rPr>
              <a:t>Preserve useful review checks</a:t>
            </a:r>
            <a:endParaRPr sz="1600" b="1">
              <a:solidFill>
                <a:srgbClr val="203B34"/>
              </a:solidFill>
              <a:latin typeface="Manrope"/>
              <a:ea typeface="Manrope"/>
              <a:cs typeface="Manrope"/>
            </a:endParaRPr>
          </a:p>
        </p:txBody>
      </p:sp>
      <p:sp>
        <p:nvSpPr>
          <p:cNvPr id="69" name="Google Shape;69;p10">
            <a:extLst xmlns:a="http://schemas.openxmlformats.org/drawingml/2006/main">
              <a:ext uri="{FF2B5EF4-FFF2-40B4-BE49-F238E27FC236}">
                <a16:creationId xmlns:a16="http://schemas.microsoft.com/office/drawing/2014/main" id="{D57D816B-D246-49BA-8C8A-043DEA7D8175}"/>
              </a:ext>
            </a:extLst>
          </p:cNvPr>
          <p:cNvSpPr>
            <a:spLocks xmlns:a="http://schemas.openxmlformats.org/drawingml/2006/main" noGrp="1"/>
          </p:cNvSpPr>
          <p:nvPr/>
        </p:nvSpPr>
        <p:spPr>
          <a:xfrm xmlns:a="http://schemas.openxmlformats.org/drawingml/2006/main">
            <a:off x="4572000" y="4089400"/>
            <a:ext cx="7010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Turn probes such as x/bin/env python into</a:t>
            </a:r>
            <a:endParaRPr sz="2000">
              <a:solidFill>
                <a:srgbClr val="203B34"/>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permanent automated regression tests.</a:t>
            </a:r>
            <a:endParaRPr sz="2000">
              <a:solidFill>
                <a:srgbClr val="203B34"/>
              </a:solidFill>
              <a:latin typeface="Manrope"/>
              <a:ea typeface="Manrope"/>
              <a:cs typeface="Manrope"/>
            </a:endParaRPr>
          </a:p>
        </p:txBody>
      </p:sp>
      <p:sp>
        <p:nvSpPr>
          <p:cNvPr id="70" name="Google Shape;70;p10">
            <a:extLst xmlns:a="http://schemas.openxmlformats.org/drawingml/2006/main">
              <a:ext uri="{FF2B5EF4-FFF2-40B4-BE49-F238E27FC236}">
                <a16:creationId xmlns:a16="http://schemas.microsoft.com/office/drawing/2014/main" id="{37629784-5123-4FF6-8A1B-DCE3506A903D}"/>
              </a:ext>
            </a:extLst>
          </p:cNvPr>
          <p:cNvSpPr>
            <a:spLocks xmlns:a="http://schemas.openxmlformats.org/drawingml/2006/main" noGrp="1"/>
          </p:cNvSpPr>
          <p:nvPr/>
        </p:nvSpPr>
        <p:spPr>
          <a:xfrm xmlns:a="http://schemas.openxmlformats.org/drawingml/2006/main">
            <a:off x="609600" y="5156200"/>
            <a:ext cx="3530700" cy="838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1700" b="1">
                <a:latin typeface="Manrope"/>
                <a:ea typeface="Manrope"/>
                <a:cs typeface="Manrope"/>
              </a:defRPr>
            </a:defPPr>
            <a:lvl1pPr>
              <a:defRPr sz="1700" b="1">
                <a:latin typeface="Manrope"/>
                <a:ea typeface="Manrope"/>
                <a:cs typeface="Manrope"/>
              </a:defRPr>
            </a:lvl1pPr>
            <a:lvl2pPr>
              <a:defRPr sz="1700" b="1">
                <a:latin typeface="Manrope"/>
                <a:ea typeface="Manrope"/>
                <a:cs typeface="Manrope"/>
              </a:defRPr>
            </a:lvl2pPr>
            <a:lvl3pPr>
              <a:defRPr sz="1700" b="1">
                <a:latin typeface="Manrope"/>
                <a:ea typeface="Manrope"/>
                <a:cs typeface="Manrope"/>
              </a:defRPr>
            </a:lvl3pPr>
            <a:lvl4pPr>
              <a:defRPr sz="1700" b="1">
                <a:latin typeface="Manrope"/>
                <a:ea typeface="Manrope"/>
                <a:cs typeface="Manrope"/>
              </a:defRPr>
            </a:lvl4pPr>
            <a:lvl5pPr>
              <a:defRPr sz="1700" b="1">
                <a:latin typeface="Manrope"/>
                <a:ea typeface="Manrope"/>
                <a:cs typeface="Manrope"/>
              </a:defRPr>
            </a:lvl5pPr>
            <a:lvl6pPr>
              <a:defRPr sz="1700" b="1">
                <a:latin typeface="Manrope"/>
                <a:ea typeface="Manrope"/>
                <a:cs typeface="Manrope"/>
              </a:defRPr>
            </a:lvl6pPr>
            <a:lvl7pPr>
              <a:defRPr sz="1700" b="1">
                <a:latin typeface="Manrope"/>
                <a:ea typeface="Manrope"/>
                <a:cs typeface="Manrope"/>
              </a:defRPr>
            </a:lvl7pPr>
            <a:lvl8pPr>
              <a:defRPr sz="1700" b="1">
                <a:latin typeface="Manrope"/>
                <a:ea typeface="Manrope"/>
                <a:cs typeface="Manrope"/>
              </a:defRPr>
            </a:lvl8pPr>
            <a:lvl9pPr>
              <a:defRPr sz="1700" b="1">
                <a:latin typeface="Manrope"/>
                <a:ea typeface="Manrope"/>
                <a:cs typeface="Manrope"/>
              </a:defRPr>
            </a:lvl9pPr>
          </a:lstStyle>
          <a:p xmlns:a="http://schemas.openxmlformats.org/drawingml/2006/main">
            <a:pPr marL="0" marR="0" lvl="0" indent="0" algn="l">
              <a:spcBef>
                <a:spcPts val="0"/>
              </a:spcBef>
              <a:spcAft>
                <a:spcPts val="0"/>
              </a:spcAft>
              <a:buNone/>
              <a:defRPr sz="1700" b="1">
                <a:latin typeface="Manrope"/>
                <a:ea typeface="Manrope"/>
                <a:cs typeface="Manrope"/>
              </a:defRPr>
            </a:pPr>
            <a:r>
              <a:rPr sz="1700" b="1">
                <a:solidFill>
                  <a:srgbClr val="203B34"/>
                </a:solidFill>
                <a:latin typeface="Manrope"/>
                <a:ea typeface="Manrope"/>
                <a:cs typeface="Manrope"/>
              </a:rPr>
              <a:t>Keep the useful workflow</a:t>
            </a:r>
            <a:endParaRPr sz="1600" b="1">
              <a:solidFill>
                <a:srgbClr val="203B34"/>
              </a:solidFill>
              <a:latin typeface="Manrope"/>
              <a:ea typeface="Manrope"/>
              <a:cs typeface="Manrope"/>
            </a:endParaRPr>
          </a:p>
        </p:txBody>
      </p:sp>
      <p:sp>
        <p:nvSpPr>
          <p:cNvPr id="71" name="Google Shape;71;p10">
            <a:extLst xmlns:a="http://schemas.openxmlformats.org/drawingml/2006/main">
              <a:ext uri="{FF2B5EF4-FFF2-40B4-BE49-F238E27FC236}">
                <a16:creationId xmlns:a16="http://schemas.microsoft.com/office/drawing/2014/main" id="{BDF5CF00-E513-45A8-AFE1-03F7A7B6A97E}"/>
              </a:ext>
            </a:extLst>
          </p:cNvPr>
          <p:cNvSpPr>
            <a:spLocks xmlns:a="http://schemas.openxmlformats.org/drawingml/2006/main" noGrp="1"/>
          </p:cNvSpPr>
          <p:nvPr/>
        </p:nvSpPr>
        <p:spPr>
          <a:xfrm xmlns:a="http://schemas.openxmlformats.org/drawingml/2006/main">
            <a:off x="4572000" y="5130800"/>
            <a:ext cx="701040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defPPr>
              <a:defRPr sz="2000">
                <a:latin typeface="Manrope"/>
                <a:ea typeface="Manrope"/>
                <a:cs typeface="Manrope"/>
              </a:defRPr>
            </a:defPPr>
            <a:lvl1pPr>
              <a:defRPr sz="2000">
                <a:latin typeface="Manrope"/>
                <a:ea typeface="Manrope"/>
                <a:cs typeface="Manrope"/>
              </a:defRPr>
            </a:lvl1pPr>
            <a:lvl2pPr>
              <a:defRPr sz="2000">
                <a:latin typeface="Manrope"/>
                <a:ea typeface="Manrope"/>
                <a:cs typeface="Manrope"/>
              </a:defRPr>
            </a:lvl2pPr>
            <a:lvl3pPr>
              <a:defRPr sz="2000">
                <a:latin typeface="Manrope"/>
                <a:ea typeface="Manrope"/>
                <a:cs typeface="Manrope"/>
              </a:defRPr>
            </a:lvl3pPr>
            <a:lvl4pPr>
              <a:defRPr sz="2000">
                <a:latin typeface="Manrope"/>
                <a:ea typeface="Manrope"/>
                <a:cs typeface="Manrope"/>
              </a:defRPr>
            </a:lvl4pPr>
            <a:lvl5pPr>
              <a:defRPr sz="2000">
                <a:latin typeface="Manrope"/>
                <a:ea typeface="Manrope"/>
                <a:cs typeface="Manrope"/>
              </a:defRPr>
            </a:lvl5pPr>
            <a:lvl6pPr>
              <a:defRPr sz="2000">
                <a:latin typeface="Manrope"/>
                <a:ea typeface="Manrope"/>
                <a:cs typeface="Manrope"/>
              </a:defRPr>
            </a:lvl6pPr>
            <a:lvl7pPr>
              <a:defRPr sz="2000">
                <a:latin typeface="Manrope"/>
                <a:ea typeface="Manrope"/>
                <a:cs typeface="Manrope"/>
              </a:defRPr>
            </a:lvl7pPr>
            <a:lvl8pPr>
              <a:defRPr sz="2000">
                <a:latin typeface="Manrope"/>
                <a:ea typeface="Manrope"/>
                <a:cs typeface="Manrope"/>
              </a:defRPr>
            </a:lvl8pPr>
            <a:lvl9pPr>
              <a:defRPr sz="2000">
                <a:latin typeface="Manrope"/>
                <a:ea typeface="Manrope"/>
                <a:cs typeface="Manrope"/>
              </a:defRPr>
            </a:lvl9pPr>
          </a:lstStyle>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Continue reproducing first and comparing the</a:t>
            </a:r>
            <a:endParaRPr sz="2000">
              <a:solidFill>
                <a:srgbClr val="203B34"/>
              </a:solidFill>
              <a:latin typeface="Manrope"/>
              <a:ea typeface="Manrope"/>
              <a:cs typeface="Manrope"/>
            </a:endParaRPr>
          </a:p>
          <a:p xmlns:a="http://schemas.openxmlformats.org/drawingml/2006/main">
            <a:pPr marL="0" marR="0" lvl="0" indent="0" algn="l">
              <a:spcBef>
                <a:spcPts val="0"/>
              </a:spcBef>
              <a:spcAft>
                <a:spcPts val="0"/>
              </a:spcAft>
              <a:buNone/>
              <a:defRPr sz="2000">
                <a:latin typeface="Manrope"/>
                <a:ea typeface="Manrope"/>
                <a:cs typeface="Manrope"/>
              </a:defRPr>
            </a:pPr>
            <a:r>
              <a:rPr sz="2000">
                <a:solidFill>
                  <a:srgbClr val="203B34"/>
                </a:solidFill>
                <a:latin typeface="Manrope"/>
                <a:ea typeface="Manrope"/>
                <a:cs typeface="Manrope"/>
              </a:rPr>
              <a:t>same checks before and after a focused fix.</a:t>
            </a:r>
            <a:endParaRPr sz="2000">
              <a:solidFill>
                <a:srgbClr val="203B34"/>
              </a:solidFill>
              <a:latin typeface="Manrope"/>
              <a:ea typeface="Manrope"/>
              <a:cs typeface="Manrope"/>
            </a:endParaRPr>
          </a:p>
        </p:txBody>
      </p:sp>
    </p:spTree>
    <p:extLst>
      <p:ext uri="{BB962C8B-B14F-4D97-AF65-F5344CB8AC3E}">
        <p14:creationId xmlns:p14="http://schemas.microsoft.com/office/powerpoint/2010/main" val="318805761"/>
      </p:ext>
    </p:extLst>
  </p:cSld>
</p:sld>
</file>

<file path=ppt/theme/theme1.xml><?xml version="1.0" encoding="utf-8"?>
<a:theme xmlns:a="http://schemas.openxmlformats.org/drawingml/2006/main" name="ChatGPT">
  <a:themeElements>
    <a:clrScheme name="COMP2120 cream and teal">
      <a:dk1>
        <a:srgbClr val="172033"/>
      </a:dk1>
      <a:lt1>
        <a:srgbClr val="F7F4EE"/>
      </a:lt1>
      <a:dk2>
        <a:srgbClr val="1F5F61"/>
      </a:dk2>
      <a:lt2>
        <a:srgbClr val="FFFFFF"/>
      </a:lt2>
      <a:accent1>
        <a:srgbClr val="1F5F61"/>
      </a:accent1>
      <a:accent2>
        <a:srgbClr val="C58B2A"/>
      </a:accent2>
      <a:accent3>
        <a:srgbClr val="456A91"/>
      </a:accent3>
      <a:accent4>
        <a:srgbClr val="B36B5E"/>
      </a:accent4>
      <a:accent5>
        <a:srgbClr val="67558A"/>
      </a:accent5>
      <a:accent6>
        <a:srgbClr val="63826C"/>
      </a:accent6>
      <a:hlink>
        <a:srgbClr val="1F5F61"/>
      </a:hlink>
      <a:folHlink>
        <a:srgbClr val="6755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OMP2120 cream and te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2026-10-24T02:15:45.7920000Z</dcterms:created>
  <dcterms:modified xsi:type="dcterms:W3CDTF">2026-10-24T02:15:45.7920000Z</dcterms:modified>
</coreProperties>
</file>