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3"/>
    <p:sldMasterId id="2147483654" r:id="rId4"/>
  </p:sldMasterIdLst>
  <p:notesMasterIdLst>
    <p:notesMasterId r:id="rId5"/>
  </p:notesMasterIdLst>
  <p:sldIdLst>
    <p:sldId id="260" r:id="rId10"/>
    <p:sldId id="257" r:id="rId7"/>
    <p:sldId id="261" r:id="rId12"/>
    <p:sldId id="262" r:id="rId11"/>
  </p:sldIdLst>
  <p:sldSz cy="6858000" cx="12192000"/>
  <p:notesSz cx="6858000" cy="9144000"/>
  <p:embeddedFontLst>
    <p:embeddedFont>
      <p:font typeface="Manrope"/>
      <p:regular r:id="rId13"/>
      <p:bold r:id="rId14"/>
    </p:embeddedFont>
    <p:embeddedFont>
      <p:font typeface="Roboto Mon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7"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font" Target="fonts/Manrope-regular.fntdata"/><Relationship Id="rId14" Type="http://schemas.openxmlformats.org/officeDocument/2006/relationships/font" Target="fonts/Manrope-bold.fntdata"/><Relationship Id="rId15" Type="http://schemas.openxmlformats.org/officeDocument/2006/relationships/font" Target="fonts/RobotoMono-regular.fntdata"/><Relationship Id="rId16" Type="http://schemas.openxmlformats.org/officeDocument/2006/relationships/font" Target="fonts/RobotoMono-bold.fntdata"/><Relationship Id="rId17" Type="http://schemas.openxmlformats.org/officeDocument/2006/relationships/font" Target="fonts/RobotoMono-italic.fntdata"/><Relationship Id="rId18"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Slide 2 — TIKA-4408 before and after.</a:t>
            </a:r>
          </a:p>
          <a:p/>
          <a:p>
            <a:r>
              <a:t>A Python script starting with the shebang shown here was incorrectly detected as a Shell script. The existing detection rule matched a substring from byte offset one. The patch instead looks for the full Python shebang from byte offset zero. The group reports seven failed regression checks before this fix, and eighteen passed checks afterwards. These are local group test results, not official Apache acceptance.</a:t>
            </a:r>
          </a:p>
          <a:p/>
          <a:p>
            <a:r>
              <a:t>Source: https://github.com/u8026876/comp2120-gyg-a5/pull/4</a:t>
            </a:r>
          </a:p>
        </p:txBody>
      </p:sp>
      <p:sp>
        <p:nvSpPr>
          <p:cNvPr id="40" name="Google Shape;4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Slide 3 — TIKA-4431 before and after.</a:t>
            </a:r>
          </a:p>
          <a:p/>
          <a:p>
            <a:r>
              <a:t>This issue affects CSV files whose names contain a number sign before dot csv. Previously, Tika interpreted that part as a URL fragment, so the csv file extension was lost and the file could be detected as text plain. In the new group patch, literal hash signs in scheme-less local filename hints are preserved, so the csv extension is used and the example is detected as text csv. Explicit URLs keep their normal fragment handling. The group reported nine failing detection checks without the fix and all thirty-three passing after.</a:t>
            </a:r>
          </a:p>
          <a:p/>
          <a:p>
            <a:r>
              <a:t>Source: https://github.com/u8026876/comp2120-gyg-a5/pull/7</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Slide 4 — TIKA-4694 before and after.</a:t>
            </a:r>
          </a:p>
          <a:p/>
          <a:p>
            <a:r>
              <a:t>For legacy Microsoft Word dot doc files, Tika previously did not populate the line count and paragraph count metadata properties. The new patch in SummaryExtractor maps the two values from the document summary information to existing Office metadata fields. The sample file used in the regression test contains twelve lines and three paragraphs. According to the group PR, WordParserTest reported thirty-eight tests, with no failures or errors and two skipped. The full parser suite and remote CI are not independently established here.</a:t>
            </a:r>
          </a:p>
          <a:p/>
          <a:p>
            <a:r>
              <a:t>Source: https://github.com/u8026876/comp2120-gyg-a5/pull/6</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Slide 1 — Our three group PRs.</a:t>
            </a:r>
          </a:p>
          <a:p/>
          <a:p>
            <a:r>
              <a:t>So far, our group has created three pull requests inside our shared Apache Tika fork. They address Python script detection, CSV files whose names contain a hash sign, and metadata extraction from older Word documents. They are group PRs, not changes merged into the official Apache Tika repository. The next three slides show what changed and the group's reported local regression results.</a:t>
            </a:r>
          </a:p>
          <a:p/>
          <a:p>
            <a:r>
              <a:t>Sources: https://github.com/u8026876/comp2120-gyg-a5/pull/4 ; https://github.com/u8026876/comp2120-gyg-a5/pull/7 ; https://github.com/u8026876/comp2120-gyg-a5/pull/6</a:t>
            </a:r>
          </a:p>
        </p:txBody>
      </p:sp>
      <p:sp>
        <p:nvSpPr>
          <p:cNvPr id="93" name="Google Shape;9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Title">
  <p:cSld name="A4 - Title">
    <p:spTree>
      <p:nvGrpSpPr>
        <p:cNvPr id="10" name="Shape 10"/>
        <p:cNvGrpSpPr/>
        <p:nvPr/>
      </p:nvGrpSpPr>
      <p:grpSpPr>
        <a:xfrm>
          <a:off x="0" y="0"/>
          <a:ext cx="0" cy="0"/>
          <a:chOff x="0" y="0"/>
          <a:chExt cx="0" cy="0"/>
        </a:xfrm>
      </p:grpSpPr>
      <p:sp>
        <p:nvSpPr>
          <p:cNvPr id="11" name="Google Shape;11;p2"/>
          <p:cNvSpPr txBox="1"/>
          <p:nvPr>
            <p:ph type="title"/>
          </p:nvPr>
        </p:nvSpPr>
        <p:spPr>
          <a:xfrm>
            <a:off x="609600" y="1428750"/>
            <a:ext cx="10477500" cy="154305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2"/>
          <p:cNvSpPr txBox="1"/>
          <p:nvPr>
            <p:ph idx="1" type="subTitle"/>
          </p:nvPr>
        </p:nvSpPr>
        <p:spPr>
          <a:xfrm>
            <a:off x="609600" y="3333750"/>
            <a:ext cx="10477500" cy="85725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Explanation and visual">
  <p:cSld name="A4 - Explanation and visual">
    <p:spTree>
      <p:nvGrpSpPr>
        <p:cNvPr id="14" name="Shape 14"/>
        <p:cNvGrpSpPr/>
        <p:nvPr/>
      </p:nvGrpSpPr>
      <p:grpSpPr>
        <a:xfrm>
          <a:off x="0" y="0"/>
          <a:ext cx="0" cy="0"/>
          <a:chOff x="0" y="0"/>
          <a:chExt cx="0" cy="0"/>
        </a:xfrm>
      </p:grpSpPr>
      <p:sp>
        <p:nvSpPr>
          <p:cNvPr id="15" name="Google Shape;15;p4"/>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6" name="Google Shape;16;p4"/>
          <p:cNvSpPr txBox="1"/>
          <p:nvPr>
            <p:ph idx="1" type="body"/>
          </p:nvPr>
        </p:nvSpPr>
        <p:spPr>
          <a:xfrm>
            <a:off x="609600" y="2000250"/>
            <a:ext cx="4476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 name="Google Shape;17;p4"/>
          <p:cNvSpPr txBox="1"/>
          <p:nvPr>
            <p:ph idx="2" type="body"/>
          </p:nvPr>
        </p:nvSpPr>
        <p:spPr>
          <a:xfrm>
            <a:off x="5581650" y="2000250"/>
            <a:ext cx="6000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Two columns">
  <p:cSld name="A4 - Two columns">
    <p:spTree>
      <p:nvGrpSpPr>
        <p:cNvPr id="18" name="Shape 18"/>
        <p:cNvGrpSpPr/>
        <p:nvPr/>
      </p:nvGrpSpPr>
      <p:grpSpPr>
        <a:xfrm>
          <a:off x="0" y="0"/>
          <a:ext cx="0" cy="0"/>
          <a:chOff x="0" y="0"/>
          <a:chExt cx="0" cy="0"/>
        </a:xfrm>
      </p:grpSpPr>
      <p:sp>
        <p:nvSpPr>
          <p:cNvPr id="19" name="Google Shape;19;p5"/>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 name="Google Shape;20;p5"/>
          <p:cNvSpPr txBox="1"/>
          <p:nvPr>
            <p:ph idx="1" type="body"/>
          </p:nvPr>
        </p:nvSpPr>
        <p:spPr>
          <a:xfrm>
            <a:off x="609600" y="2000250"/>
            <a:ext cx="5238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1" name="Google Shape;21;p5"/>
          <p:cNvSpPr txBox="1"/>
          <p:nvPr>
            <p:ph idx="2" type="body"/>
          </p:nvPr>
        </p:nvSpPr>
        <p:spPr>
          <a:xfrm>
            <a:off x="6343650" y="2000250"/>
            <a:ext cx="5238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Title and content">
  <p:cSld name="A4 - Title and content">
    <p:spTree>
      <p:nvGrpSpPr>
        <p:cNvPr id="22" name="Shape 22"/>
        <p:cNvGrpSpPr/>
        <p:nvPr/>
      </p:nvGrpSpPr>
      <p:grpSpPr>
        <a:xfrm>
          <a:off x="0" y="0"/>
          <a:ext cx="0" cy="0"/>
          <a:chOff x="0" y="0"/>
          <a:chExt cx="0" cy="0"/>
        </a:xfrm>
      </p:grpSpPr>
      <p:sp>
        <p:nvSpPr>
          <p:cNvPr id="23" name="Google Shape;23;p6"/>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 name="Google Shape;24;p6"/>
          <p:cNvSpPr txBox="1"/>
          <p:nvPr>
            <p:ph idx="1" type="body"/>
          </p:nvPr>
        </p:nvSpPr>
        <p:spPr>
          <a:xfrm>
            <a:off x="609600" y="1952625"/>
            <a:ext cx="10972800" cy="409575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Large visual">
  <p:cSld name="A4 - Large visual">
    <p:spTree>
      <p:nvGrpSpPr>
        <p:cNvPr id="25" name="Shape 25"/>
        <p:cNvGrpSpPr/>
        <p:nvPr/>
      </p:nvGrpSpPr>
      <p:grpSpPr>
        <a:xfrm>
          <a:off x="0" y="0"/>
          <a:ext cx="0" cy="0"/>
          <a:chOff x="0" y="0"/>
          <a:chExt cx="0" cy="0"/>
        </a:xfrm>
      </p:grpSpPr>
      <p:sp>
        <p:nvSpPr>
          <p:cNvPr id="26" name="Google Shape;26;p7"/>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 name="Google Shape;27;p7"/>
          <p:cNvSpPr txBox="1"/>
          <p:nvPr>
            <p:ph idx="1" type="body"/>
          </p:nvPr>
        </p:nvSpPr>
        <p:spPr>
          <a:xfrm>
            <a:off x="609600" y="2000250"/>
            <a:ext cx="1097280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 name="Shape 1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8D9"/>
        </a:solidFill>
      </p:bgPr>
    </p:bg>
    <p:spTree>
      <p:nvGrpSpPr>
        <p:cNvPr id="94" name="Shape 94"/>
        <p:cNvGrpSpPr/>
        <p:nvPr/>
      </p:nvGrpSpPr>
      <p:grpSpPr>
        <a:xfrm>
          <a:off x="0" y="0"/>
          <a:ext cx="0" cy="0"/>
          <a:chOff x="0" y="0"/>
          <a:chExt cx="0" cy="0"/>
        </a:xfrm>
      </p:grpSpPr>
      <p:sp>
        <p:nvSpPr>
          <p:cNvPr id="95" name="Google Shape;95;p12"/>
          <p:cNvSpPr/>
          <p:nvPr/>
        </p:nvSpPr>
        <p:spPr>
          <a:xfrm>
            <a:off x="609600" y="390525"/>
            <a:ext cx="904875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203B34"/>
                </a:solidFill>
                <a:latin typeface="Manrope"/>
                <a:ea typeface="Manrope"/>
                <a:cs typeface="Manrope"/>
                <a:sym typeface="Manrope"/>
              </a:rPr>
              <a:t>A4 / DEMONSTRATION</a:t>
            </a:r>
            <a:endParaRPr b="1" sz="1050">
              <a:solidFill>
                <a:srgbClr val="203B34"/>
              </a:solidFill>
              <a:latin typeface="Manrope"/>
              <a:ea typeface="Manrope"/>
              <a:cs typeface="Manrope"/>
              <a:sym typeface="Manrope"/>
            </a:endParaRPr>
          </a:p>
        </p:txBody>
      </p:sp>
      <p:sp>
        <p:nvSpPr>
          <p:cNvPr id="96" name="Google Shape;96;p12"/>
          <p:cNvSpPr/>
          <p:nvPr/>
        </p:nvSpPr>
        <p:spPr>
          <a:xfrm>
            <a:off x="10953750" y="390525"/>
            <a:ext cx="62865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01</a:t>
            </a:r>
            <a:endParaRPr sz="1000">
              <a:solidFill>
                <a:srgbClr val="52665B"/>
              </a:solidFill>
              <a:latin typeface="Manrope"/>
              <a:ea typeface="Manrope"/>
              <a:cs typeface="Manrope"/>
              <a:sym typeface="Manrope"/>
            </a:endParaRPr>
          </a:p>
        </p:txBody>
      </p:sp>
      <p:sp>
        <p:nvSpPr>
          <p:cNvPr id="97" name="Google Shape;97;p12"/>
          <p:cNvSpPr txBox="1"/>
          <p:nvPr>
            <p:ph type="title"/>
          </p:nvPr>
        </p:nvSpPr>
        <p:spPr>
          <a:xfrm>
            <a:off x="609600" y="825500"/>
            <a:ext cx="10972800" cy="101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203B34"/>
                </a:solidFill>
                <a:latin typeface="Manrope"/>
                <a:ea typeface="Manrope"/>
                <a:cs typeface="Manrope"/>
                <a:sym typeface="Manrope"/>
              </a:rPr>
              <a:t>Three contributions in group review</a:t>
            </a:r>
            <a:endParaRPr b="1" sz="3200">
              <a:solidFill>
                <a:srgbClr val="203B34"/>
              </a:solidFill>
              <a:latin typeface="Manrope"/>
              <a:ea typeface="Manrope"/>
              <a:cs typeface="Manrope"/>
              <a:sym typeface="Manrope"/>
            </a:endParaRPr>
          </a:p>
        </p:txBody>
      </p:sp>
      <p:sp>
        <p:nvSpPr>
          <p:cNvPr id="98" name="Google Shape;98;p12"/>
          <p:cNvSpPr/>
          <p:nvPr/>
        </p:nvSpPr>
        <p:spPr>
          <a:xfrm>
            <a:off x="5238750" y="6486525"/>
            <a:ext cx="634365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COMP2120 A4  /  OCTOBER 2026</a:t>
            </a:r>
            <a:endParaRPr sz="1000">
              <a:solidFill>
                <a:srgbClr val="52665B"/>
              </a:solidFill>
              <a:latin typeface="Manrope"/>
              <a:ea typeface="Manrope"/>
              <a:cs typeface="Manrope"/>
              <a:sym typeface="Manrope"/>
            </a:endParaRPr>
          </a:p>
        </p:txBody>
      </p:sp>
      <p:sp>
        <p:nvSpPr>
          <p:cNvPr id="99" name="Google Shape;99;p12"/>
          <p:cNvSpPr/>
          <p:nvPr/>
        </p:nvSpPr>
        <p:spPr>
          <a:xfrm>
            <a:off x="609600" y="2028825"/>
            <a:ext cx="4381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Three group PRs (all open)</a:t>
            </a:r>
            <a:endParaRPr b="1" sz="1600">
              <a:solidFill>
                <a:srgbClr val="203B34"/>
              </a:solidFill>
              <a:latin typeface="Manrope"/>
              <a:ea typeface="Manrope"/>
              <a:cs typeface="Manrope"/>
              <a:sym typeface="Manrope"/>
            </a:endParaRPr>
          </a:p>
        </p:txBody>
      </p:sp>
      <p:sp>
        <p:nvSpPr>
          <p:cNvPr id="100" name="Google Shape;100;p12"/>
          <p:cNvSpPr/>
          <p:nvPr/>
        </p:nvSpPr>
        <p:spPr>
          <a:xfrm>
            <a:off x="609600" y="2428875"/>
            <a:ext cx="438150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700">
                <a:solidFill>
                  <a:srgbClr val="203B34"/>
                </a:solidFill>
                <a:latin typeface="Manrope"/>
                <a:ea typeface="Manrope"/>
                <a:cs typeface="Manrope"/>
                <a:sym typeface="Manrope"/>
              </a:rPr>
              <a:t>#4  TIKA-4408 · Python shebang
#7  TIKA-4431 · CSV with #
#6  TIKA-4694 · DOC metadata</a:t>
            </a:r>
            <a:endParaRPr sz="2000">
              <a:solidFill>
                <a:srgbClr val="203B34"/>
              </a:solidFill>
              <a:latin typeface="Manrope"/>
              <a:ea typeface="Manrope"/>
              <a:cs typeface="Manrope"/>
              <a:sym typeface="Manrope"/>
            </a:endParaRPr>
          </a:p>
        </p:txBody>
      </p:sp>
      <p:sp>
        <p:nvSpPr>
          <p:cNvPr id="101" name="Google Shape;101;p12"/>
          <p:cNvSpPr/>
          <p:nvPr/>
        </p:nvSpPr>
        <p:spPr>
          <a:xfrm>
            <a:off x="609600" y="3819525"/>
            <a:ext cx="4381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Evidence from local tests</a:t>
            </a:r>
            <a:endParaRPr b="1" sz="1600">
              <a:solidFill>
                <a:srgbClr val="203B34"/>
              </a:solidFill>
              <a:latin typeface="Manrope"/>
              <a:ea typeface="Manrope"/>
              <a:cs typeface="Manrope"/>
              <a:sym typeface="Manrope"/>
            </a:endParaRPr>
          </a:p>
        </p:txBody>
      </p:sp>
      <p:sp>
        <p:nvSpPr>
          <p:cNvPr id="102" name="Google Shape;102;p12"/>
          <p:cNvSpPr/>
          <p:nvPr/>
        </p:nvSpPr>
        <p:spPr>
          <a:xfrm>
            <a:off x="609600" y="4219575"/>
            <a:ext cx="4381500" cy="110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60">
                <a:solidFill>
                  <a:srgbClr val="203B34"/>
                </a:solidFill>
                <a:latin typeface="Manrope"/>
                <a:ea typeface="Manrope"/>
                <a:cs typeface="Manrope"/>
                <a:sym typeface="Manrope"/>
              </a:rPr>
              <a:t>Python: 18/18 regression checks pass.
CSV: 33/33 detection cases pass.
Word: 38 tests, 0 failed, 2 skipped.</a:t>
            </a:r>
            <a:endParaRPr sz="2000">
              <a:solidFill>
                <a:srgbClr val="203B34"/>
              </a:solidFill>
              <a:latin typeface="Manrope"/>
              <a:ea typeface="Manrope"/>
              <a:cs typeface="Manrope"/>
              <a:sym typeface="Manrope"/>
            </a:endParaRPr>
          </a:p>
        </p:txBody>
      </p:sp>
      <p:sp>
        <p:nvSpPr>
          <p:cNvPr id="103" name="Google Shape;103;p12"/>
          <p:cNvSpPr/>
          <p:nvPr/>
        </p:nvSpPr>
        <p:spPr>
          <a:xfrm>
            <a:off x="5806440" y="2121408"/>
            <a:ext cx="5669280" cy="29260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260" b="1">
                <a:solidFill>
                  <a:srgbClr val="203B34"/>
                </a:solidFill>
                <a:latin typeface="Manrope"/>
                <a:ea typeface="Roboto Mono"/>
                <a:cs typeface="Roboto Mono"/>
                <a:sym typeface="Roboto Mono"/>
              </a:rPr>
              <a:t>GROUP REPOSITORY / OPEN PRS</a:t>
            </a:r>
            <a:endParaRPr sz="2300">
              <a:solidFill>
                <a:srgbClr val="203B34"/>
              </a:solidFill>
              <a:latin typeface="Roboto Mono"/>
              <a:ea typeface="Roboto Mono"/>
              <a:cs typeface="Roboto Mono"/>
              <a:sym typeface="Roboto Mono"/>
            </a:endParaRPr>
          </a:p>
        </p:txBody>
      </p:sp>
      <p:sp>
        <p:nvSpPr>
          <p:cNvPr id="104" name="Google Shape;104;p12"/>
          <p:cNvSpPr/>
          <p:nvPr/>
        </p:nvSpPr>
        <p:spPr>
          <a:xfrm>
            <a:off x="5806440" y="4425696"/>
            <a:ext cx="5715000" cy="53035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120">
                <a:solidFill>
                  <a:srgbClr val="52665B"/>
                </a:solidFill>
                <a:latin typeface="Manrope"/>
                <a:ea typeface="Manrope"/>
                <a:cs typeface="Manrope"/>
                <a:sym typeface="Manrope"/>
              </a:rPr>
              <a:t>Three open PRs in the group fork — not upstream Apache merges.</a:t>
            </a:r>
            <a:endParaRPr>
              <a:solidFill>
                <a:srgbClr val="52665B"/>
              </a:solidFill>
              <a:latin typeface="Manrope"/>
              <a:ea typeface="Manrope"/>
              <a:cs typeface="Manrope"/>
              <a:sym typeface="Manrope"/>
            </a:endParaRPr>
          </a:p>
        </p:txBody>
      </p:sp>
      <p:sp>
        <p:nvSpPr>
          <p:cNvPr id="105" name="Google Shape;105;p12"/>
          <p:cNvSpPr/>
          <p:nvPr/>
        </p:nvSpPr>
        <p:spPr>
          <a:xfrm>
            <a:off x="5669280" y="5660136"/>
            <a:ext cx="594360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00">
                <a:solidFill>
                  <a:srgbClr val="203B34"/>
                </a:solidFill>
                <a:latin typeface="Manrope"/>
                <a:ea typeface="Manrope"/>
                <a:cs typeface="Manrope"/>
                <a:sym typeface="Manrope"/>
              </a:rPr>
              <a:t>github.com/u8026876/comp2120-gyg-a5/pulls</a:t>
            </a:r>
            <a:endParaRPr sz="1600">
              <a:solidFill>
                <a:srgbClr val="203B34"/>
              </a:solidFill>
              <a:latin typeface="Manrope"/>
              <a:ea typeface="Manrope"/>
              <a:cs typeface="Manrope"/>
              <a:sym typeface="Manrope"/>
            </a:endParaRPr>
          </a:p>
        </p:txBody>
      </p:sp>
      <p:pic>
        <p:nvPicPr>
          <p:cNvPr id="106" name="Picture 105" descr="Tika_group_PRs_focus.png"/>
          <p:cNvPicPr>
            <a:picLocks noChangeAspect="1"/>
          </p:cNvPicPr>
          <p:nvPr/>
        </p:nvPicPr>
        <p:blipFill>
          <a:blip r:embed="rId3"/>
          <a:stretch>
            <a:fillRect/>
          </a:stretch>
        </p:blipFill>
        <p:spPr>
          <a:xfrm>
            <a:off x="5760720" y="2523744"/>
            <a:ext cx="5833872" cy="15368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3B34"/>
        </a:solidFill>
      </p:bgPr>
    </p:bg>
    <p:spTree>
      <p:nvGrpSpPr>
        <p:cNvPr id="41" name="Shape 41"/>
        <p:cNvGrpSpPr/>
        <p:nvPr/>
      </p:nvGrpSpPr>
      <p:grpSpPr>
        <a:xfrm>
          <a:off x="0" y="0"/>
          <a:ext cx="0" cy="0"/>
          <a:chOff x="0" y="0"/>
          <a:chExt cx="0" cy="0"/>
        </a:xfrm>
      </p:grpSpPr>
      <p:sp>
        <p:nvSpPr>
          <p:cNvPr id="42" name="Google Shape;42;p9"/>
          <p:cNvSpPr/>
          <p:nvPr/>
        </p:nvSpPr>
        <p:spPr>
          <a:xfrm>
            <a:off x="0" y="3835400"/>
            <a:ext cx="12192000" cy="3022500"/>
          </a:xfrm>
          <a:prstGeom prst="rect">
            <a:avLst/>
          </a:prstGeom>
          <a:solidFill>
            <a:srgbClr val="F0E8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 name="Google Shape;43;p9"/>
          <p:cNvSpPr/>
          <p:nvPr/>
        </p:nvSpPr>
        <p:spPr>
          <a:xfrm>
            <a:off x="609600" y="330200"/>
            <a:ext cx="96519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00">
                <a:solidFill>
                  <a:srgbClr val="B8C7AB"/>
                </a:solidFill>
                <a:latin typeface="Roboto Mono"/>
                <a:ea typeface="Roboto Mono"/>
                <a:cs typeface="Roboto Mono"/>
                <a:sym typeface="Roboto Mono"/>
              </a:rPr>
              <a:t>TIKA-4408  /  PYTHON DETECTION</a:t>
            </a:r>
            <a:endParaRPr sz="1100">
              <a:solidFill>
                <a:srgbClr val="B8C7AB"/>
              </a:solidFill>
              <a:latin typeface="Roboto Mono"/>
              <a:ea typeface="Roboto Mono"/>
              <a:cs typeface="Roboto Mono"/>
              <a:sym typeface="Roboto Mono"/>
            </a:endParaRPr>
          </a:p>
        </p:txBody>
      </p:sp>
      <p:sp>
        <p:nvSpPr>
          <p:cNvPr id="44" name="Google Shape;44;p9"/>
          <p:cNvSpPr/>
          <p:nvPr/>
        </p:nvSpPr>
        <p:spPr>
          <a:xfrm>
            <a:off x="10871200" y="330200"/>
            <a:ext cx="711300" cy="279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200">
                <a:solidFill>
                  <a:srgbClr val="B8C7AB"/>
                </a:solidFill>
                <a:latin typeface="Roboto Mono"/>
                <a:ea typeface="Roboto Mono"/>
                <a:cs typeface="Roboto Mono"/>
                <a:sym typeface="Roboto Mono"/>
              </a:rPr>
              <a:t>02</a:t>
            </a:r>
            <a:endParaRPr sz="1100">
              <a:solidFill>
                <a:srgbClr val="B8C7AB"/>
              </a:solidFill>
              <a:latin typeface="Roboto Mono"/>
              <a:ea typeface="Roboto Mono"/>
              <a:cs typeface="Roboto Mono"/>
              <a:sym typeface="Roboto Mono"/>
            </a:endParaRPr>
          </a:p>
        </p:txBody>
      </p:sp>
      <p:sp>
        <p:nvSpPr>
          <p:cNvPr id="45" name="Google Shape;45;p9"/>
          <p:cNvSpPr txBox="1"/>
          <p:nvPr>
            <p:ph type="title"/>
          </p:nvPr>
        </p:nvSpPr>
        <p:spPr>
          <a:xfrm>
            <a:off x="609600" y="952500"/>
            <a:ext cx="10972800" cy="9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F0E8D9"/>
                </a:solidFill>
                <a:latin typeface="Manrope"/>
                <a:ea typeface="Manrope"/>
                <a:cs typeface="Manrope"/>
                <a:sym typeface="Manrope"/>
              </a:rPr>
              <a:t>Fixing Python shebang detection</a:t>
            </a:r>
            <a:endParaRPr b="1" sz="3500">
              <a:solidFill>
                <a:srgbClr val="F0E8D9"/>
              </a:solidFill>
              <a:latin typeface="Manrope"/>
              <a:ea typeface="Manrope"/>
              <a:cs typeface="Manrope"/>
              <a:sym typeface="Manrope"/>
            </a:endParaRPr>
          </a:p>
        </p:txBody>
      </p:sp>
      <p:sp>
        <p:nvSpPr>
          <p:cNvPr id="46" name="Google Shape;46;p9"/>
          <p:cNvSpPr/>
          <p:nvPr/>
        </p:nvSpPr>
        <p:spPr>
          <a:xfrm>
            <a:off x="7620000" y="6578600"/>
            <a:ext cx="3962400" cy="203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100">
                <a:solidFill>
                  <a:srgbClr val="203B34"/>
                </a:solidFill>
                <a:latin typeface="Manrope"/>
                <a:ea typeface="Manrope"/>
                <a:cs typeface="Manrope"/>
                <a:sym typeface="Manrope"/>
              </a:rPr>
              <a:t>GROUP PR #4  /  TESTED LOCALLY</a:t>
            </a:r>
            <a:endParaRPr sz="900">
              <a:solidFill>
                <a:srgbClr val="203B34"/>
              </a:solidFill>
              <a:latin typeface="Manrope"/>
              <a:ea typeface="Manrope"/>
              <a:cs typeface="Manrope"/>
              <a:sym typeface="Manrope"/>
            </a:endParaRPr>
          </a:p>
        </p:txBody>
      </p:sp>
      <p:sp>
        <p:nvSpPr>
          <p:cNvPr id="47" name="Google Shape;47;p9"/>
          <p:cNvSpPr/>
          <p:nvPr/>
        </p:nvSpPr>
        <p:spPr>
          <a:xfrm>
            <a:off x="609600" y="4152900"/>
            <a:ext cx="50799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A14F37"/>
                </a:solidFill>
                <a:latin typeface="Manrope"/>
                <a:ea typeface="Manrope"/>
                <a:cs typeface="Manrope"/>
                <a:sym typeface="Manrope"/>
              </a:rPr>
              <a:t>BEFORE / INCORRECT</a:t>
            </a:r>
            <a:endParaRPr b="1" sz="1200">
              <a:solidFill>
                <a:srgbClr val="A14F37"/>
              </a:solidFill>
              <a:latin typeface="Manrope"/>
              <a:ea typeface="Manrope"/>
              <a:cs typeface="Manrope"/>
              <a:sym typeface="Manrope"/>
            </a:endParaRPr>
          </a:p>
        </p:txBody>
      </p:sp>
      <p:sp>
        <p:nvSpPr>
          <p:cNvPr id="48" name="Google Shape;48;p9"/>
          <p:cNvSpPr/>
          <p:nvPr/>
        </p:nvSpPr>
        <p:spPr>
          <a:xfrm>
            <a:off x="6604000" y="4152900"/>
            <a:ext cx="49785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203B34"/>
                </a:solidFill>
                <a:latin typeface="Manrope"/>
                <a:ea typeface="Manrope"/>
                <a:cs typeface="Manrope"/>
                <a:sym typeface="Manrope"/>
              </a:rPr>
              <a:t>AFTER / CORRECT</a:t>
            </a:r>
            <a:endParaRPr b="1" sz="1200">
              <a:solidFill>
                <a:srgbClr val="203B34"/>
              </a:solidFill>
              <a:latin typeface="Manrope"/>
              <a:ea typeface="Manrope"/>
              <a:cs typeface="Manrope"/>
              <a:sym typeface="Manrope"/>
            </a:endParaRPr>
          </a:p>
        </p:txBody>
      </p:sp>
      <p:sp>
        <p:nvSpPr>
          <p:cNvPr id="49" name="Google Shape;49;p9"/>
          <p:cNvSpPr/>
          <p:nvPr/>
        </p:nvSpPr>
        <p:spPr>
          <a:xfrm>
            <a:off x="609600" y="2286000"/>
            <a:ext cx="10972800" cy="105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500">
                <a:solidFill>
                  <a:srgbClr val="F0E8D9"/>
                </a:solidFill>
                <a:latin typeface="Roboto Mono"/>
                <a:ea typeface="Roboto Mono"/>
                <a:cs typeface="Roboto Mono"/>
                <a:sym typeface="Roboto Mono"/>
              </a:rPr>
              <a:t>#!/usr/bin/env python3</a:t>
            </a:r>
            <a:r>
              <a:rPr b="1" lang="en-US" sz="4800">
                <a:solidFill>
                  <a:srgbClr val="D99575"/>
                </a:solidFill>
                <a:latin typeface="Roboto Mono"/>
                <a:ea typeface="Roboto Mono"/>
                <a:cs typeface="Roboto Mono"/>
                <a:sym typeface="Roboto Mono"/>
              </a:rPr>
              <a:t/>
            </a:r>
            <a:r>
              <a:rPr lang="en-US" sz="4800">
                <a:solidFill>
                  <a:srgbClr val="F0E8D9"/>
                </a:solidFill>
                <a:latin typeface="Roboto Mono"/>
                <a:ea typeface="Roboto Mono"/>
                <a:cs typeface="Roboto Mono"/>
                <a:sym typeface="Roboto Mono"/>
              </a:rPr>
              <a:t/>
            </a:r>
            <a:endParaRPr sz="4800">
              <a:solidFill>
                <a:srgbClr val="F0E8D9"/>
              </a:solidFill>
              <a:latin typeface="Roboto Mono"/>
              <a:ea typeface="Roboto Mono"/>
              <a:cs typeface="Roboto Mono"/>
              <a:sym typeface="Roboto Mono"/>
            </a:endParaRPr>
          </a:p>
        </p:txBody>
      </p:sp>
      <p:sp>
        <p:nvSpPr>
          <p:cNvPr id="50" name="Google Shape;50;p9"/>
          <p:cNvSpPr/>
          <p:nvPr/>
        </p:nvSpPr>
        <p:spPr>
          <a:xfrm>
            <a:off x="609600" y="4673600"/>
            <a:ext cx="53340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203B34"/>
                </a:solidFill>
                <a:latin typeface="Roboto Mono"/>
                <a:ea typeface="Roboto Mono"/>
                <a:cs typeface="Roboto Mono"/>
                <a:sym typeface="Roboto Mono"/>
              </a:rPr>
              <a:t>"/bin/env python"
offset="1"</a:t>
            </a:r>
            <a:endParaRPr sz="1900">
              <a:solidFill>
                <a:srgbClr val="203B34"/>
              </a:solidFill>
              <a:latin typeface="Roboto Mono"/>
              <a:ea typeface="Roboto Mono"/>
              <a:cs typeface="Roboto Mono"/>
              <a:sym typeface="Roboto Mono"/>
            </a:endParaRPr>
          </a:p>
        </p:txBody>
      </p:sp>
      <p:sp>
        <p:nvSpPr>
          <p:cNvPr id="51" name="Google Shape;51;p9"/>
          <p:cNvSpPr/>
          <p:nvPr/>
        </p:nvSpPr>
        <p:spPr>
          <a:xfrm>
            <a:off x="6604000" y="4673600"/>
            <a:ext cx="49785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203B34"/>
                </a:solidFill>
                <a:latin typeface="Roboto Mono"/>
                <a:ea typeface="Roboto Mono"/>
                <a:cs typeface="Roboto Mono"/>
                <a:sym typeface="Roboto Mono"/>
              </a:rPr>
              <a:t>"#!/usr/bin/env python"
offset="0"</a:t>
            </a:r>
            <a:endParaRPr sz="2200">
              <a:solidFill>
                <a:srgbClr val="203B34"/>
              </a:solidFill>
              <a:latin typeface="Roboto Mono"/>
              <a:ea typeface="Roboto Mono"/>
              <a:cs typeface="Roboto Mono"/>
              <a:sym typeface="Roboto Mono"/>
            </a:endParaRPr>
          </a:p>
        </p:txBody>
      </p:sp>
      <p:sp>
        <p:nvSpPr>
          <p:cNvPr id="52" name="Google Shape;52;p9"/>
          <p:cNvSpPr/>
          <p:nvPr/>
        </p:nvSpPr>
        <p:spPr>
          <a:xfrm>
            <a:off x="6604000" y="5562600"/>
            <a:ext cx="49785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00">
                <a:solidFill>
                  <a:srgbClr val="203B34"/>
                </a:solidFill>
                <a:latin typeface="Roboto Mono"/>
                <a:ea typeface="Roboto Mono"/>
                <a:cs typeface="Roboto Mono"/>
                <a:sym typeface="Roboto Mono"/>
              </a:rPr>
              <a:t>→ text/x-python</a:t>
            </a:r>
            <a:endParaRPr b="1" sz="2600">
              <a:solidFill>
                <a:srgbClr val="203B34"/>
              </a:solidFill>
              <a:latin typeface="Roboto Mono"/>
              <a:ea typeface="Roboto Mono"/>
              <a:cs typeface="Roboto Mono"/>
              <a:sym typeface="Roboto Mono"/>
            </a:endParaRPr>
          </a:p>
        </p:txBody>
      </p:sp>
      <p:sp>
        <p:nvSpPr>
          <p:cNvPr id="53" name="Google Shape;53;p9"/>
          <p:cNvSpPr/>
          <p:nvPr/>
        </p:nvSpPr>
        <p:spPr>
          <a:xfrm>
            <a:off x="609600" y="5562600"/>
            <a:ext cx="53340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00">
                <a:solidFill>
                  <a:srgbClr val="A14F37"/>
                </a:solidFill>
                <a:latin typeface="Roboto Mono"/>
                <a:ea typeface="Roboto Mono"/>
                <a:cs typeface="Roboto Mono"/>
                <a:sym typeface="Roboto Mono"/>
              </a:rPr>
              <a:t>→ application/x-sh</a:t>
            </a:r>
            <a:endParaRPr b="1" sz="2600">
              <a:solidFill>
                <a:srgbClr val="A14F37"/>
              </a:solidFill>
              <a:latin typeface="Roboto Mono"/>
              <a:ea typeface="Roboto Mono"/>
              <a:cs typeface="Roboto Mono"/>
              <a:sym typeface="Roboto Mono"/>
            </a:endParaRPr>
          </a:p>
        </p:txBody>
      </p:sp>
      <p:sp>
        <p:nvSpPr>
          <p:cNvPr id="54" name="Google Shape;54;p9"/>
          <p:cNvSpPr/>
          <p:nvPr/>
        </p:nvSpPr>
        <p:spPr>
          <a:xfrm>
            <a:off x="609600" y="6197600"/>
            <a:ext cx="109728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40">
                <a:solidFill>
                  <a:srgbClr val="203B34"/>
                </a:solidFill>
                <a:latin typeface="Manrope"/>
                <a:ea typeface="Manrope"/>
                <a:cs typeface="Manrope"/>
                <a:sym typeface="Manrope"/>
              </a:rPr>
              <a:t>PR #4 · 7 / 18 checks failed before; all 18 passed after (group local testing).</a:t>
            </a:r>
            <a:endParaRPr sz="1250">
              <a:solidFill>
                <a:srgbClr val="203B34"/>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03B34"/>
        </a:solidFill>
        <a:effectLst/>
      </p:bgPr>
    </p:bg>
    <p:spTree>
      <p:nvGrpSpPr>
        <p:cNvPr id="1" name=""/>
        <p:cNvGrpSpPr/>
        <p:nvPr/>
      </p:nvGrpSpPr>
      <p:grpSpPr/>
      <p:sp>
        <p:nvSpPr>
          <p:cNvPr id="42" name="Google Shape;42;p9"/>
          <p:cNvSpPr/>
          <p:nvPr/>
        </p:nvSpPr>
        <p:spPr>
          <a:xfrm>
            <a:off x="0" y="3835400"/>
            <a:ext cx="12192000" cy="3022500"/>
          </a:xfrm>
          <a:prstGeom prst="rect">
            <a:avLst/>
          </a:prstGeom>
          <a:solidFill>
            <a:srgbClr val="F0E8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 name="Google Shape;43;p9"/>
          <p:cNvSpPr/>
          <p:nvPr/>
        </p:nvSpPr>
        <p:spPr>
          <a:xfrm>
            <a:off x="609600" y="330200"/>
            <a:ext cx="96519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00">
                <a:solidFill>
                  <a:srgbClr val="B8C7AB"/>
                </a:solidFill>
                <a:latin typeface="Roboto Mono"/>
                <a:ea typeface="Roboto Mono"/>
                <a:cs typeface="Roboto Mono"/>
                <a:sym typeface="Roboto Mono"/>
              </a:rPr>
              <a:t>TIKA-4431  /  CSV DETECTION</a:t>
            </a:r>
            <a:endParaRPr sz="1100">
              <a:solidFill>
                <a:srgbClr val="B8C7AB"/>
              </a:solidFill>
              <a:latin typeface="Roboto Mono"/>
              <a:ea typeface="Roboto Mono"/>
              <a:cs typeface="Roboto Mono"/>
              <a:sym typeface="Roboto Mono"/>
            </a:endParaRPr>
          </a:p>
        </p:txBody>
      </p:sp>
      <p:sp>
        <p:nvSpPr>
          <p:cNvPr id="44" name="Google Shape;44;p9"/>
          <p:cNvSpPr/>
          <p:nvPr/>
        </p:nvSpPr>
        <p:spPr>
          <a:xfrm>
            <a:off x="10871200" y="330200"/>
            <a:ext cx="711300" cy="279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200">
                <a:solidFill>
                  <a:srgbClr val="B8C7AB"/>
                </a:solidFill>
                <a:latin typeface="Roboto Mono"/>
                <a:ea typeface="Roboto Mono"/>
                <a:cs typeface="Roboto Mono"/>
                <a:sym typeface="Roboto Mono"/>
              </a:rPr>
              <a:t>03</a:t>
            </a:r>
            <a:endParaRPr sz="1100">
              <a:solidFill>
                <a:srgbClr val="B8C7AB"/>
              </a:solidFill>
              <a:latin typeface="Roboto Mono"/>
              <a:ea typeface="Roboto Mono"/>
              <a:cs typeface="Roboto Mono"/>
              <a:sym typeface="Roboto Mono"/>
            </a:endParaRPr>
          </a:p>
        </p:txBody>
      </p:sp>
      <p:sp>
        <p:nvSpPr>
          <p:cNvPr id="45" name="Google Shape;45;p9"/>
          <p:cNvSpPr txBox="1"/>
          <p:nvPr>
            <p:ph type="title"/>
          </p:nvPr>
        </p:nvSpPr>
        <p:spPr>
          <a:xfrm>
            <a:off x="609600" y="952500"/>
            <a:ext cx="10972800" cy="9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F0E8D9"/>
                </a:solidFill>
                <a:latin typeface="Manrope"/>
                <a:ea typeface="Manrope"/>
                <a:cs typeface="Manrope"/>
                <a:sym typeface="Manrope"/>
              </a:rPr>
              <a:t>Preserving CSV filename hints</a:t>
            </a:r>
            <a:endParaRPr b="1" sz="3500">
              <a:solidFill>
                <a:srgbClr val="F0E8D9"/>
              </a:solidFill>
              <a:latin typeface="Manrope"/>
              <a:ea typeface="Manrope"/>
              <a:cs typeface="Manrope"/>
              <a:sym typeface="Manrope"/>
            </a:endParaRPr>
          </a:p>
        </p:txBody>
      </p:sp>
      <p:sp>
        <p:nvSpPr>
          <p:cNvPr id="46" name="Google Shape;46;p9"/>
          <p:cNvSpPr/>
          <p:nvPr/>
        </p:nvSpPr>
        <p:spPr>
          <a:xfrm>
            <a:off x="7620000" y="6578600"/>
            <a:ext cx="3962400" cy="203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100">
                <a:solidFill>
                  <a:srgbClr val="203B34"/>
                </a:solidFill>
                <a:latin typeface="Manrope"/>
                <a:ea typeface="Manrope"/>
                <a:cs typeface="Manrope"/>
                <a:sym typeface="Manrope"/>
              </a:rPr>
              <a:t>GROUP PR #7  /  TESTED LOCALLY</a:t>
            </a:r>
            <a:endParaRPr sz="900">
              <a:solidFill>
                <a:srgbClr val="203B34"/>
              </a:solidFill>
              <a:latin typeface="Manrope"/>
              <a:ea typeface="Manrope"/>
              <a:cs typeface="Manrope"/>
              <a:sym typeface="Manrope"/>
            </a:endParaRPr>
          </a:p>
        </p:txBody>
      </p:sp>
      <p:sp>
        <p:nvSpPr>
          <p:cNvPr id="47" name="Google Shape;47;p9"/>
          <p:cNvSpPr/>
          <p:nvPr/>
        </p:nvSpPr>
        <p:spPr>
          <a:xfrm>
            <a:off x="609600" y="4152900"/>
            <a:ext cx="50799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A14F37"/>
                </a:solidFill>
                <a:latin typeface="Manrope"/>
                <a:ea typeface="Manrope"/>
                <a:cs typeface="Manrope"/>
                <a:sym typeface="Manrope"/>
              </a:rPr>
              <a:t>BEFORE / EXTENSION LOST</a:t>
            </a:r>
            <a:endParaRPr b="1" sz="1200">
              <a:solidFill>
                <a:srgbClr val="A14F37"/>
              </a:solidFill>
              <a:latin typeface="Manrope"/>
              <a:ea typeface="Manrope"/>
              <a:cs typeface="Manrope"/>
              <a:sym typeface="Manrope"/>
            </a:endParaRPr>
          </a:p>
        </p:txBody>
      </p:sp>
      <p:sp>
        <p:nvSpPr>
          <p:cNvPr id="48" name="Google Shape;48;p9"/>
          <p:cNvSpPr/>
          <p:nvPr/>
        </p:nvSpPr>
        <p:spPr>
          <a:xfrm>
            <a:off x="6604000" y="4152900"/>
            <a:ext cx="49785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203B34"/>
                </a:solidFill>
                <a:latin typeface="Manrope"/>
                <a:ea typeface="Manrope"/>
                <a:cs typeface="Manrope"/>
                <a:sym typeface="Manrope"/>
              </a:rPr>
              <a:t>AFTER / EXTENSION PRESERVED</a:t>
            </a:r>
            <a:endParaRPr b="1" sz="1200">
              <a:solidFill>
                <a:srgbClr val="203B34"/>
              </a:solidFill>
              <a:latin typeface="Manrope"/>
              <a:ea typeface="Manrope"/>
              <a:cs typeface="Manrope"/>
              <a:sym typeface="Manrope"/>
            </a:endParaRPr>
          </a:p>
        </p:txBody>
      </p:sp>
      <p:sp>
        <p:nvSpPr>
          <p:cNvPr id="49" name="Google Shape;49;p9"/>
          <p:cNvSpPr/>
          <p:nvPr/>
        </p:nvSpPr>
        <p:spPr>
          <a:xfrm>
            <a:off x="609600" y="2286000"/>
            <a:ext cx="10972800" cy="105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300">
                <a:solidFill>
                  <a:srgbClr val="F0E8D9"/>
                </a:solidFill>
                <a:latin typeface="Roboto Mono"/>
                <a:ea typeface="Roboto Mono"/>
                <a:cs typeface="Roboto Mono"/>
                <a:sym typeface="Roboto Mono"/>
              </a:rPr>
              <a:t>Lorem-Ipsum#123.csv</a:t>
            </a:r>
            <a:r>
              <a:rPr b="1" lang="en-US" sz="4800">
                <a:solidFill>
                  <a:srgbClr val="D99575"/>
                </a:solidFill>
                <a:latin typeface="Roboto Mono"/>
                <a:ea typeface="Roboto Mono"/>
                <a:cs typeface="Roboto Mono"/>
                <a:sym typeface="Roboto Mono"/>
              </a:rPr>
              <a:t/>
            </a:r>
            <a:r>
              <a:rPr lang="en-US" sz="4800">
                <a:solidFill>
                  <a:srgbClr val="F0E8D9"/>
                </a:solidFill>
                <a:latin typeface="Roboto Mono"/>
                <a:ea typeface="Roboto Mono"/>
                <a:cs typeface="Roboto Mono"/>
                <a:sym typeface="Roboto Mono"/>
              </a:rPr>
              <a:t/>
            </a:r>
            <a:endParaRPr sz="4800">
              <a:solidFill>
                <a:srgbClr val="F0E8D9"/>
              </a:solidFill>
              <a:latin typeface="Roboto Mono"/>
              <a:ea typeface="Roboto Mono"/>
              <a:cs typeface="Roboto Mono"/>
              <a:sym typeface="Roboto Mono"/>
            </a:endParaRPr>
          </a:p>
        </p:txBody>
      </p:sp>
      <p:sp>
        <p:nvSpPr>
          <p:cNvPr id="50" name="Google Shape;50;p9"/>
          <p:cNvSpPr/>
          <p:nvPr/>
        </p:nvSpPr>
        <p:spPr>
          <a:xfrm>
            <a:off x="609600" y="4673600"/>
            <a:ext cx="53340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203B34"/>
                </a:solidFill>
                <a:latin typeface="Roboto Mono"/>
                <a:ea typeface="Roboto Mono"/>
                <a:cs typeface="Roboto Mono"/>
                <a:sym typeface="Roboto Mono"/>
              </a:rPr>
              <a:t># treated as URI fragment
.csv suffix ignored</a:t>
            </a:r>
            <a:endParaRPr sz="1900">
              <a:solidFill>
                <a:srgbClr val="203B34"/>
              </a:solidFill>
              <a:latin typeface="Roboto Mono"/>
              <a:ea typeface="Roboto Mono"/>
              <a:cs typeface="Roboto Mono"/>
              <a:sym typeface="Roboto Mono"/>
            </a:endParaRPr>
          </a:p>
        </p:txBody>
      </p:sp>
      <p:sp>
        <p:nvSpPr>
          <p:cNvPr id="51" name="Google Shape;51;p9"/>
          <p:cNvSpPr/>
          <p:nvPr/>
        </p:nvSpPr>
        <p:spPr>
          <a:xfrm>
            <a:off x="6604000" y="4673600"/>
            <a:ext cx="49785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720">
                <a:solidFill>
                  <a:srgbClr val="203B34"/>
                </a:solidFill>
                <a:latin typeface="Roboto Mono"/>
                <a:ea typeface="Roboto Mono"/>
                <a:cs typeface="Roboto Mono"/>
                <a:sym typeface="Roboto Mono"/>
              </a:rPr>
              <a:t>Escape literal # in local names
Keep .csv suffix for detection</a:t>
            </a:r>
            <a:endParaRPr sz="2200">
              <a:solidFill>
                <a:srgbClr val="203B34"/>
              </a:solidFill>
              <a:latin typeface="Roboto Mono"/>
              <a:ea typeface="Roboto Mono"/>
              <a:cs typeface="Roboto Mono"/>
              <a:sym typeface="Roboto Mono"/>
            </a:endParaRPr>
          </a:p>
        </p:txBody>
      </p:sp>
      <p:sp>
        <p:nvSpPr>
          <p:cNvPr id="52" name="Google Shape;52;p9"/>
          <p:cNvSpPr/>
          <p:nvPr/>
        </p:nvSpPr>
        <p:spPr>
          <a:xfrm>
            <a:off x="6604000" y="5562600"/>
            <a:ext cx="49785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00">
                <a:solidFill>
                  <a:srgbClr val="203B34"/>
                </a:solidFill>
                <a:latin typeface="Roboto Mono"/>
                <a:ea typeface="Roboto Mono"/>
                <a:cs typeface="Roboto Mono"/>
                <a:sym typeface="Roboto Mono"/>
              </a:rPr>
              <a:t>→ text/csv</a:t>
            </a:r>
            <a:endParaRPr b="1" sz="2600">
              <a:solidFill>
                <a:srgbClr val="203B34"/>
              </a:solidFill>
              <a:latin typeface="Roboto Mono"/>
              <a:ea typeface="Roboto Mono"/>
              <a:cs typeface="Roboto Mono"/>
              <a:sym typeface="Roboto Mono"/>
            </a:endParaRPr>
          </a:p>
        </p:txBody>
      </p:sp>
      <p:sp>
        <p:nvSpPr>
          <p:cNvPr id="53" name="Google Shape;53;p9"/>
          <p:cNvSpPr/>
          <p:nvPr/>
        </p:nvSpPr>
        <p:spPr>
          <a:xfrm>
            <a:off x="609600" y="5562600"/>
            <a:ext cx="53340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00">
                <a:solidFill>
                  <a:srgbClr val="A14F37"/>
                </a:solidFill>
                <a:latin typeface="Roboto Mono"/>
                <a:ea typeface="Roboto Mono"/>
                <a:cs typeface="Roboto Mono"/>
                <a:sym typeface="Roboto Mono"/>
              </a:rPr>
              <a:t>→ text/plain</a:t>
            </a:r>
            <a:endParaRPr b="1" sz="2600">
              <a:solidFill>
                <a:srgbClr val="A14F37"/>
              </a:solidFill>
              <a:latin typeface="Roboto Mono"/>
              <a:ea typeface="Roboto Mono"/>
              <a:cs typeface="Roboto Mono"/>
              <a:sym typeface="Roboto Mono"/>
            </a:endParaRPr>
          </a:p>
        </p:txBody>
      </p:sp>
      <p:sp>
        <p:nvSpPr>
          <p:cNvPr id="54" name="Google Shape;54;p9"/>
          <p:cNvSpPr/>
          <p:nvPr/>
        </p:nvSpPr>
        <p:spPr>
          <a:xfrm>
            <a:off x="609600" y="6197600"/>
            <a:ext cx="109728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40">
                <a:solidFill>
                  <a:srgbClr val="203B34"/>
                </a:solidFill>
                <a:latin typeface="Manrope"/>
                <a:ea typeface="Manrope"/>
                <a:cs typeface="Manrope"/>
                <a:sym typeface="Manrope"/>
              </a:rPr>
              <a:t>PR #7 · 9 / 33 detection cases failed without the fix; all 33 passed after.</a:t>
            </a:r>
            <a:endParaRPr sz="1250">
              <a:solidFill>
                <a:srgbClr val="203B34"/>
              </a:solidFill>
              <a:latin typeface="Manrope"/>
              <a:ea typeface="Manrope"/>
              <a:cs typeface="Manrope"/>
              <a:sym typeface="Manrope"/>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03B34"/>
        </a:solidFill>
        <a:effectLst/>
      </p:bgPr>
    </p:bg>
    <p:spTree>
      <p:nvGrpSpPr>
        <p:cNvPr id="1" name=""/>
        <p:cNvGrpSpPr/>
        <p:nvPr/>
      </p:nvGrpSpPr>
      <p:grpSpPr/>
      <p:sp>
        <p:nvSpPr>
          <p:cNvPr id="42" name="Google Shape;42;p9"/>
          <p:cNvSpPr/>
          <p:nvPr/>
        </p:nvSpPr>
        <p:spPr>
          <a:xfrm>
            <a:off x="0" y="3835400"/>
            <a:ext cx="12192000" cy="3022500"/>
          </a:xfrm>
          <a:prstGeom prst="rect">
            <a:avLst/>
          </a:prstGeom>
          <a:solidFill>
            <a:srgbClr val="F0E8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 name="Google Shape;43;p9"/>
          <p:cNvSpPr/>
          <p:nvPr/>
        </p:nvSpPr>
        <p:spPr>
          <a:xfrm>
            <a:off x="609600" y="330200"/>
            <a:ext cx="96519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00">
                <a:solidFill>
                  <a:srgbClr val="B8C7AB"/>
                </a:solidFill>
                <a:latin typeface="Roboto Mono"/>
                <a:ea typeface="Roboto Mono"/>
                <a:cs typeface="Roboto Mono"/>
                <a:sym typeface="Roboto Mono"/>
              </a:rPr>
              <a:t>TIKA-4694  /  WORD METADATA</a:t>
            </a:r>
            <a:endParaRPr sz="1100">
              <a:solidFill>
                <a:srgbClr val="B8C7AB"/>
              </a:solidFill>
              <a:latin typeface="Roboto Mono"/>
              <a:ea typeface="Roboto Mono"/>
              <a:cs typeface="Roboto Mono"/>
              <a:sym typeface="Roboto Mono"/>
            </a:endParaRPr>
          </a:p>
        </p:txBody>
      </p:sp>
      <p:sp>
        <p:nvSpPr>
          <p:cNvPr id="44" name="Google Shape;44;p9"/>
          <p:cNvSpPr/>
          <p:nvPr/>
        </p:nvSpPr>
        <p:spPr>
          <a:xfrm>
            <a:off x="10871200" y="330200"/>
            <a:ext cx="711300" cy="279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200">
                <a:solidFill>
                  <a:srgbClr val="B8C7AB"/>
                </a:solidFill>
                <a:latin typeface="Roboto Mono"/>
                <a:ea typeface="Roboto Mono"/>
                <a:cs typeface="Roboto Mono"/>
                <a:sym typeface="Roboto Mono"/>
              </a:rPr>
              <a:t>04</a:t>
            </a:r>
            <a:endParaRPr sz="1100">
              <a:solidFill>
                <a:srgbClr val="B8C7AB"/>
              </a:solidFill>
              <a:latin typeface="Roboto Mono"/>
              <a:ea typeface="Roboto Mono"/>
              <a:cs typeface="Roboto Mono"/>
              <a:sym typeface="Roboto Mono"/>
            </a:endParaRPr>
          </a:p>
        </p:txBody>
      </p:sp>
      <p:sp>
        <p:nvSpPr>
          <p:cNvPr id="45" name="Google Shape;45;p9"/>
          <p:cNvSpPr txBox="1"/>
          <p:nvPr>
            <p:ph type="title"/>
          </p:nvPr>
        </p:nvSpPr>
        <p:spPr>
          <a:xfrm>
            <a:off x="609600" y="952500"/>
            <a:ext cx="10972800" cy="9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F0E8D9"/>
                </a:solidFill>
                <a:latin typeface="Manrope"/>
                <a:ea typeface="Manrope"/>
                <a:cs typeface="Manrope"/>
                <a:sym typeface="Manrope"/>
              </a:rPr>
              <a:t>Restoring Word document counts</a:t>
            </a:r>
            <a:endParaRPr b="1" sz="3500">
              <a:solidFill>
                <a:srgbClr val="F0E8D9"/>
              </a:solidFill>
              <a:latin typeface="Manrope"/>
              <a:ea typeface="Manrope"/>
              <a:cs typeface="Manrope"/>
              <a:sym typeface="Manrope"/>
            </a:endParaRPr>
          </a:p>
        </p:txBody>
      </p:sp>
      <p:sp>
        <p:nvSpPr>
          <p:cNvPr id="46" name="Google Shape;46;p9"/>
          <p:cNvSpPr/>
          <p:nvPr/>
        </p:nvSpPr>
        <p:spPr>
          <a:xfrm>
            <a:off x="7620000" y="6578600"/>
            <a:ext cx="3962400" cy="203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100">
                <a:solidFill>
                  <a:srgbClr val="203B34"/>
                </a:solidFill>
                <a:latin typeface="Manrope"/>
                <a:ea typeface="Manrope"/>
                <a:cs typeface="Manrope"/>
                <a:sym typeface="Manrope"/>
              </a:rPr>
              <a:t>GROUP PR #6  /  TESTED LOCALLY</a:t>
            </a:r>
            <a:endParaRPr sz="900">
              <a:solidFill>
                <a:srgbClr val="203B34"/>
              </a:solidFill>
              <a:latin typeface="Manrope"/>
              <a:ea typeface="Manrope"/>
              <a:cs typeface="Manrope"/>
              <a:sym typeface="Manrope"/>
            </a:endParaRPr>
          </a:p>
        </p:txBody>
      </p:sp>
      <p:sp>
        <p:nvSpPr>
          <p:cNvPr id="47" name="Google Shape;47;p9"/>
          <p:cNvSpPr/>
          <p:nvPr/>
        </p:nvSpPr>
        <p:spPr>
          <a:xfrm>
            <a:off x="609600" y="4152900"/>
            <a:ext cx="50799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A14F37"/>
                </a:solidFill>
                <a:latin typeface="Manrope"/>
                <a:ea typeface="Manrope"/>
                <a:cs typeface="Manrope"/>
                <a:sym typeface="Manrope"/>
              </a:rPr>
              <a:t>BEFORE / COUNTS MISSING</a:t>
            </a:r>
            <a:endParaRPr b="1" sz="1200">
              <a:solidFill>
                <a:srgbClr val="A14F37"/>
              </a:solidFill>
              <a:latin typeface="Manrope"/>
              <a:ea typeface="Manrope"/>
              <a:cs typeface="Manrope"/>
              <a:sym typeface="Manrope"/>
            </a:endParaRPr>
          </a:p>
        </p:txBody>
      </p:sp>
      <p:sp>
        <p:nvSpPr>
          <p:cNvPr id="48" name="Google Shape;48;p9"/>
          <p:cNvSpPr/>
          <p:nvPr/>
        </p:nvSpPr>
        <p:spPr>
          <a:xfrm>
            <a:off x="6604000" y="4152900"/>
            <a:ext cx="49785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203B34"/>
                </a:solidFill>
                <a:latin typeface="Manrope"/>
                <a:ea typeface="Manrope"/>
                <a:cs typeface="Manrope"/>
                <a:sym typeface="Manrope"/>
              </a:rPr>
              <a:t>AFTER / COUNTS EXTRACTED</a:t>
            </a:r>
            <a:endParaRPr b="1" sz="1200">
              <a:solidFill>
                <a:srgbClr val="203B34"/>
              </a:solidFill>
              <a:latin typeface="Manrope"/>
              <a:ea typeface="Manrope"/>
              <a:cs typeface="Manrope"/>
              <a:sym typeface="Manrope"/>
            </a:endParaRPr>
          </a:p>
        </p:txBody>
      </p:sp>
      <p:sp>
        <p:nvSpPr>
          <p:cNvPr id="49" name="Google Shape;49;p9"/>
          <p:cNvSpPr/>
          <p:nvPr/>
        </p:nvSpPr>
        <p:spPr>
          <a:xfrm>
            <a:off x="609600" y="2286000"/>
            <a:ext cx="10972800" cy="105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3800">
                <a:solidFill>
                  <a:srgbClr val="F0E8D9"/>
                </a:solidFill>
                <a:latin typeface="Roboto Mono"/>
                <a:ea typeface="Roboto Mono"/>
                <a:cs typeface="Roboto Mono"/>
                <a:sym typeface="Roboto Mono"/>
              </a:rPr>
              <a:t>Legacy Word document (.doc)</a:t>
            </a:r>
            <a:r>
              <a:rPr b="1" lang="en-US" sz="4800">
                <a:solidFill>
                  <a:srgbClr val="D99575"/>
                </a:solidFill>
                <a:latin typeface="Roboto Mono"/>
                <a:ea typeface="Roboto Mono"/>
                <a:cs typeface="Roboto Mono"/>
                <a:sym typeface="Roboto Mono"/>
              </a:rPr>
              <a:t/>
            </a:r>
            <a:r>
              <a:rPr lang="en-US" sz="4800">
                <a:solidFill>
                  <a:srgbClr val="F0E8D9"/>
                </a:solidFill>
                <a:latin typeface="Roboto Mono"/>
                <a:ea typeface="Roboto Mono"/>
                <a:cs typeface="Roboto Mono"/>
                <a:sym typeface="Roboto Mono"/>
              </a:rPr>
              <a:t/>
            </a:r>
            <a:endParaRPr sz="4800">
              <a:solidFill>
                <a:srgbClr val="F0E8D9"/>
              </a:solidFill>
              <a:latin typeface="Roboto Mono"/>
              <a:ea typeface="Roboto Mono"/>
              <a:cs typeface="Roboto Mono"/>
              <a:sym typeface="Roboto Mono"/>
            </a:endParaRPr>
          </a:p>
        </p:txBody>
      </p:sp>
      <p:sp>
        <p:nvSpPr>
          <p:cNvPr id="50" name="Google Shape;50;p9"/>
          <p:cNvSpPr/>
          <p:nvPr/>
        </p:nvSpPr>
        <p:spPr>
          <a:xfrm>
            <a:off x="609600" y="4673600"/>
            <a:ext cx="53340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203B34"/>
                </a:solidFill>
                <a:latin typeface="Roboto Mono"/>
                <a:ea typeface="Roboto Mono"/>
                <a:cs typeface="Roboto Mono"/>
                <a:sym typeface="Roboto Mono"/>
              </a:rPr>
              <a:t>LINE_COUNT: not populated
PARAGRAPH_COUNT: not populated</a:t>
            </a:r>
            <a:endParaRPr sz="1900">
              <a:solidFill>
                <a:srgbClr val="203B34"/>
              </a:solidFill>
              <a:latin typeface="Roboto Mono"/>
              <a:ea typeface="Roboto Mono"/>
              <a:cs typeface="Roboto Mono"/>
              <a:sym typeface="Roboto Mono"/>
            </a:endParaRPr>
          </a:p>
        </p:txBody>
      </p:sp>
      <p:sp>
        <p:nvSpPr>
          <p:cNvPr id="51" name="Google Shape;51;p9"/>
          <p:cNvSpPr/>
          <p:nvPr/>
        </p:nvSpPr>
        <p:spPr>
          <a:xfrm>
            <a:off x="6604000" y="4673600"/>
            <a:ext cx="49785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750">
                <a:solidFill>
                  <a:srgbClr val="203B34"/>
                </a:solidFill>
                <a:latin typeface="Roboto Mono"/>
                <a:ea typeface="Roboto Mono"/>
                <a:cs typeface="Roboto Mono"/>
                <a:sym typeface="Roboto Mono"/>
              </a:rPr>
              <a:t>SummaryExtractor.java maps
line and paragraph fields</a:t>
            </a:r>
            <a:endParaRPr sz="2200">
              <a:solidFill>
                <a:srgbClr val="203B34"/>
              </a:solidFill>
              <a:latin typeface="Roboto Mono"/>
              <a:ea typeface="Roboto Mono"/>
              <a:cs typeface="Roboto Mono"/>
              <a:sym typeface="Roboto Mono"/>
            </a:endParaRPr>
          </a:p>
        </p:txBody>
      </p:sp>
      <p:sp>
        <p:nvSpPr>
          <p:cNvPr id="52" name="Google Shape;52;p9"/>
          <p:cNvSpPr/>
          <p:nvPr/>
        </p:nvSpPr>
        <p:spPr>
          <a:xfrm>
            <a:off x="6604000" y="5562600"/>
            <a:ext cx="49785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930">
                <a:solidFill>
                  <a:srgbClr val="203B34"/>
                </a:solidFill>
                <a:latin typeface="Roboto Mono"/>
                <a:ea typeface="Roboto Mono"/>
                <a:cs typeface="Roboto Mono"/>
                <a:sym typeface="Roboto Mono"/>
              </a:rPr>
              <a:t>→ 12 lines · 3 paragraphs</a:t>
            </a:r>
            <a:endParaRPr b="1" sz="2600">
              <a:solidFill>
                <a:srgbClr val="203B34"/>
              </a:solidFill>
              <a:latin typeface="Roboto Mono"/>
              <a:ea typeface="Roboto Mono"/>
              <a:cs typeface="Roboto Mono"/>
              <a:sym typeface="Roboto Mono"/>
            </a:endParaRPr>
          </a:p>
        </p:txBody>
      </p:sp>
      <p:sp>
        <p:nvSpPr>
          <p:cNvPr id="53" name="Google Shape;53;p9"/>
          <p:cNvSpPr/>
          <p:nvPr/>
        </p:nvSpPr>
        <p:spPr>
          <a:xfrm>
            <a:off x="609600" y="5562600"/>
            <a:ext cx="53340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950">
                <a:solidFill>
                  <a:srgbClr val="A14F37"/>
                </a:solidFill>
                <a:latin typeface="Roboto Mono"/>
                <a:ea typeface="Roboto Mono"/>
                <a:cs typeface="Roboto Mono"/>
                <a:sym typeface="Roboto Mono"/>
              </a:rPr>
              <a:t>→ metadata missing</a:t>
            </a:r>
            <a:endParaRPr b="1" sz="2600">
              <a:solidFill>
                <a:srgbClr val="A14F37"/>
              </a:solidFill>
              <a:latin typeface="Roboto Mono"/>
              <a:ea typeface="Roboto Mono"/>
              <a:cs typeface="Roboto Mono"/>
              <a:sym typeface="Roboto Mono"/>
            </a:endParaRPr>
          </a:p>
        </p:txBody>
      </p:sp>
      <p:sp>
        <p:nvSpPr>
          <p:cNvPr id="54" name="Google Shape;54;p9"/>
          <p:cNvSpPr/>
          <p:nvPr/>
        </p:nvSpPr>
        <p:spPr>
          <a:xfrm>
            <a:off x="609600" y="6197600"/>
            <a:ext cx="109728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20">
                <a:solidFill>
                  <a:srgbClr val="203B34"/>
                </a:solidFill>
                <a:latin typeface="Manrope"/>
                <a:ea typeface="Manrope"/>
                <a:cs typeface="Manrope"/>
                <a:sym typeface="Manrope"/>
              </a:rPr>
              <a:t>PR #6 · Fixture check: 12 lines / 3 paragraphs; 38 tests, 0 failures, 2 skipped.</a:t>
            </a:r>
            <a:endParaRPr sz="1250">
              <a:solidFill>
                <a:srgbClr val="203B34"/>
              </a:solidFill>
              <a:latin typeface="Manrope"/>
              <a:ea typeface="Manrope"/>
              <a:cs typeface="Manrope"/>
              <a:sym typeface="Manrope"/>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