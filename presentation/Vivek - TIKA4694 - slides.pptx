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9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050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761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126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7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8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172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92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00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27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975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080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131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6380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181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8974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39948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369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8289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29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1628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8640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3090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764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1369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702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1F28-B116-754D-1B2C-BFBCA6376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1C38A7-DADF-A4E1-0F32-154985095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21694-ACB7-93DC-3002-1751C9D3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C56A8-C78A-E9C9-D15D-3F74F9B64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B2382-018F-2C06-04C6-3A047B6F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929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DE66AB1F-7161-4BF0-9AD9-712F3796F12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2BFA7025-7A58-4793-8B01-A6AF2A0E220F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425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12987-5F6F-453A-73F4-9BAF37011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768" y="650415"/>
            <a:ext cx="9144000" cy="477837"/>
          </a:xfrm>
        </p:spPr>
        <p:txBody>
          <a:bodyPr>
            <a:normAutofit/>
          </a:bodyPr>
          <a:lstStyle/>
          <a:p>
            <a:pPr algn="l"/>
            <a:r>
              <a:rPr lang="en-GB" sz="2400" b="1" dirty="0">
                <a:latin typeface="Amasis MT Pro" panose="020F0502020204030204" pitchFamily="18" charset="0"/>
              </a:rPr>
              <a:t>Two missing counts, one small fix</a:t>
            </a:r>
            <a:endParaRPr lang="en-IN" sz="2400" b="1" dirty="0">
              <a:latin typeface="Amasis MT Pro" panose="020F0502020204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94B7E-0A44-681F-EC9A-4ACAB4DD4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199" y="1978736"/>
            <a:ext cx="9144000" cy="380026"/>
          </a:xfrm>
        </p:spPr>
        <p:txBody>
          <a:bodyPr>
            <a:normAutofit/>
          </a:bodyPr>
          <a:lstStyle/>
          <a:p>
            <a:pPr algn="l"/>
            <a:r>
              <a:rPr lang="en-GB" sz="1800" b="1" dirty="0">
                <a:latin typeface="Amasis MT Pro Medium" panose="02040604050005020304" pitchFamily="18" charset="0"/>
              </a:rPr>
              <a:t>Why I chose it</a:t>
            </a:r>
            <a:endParaRPr lang="en-IN" sz="1800" b="1" dirty="0">
              <a:latin typeface="Amasis MT Pro Medium" panose="020406040500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D0D5FE-A5FF-8A95-9D78-7C4197C50246}"/>
              </a:ext>
            </a:extLst>
          </p:cNvPr>
          <p:cNvSpPr txBox="1"/>
          <p:nvPr/>
        </p:nvSpPr>
        <p:spPr>
          <a:xfrm>
            <a:off x="599768" y="176981"/>
            <a:ext cx="5309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ptos Slab Black" panose="020F0502020204030204" pitchFamily="34" charset="0"/>
              </a:rPr>
              <a:t>TIKA4694/MY CONTRIBUTION</a:t>
            </a:r>
            <a:endParaRPr lang="en-IN" sz="1400" b="1" dirty="0">
              <a:latin typeface="Aptos Slab Black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9001E-48D5-DF24-E2B4-36D0CEF8FE65}"/>
              </a:ext>
            </a:extLst>
          </p:cNvPr>
          <p:cNvSpPr txBox="1"/>
          <p:nvPr/>
        </p:nvSpPr>
        <p:spPr>
          <a:xfrm>
            <a:off x="502870" y="2778246"/>
            <a:ext cx="46113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203B34"/>
                </a:solidFill>
                <a:latin typeface="Amasis MT Pro" panose="02040504050005020304" pitchFamily="18" charset="0"/>
                <a:ea typeface="Manrope"/>
                <a:cs typeface="Manrope"/>
                <a:sym typeface="Manrope"/>
              </a:rPr>
              <a:t>A focused bug: old Word .doc files had stored line and paragraph counts that Tika did not return.</a:t>
            </a:r>
          </a:p>
          <a:p>
            <a:endParaRPr lang="en-IN" dirty="0">
              <a:latin typeface="Amasis MT Pro" panose="020405040500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CDC38-A2DC-6E0E-7198-A5719CE71FB7}"/>
              </a:ext>
            </a:extLst>
          </p:cNvPr>
          <p:cNvSpPr txBox="1"/>
          <p:nvPr/>
        </p:nvSpPr>
        <p:spPr>
          <a:xfrm>
            <a:off x="502870" y="4252737"/>
            <a:ext cx="2213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masis MT Pro" panose="02040504050005020304" pitchFamily="18" charset="0"/>
              </a:rPr>
              <a:t>Technical decision</a:t>
            </a:r>
            <a:endParaRPr lang="en-IN" b="1" dirty="0">
              <a:latin typeface="Amasis MT Pro" panose="020405040500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A75423-57EB-FE4B-9AD1-C5D7F288B641}"/>
              </a:ext>
            </a:extLst>
          </p:cNvPr>
          <p:cNvSpPr txBox="1"/>
          <p:nvPr/>
        </p:nvSpPr>
        <p:spPr>
          <a:xfrm>
            <a:off x="502870" y="4896231"/>
            <a:ext cx="4542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203B34"/>
                </a:solidFill>
                <a:latin typeface="Amasis MT Pro" panose="02040504050005020304" pitchFamily="18" charset="0"/>
                <a:ea typeface="Manrope"/>
                <a:cs typeface="Manrope"/>
                <a:sym typeface="Manrope"/>
              </a:rPr>
              <a:t>Use Apache POI’s existing getters and Tika’s Office metadata keys; omit missing counts.</a:t>
            </a:r>
          </a:p>
          <a:p>
            <a:endParaRPr lang="en-IN" dirty="0">
              <a:latin typeface="Amasis MT Pro" panose="020405040500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F95688-0734-58AA-E3E2-A6AED0759051}"/>
              </a:ext>
            </a:extLst>
          </p:cNvPr>
          <p:cNvSpPr txBox="1"/>
          <p:nvPr/>
        </p:nvSpPr>
        <p:spPr>
          <a:xfrm>
            <a:off x="7164776" y="3231363"/>
            <a:ext cx="364074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203B34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ono"/>
                <a:sym typeface="Roboto Mono"/>
              </a:rPr>
              <a:t>set(</a:t>
            </a:r>
            <a:r>
              <a:rPr lang="en-GB" sz="1600" dirty="0" err="1">
                <a:solidFill>
                  <a:srgbClr val="203B34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ono"/>
                <a:sym typeface="Roboto Mono"/>
              </a:rPr>
              <a:t>Office.LINE_COUNT</a:t>
            </a:r>
            <a:r>
              <a:rPr lang="en-GB" sz="1600" dirty="0">
                <a:solidFill>
                  <a:srgbClr val="203B34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ono"/>
                <a:sym typeface="Roboto Mono"/>
              </a:rPr>
              <a:t>,
    </a:t>
            </a:r>
            <a:r>
              <a:rPr lang="en-GB" sz="1600" dirty="0" err="1">
                <a:solidFill>
                  <a:srgbClr val="203B34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ono"/>
                <a:sym typeface="Roboto Mono"/>
              </a:rPr>
              <a:t>summary.getLineCount</a:t>
            </a:r>
            <a:r>
              <a:rPr lang="en-GB" sz="1600" dirty="0">
                <a:solidFill>
                  <a:srgbClr val="203B34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ono"/>
                <a:sym typeface="Roboto Mono"/>
              </a:rPr>
              <a:t>());
set(</a:t>
            </a:r>
            <a:r>
              <a:rPr lang="en-GB" sz="1600" dirty="0" err="1">
                <a:solidFill>
                  <a:srgbClr val="203B34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ono"/>
                <a:sym typeface="Roboto Mono"/>
              </a:rPr>
              <a:t>Office.PARAGRAPH_COUNT</a:t>
            </a:r>
            <a:r>
              <a:rPr lang="en-GB" sz="1600" dirty="0">
                <a:solidFill>
                  <a:srgbClr val="203B34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ono"/>
                <a:sym typeface="Roboto Mono"/>
              </a:rPr>
              <a:t>,
    </a:t>
            </a:r>
            <a:r>
              <a:rPr lang="en-GB" sz="1600" dirty="0" err="1">
                <a:solidFill>
                  <a:srgbClr val="203B34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ono"/>
                <a:sym typeface="Roboto Mono"/>
              </a:rPr>
              <a:t>summary.getParCount</a:t>
            </a:r>
            <a:r>
              <a:rPr lang="en-GB" sz="1600" dirty="0">
                <a:solidFill>
                  <a:srgbClr val="203B34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ono"/>
                <a:sym typeface="Roboto Mono"/>
              </a:rPr>
              <a:t>());</a:t>
            </a:r>
          </a:p>
          <a:p>
            <a:endParaRPr lang="en-IN" sz="16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6644B7-1F46-C248-CFE8-1F7C0A7572A6}"/>
              </a:ext>
            </a:extLst>
          </p:cNvPr>
          <p:cNvSpPr txBox="1"/>
          <p:nvPr/>
        </p:nvSpPr>
        <p:spPr>
          <a:xfrm>
            <a:off x="7422859" y="4345070"/>
            <a:ext cx="3124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en-GB" sz="1200" b="1" dirty="0">
                <a:solidFill>
                  <a:srgbClr val="52665B"/>
                </a:solidFill>
                <a:latin typeface="Manrope"/>
                <a:ea typeface="Manrope"/>
                <a:cs typeface="Manrope"/>
                <a:sym typeface="Manrope"/>
              </a:rPr>
              <a:t>2 production lines · no new dependency</a:t>
            </a:r>
          </a:p>
        </p:txBody>
      </p:sp>
    </p:spTree>
    <p:extLst>
      <p:ext uri="{BB962C8B-B14F-4D97-AF65-F5344CB8AC3E}">
        <p14:creationId xmlns:p14="http://schemas.microsoft.com/office/powerpoint/2010/main" val="4131670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6BA4B-FE0E-C737-E14D-203E7BB14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129" y="139137"/>
            <a:ext cx="9144000" cy="254153"/>
          </a:xfrm>
        </p:spPr>
        <p:txBody>
          <a:bodyPr>
            <a:noAutofit/>
          </a:bodyPr>
          <a:lstStyle/>
          <a:p>
            <a:pPr algn="l"/>
            <a:r>
              <a:rPr lang="en-GB" sz="1400" dirty="0">
                <a:latin typeface="Aptos Slab Black" panose="020B0004020202020204" pitchFamily="34" charset="0"/>
              </a:rPr>
              <a:t>TIKA 4694 EVIDENCE/REFLECTION</a:t>
            </a:r>
            <a:endParaRPr lang="en-IN" sz="1400" dirty="0">
              <a:latin typeface="Aptos Slab Black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06F31-C317-B1D6-BE4F-16AF72E19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129" y="583534"/>
            <a:ext cx="9144000" cy="419356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latin typeface="Amasis MT Pro" panose="02040504050005020304" pitchFamily="18" charset="0"/>
                <a:ea typeface="Manrope"/>
                <a:cs typeface="Manrope"/>
                <a:sym typeface="Manrope"/>
              </a:rPr>
              <a:t>Test it, integrate it, learn from it</a:t>
            </a:r>
            <a:endParaRPr lang="en-IN" b="1" dirty="0">
              <a:latin typeface="Amasis MT Pro" panose="020405040500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634CA9-24A7-E10B-52C9-9BAD504C09FE}"/>
              </a:ext>
            </a:extLst>
          </p:cNvPr>
          <p:cNvSpPr txBox="1"/>
          <p:nvPr/>
        </p:nvSpPr>
        <p:spPr>
          <a:xfrm>
            <a:off x="344128" y="2058451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Roboto Mono" panose="00000009000000000000" pitchFamily="49" charset="0"/>
                <a:ea typeface="Roboto Mono" panose="00000009000000000000" pitchFamily="49" charset="0"/>
              </a:rPr>
              <a:t>01</a:t>
            </a:r>
            <a:endParaRPr lang="en-IN" sz="2800" b="1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A8468-F204-5465-447F-1E2AD7872C61}"/>
              </a:ext>
            </a:extLst>
          </p:cNvPr>
          <p:cNvSpPr txBox="1"/>
          <p:nvPr/>
        </p:nvSpPr>
        <p:spPr>
          <a:xfrm>
            <a:off x="1445342" y="2058451"/>
            <a:ext cx="41200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masis MT Pro Medium" panose="02040604050005020304" pitchFamily="18" charset="0"/>
                <a:ea typeface="Manrope"/>
                <a:cs typeface="Manrope"/>
                <a:sym typeface="Manrope"/>
              </a:rPr>
              <a:t>Evidence: regression + build</a:t>
            </a:r>
          </a:p>
          <a:p>
            <a:endParaRPr lang="en-IN" sz="2400" b="1" dirty="0">
              <a:latin typeface="Amasis MT Pro Medium" panose="020406040500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8A79E-0547-7597-B232-FAE955AEC72A}"/>
              </a:ext>
            </a:extLst>
          </p:cNvPr>
          <p:cNvSpPr txBox="1"/>
          <p:nvPr/>
        </p:nvSpPr>
        <p:spPr>
          <a:xfrm>
            <a:off x="1445342" y="2581671"/>
            <a:ext cx="9785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masis MT Pro" panose="02040504050005020304" pitchFamily="18" charset="0"/>
                <a:ea typeface="Manrope"/>
                <a:cs typeface="Manrope"/>
                <a:sym typeface="Manrope"/>
              </a:rPr>
              <a:t>Without the fix: regression fails. With it: 39 Word tests, 0 failures, 0 errors, 2 skipped (JDK 21).</a:t>
            </a:r>
          </a:p>
          <a:p>
            <a:endParaRPr lang="en-IN" dirty="0">
              <a:latin typeface="Amasis MT Pro" panose="020405040500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A9FDFF-00B0-A7BB-AB0E-782842A79078}"/>
              </a:ext>
            </a:extLst>
          </p:cNvPr>
          <p:cNvSpPr txBox="1"/>
          <p:nvPr/>
        </p:nvSpPr>
        <p:spPr>
          <a:xfrm>
            <a:off x="344127" y="3197225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Roboto Mono" panose="00000009000000000000" pitchFamily="49" charset="0"/>
                <a:ea typeface="Roboto Mono" panose="00000009000000000000" pitchFamily="49" charset="0"/>
              </a:rPr>
              <a:t>02</a:t>
            </a:r>
            <a:endParaRPr lang="en-IN" sz="2800" b="1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E26E7-AC57-0439-8049-DE592EE80920}"/>
              </a:ext>
            </a:extLst>
          </p:cNvPr>
          <p:cNvSpPr txBox="1"/>
          <p:nvPr/>
        </p:nvSpPr>
        <p:spPr>
          <a:xfrm>
            <a:off x="344127" y="5385606"/>
            <a:ext cx="61427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Roboto Mono" panose="00000009000000000000" pitchFamily="49" charset="0"/>
                <a:ea typeface="Roboto Mono" panose="00000009000000000000" pitchFamily="49" charset="0"/>
              </a:rPr>
              <a:t>03</a:t>
            </a:r>
            <a:endParaRPr lang="en-IN" sz="2800" b="1" dirty="0"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endParaRPr lang="en-IN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606469-ACB5-E656-B51B-AA1E11B1C6C4}"/>
              </a:ext>
            </a:extLst>
          </p:cNvPr>
          <p:cNvSpPr txBox="1"/>
          <p:nvPr/>
        </p:nvSpPr>
        <p:spPr>
          <a:xfrm>
            <a:off x="1445341" y="3191271"/>
            <a:ext cx="5482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masis MT Pro" panose="02040504050005020304" pitchFamily="18" charset="0"/>
              </a:rPr>
              <a:t>Challenges and how I resolved them</a:t>
            </a:r>
            <a:endParaRPr lang="en-IN" sz="2400" dirty="0">
              <a:latin typeface="Amasis MT Pro" panose="020405040500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2560E8-A505-46D1-285A-A54E45BA68E6}"/>
              </a:ext>
            </a:extLst>
          </p:cNvPr>
          <p:cNvSpPr txBox="1"/>
          <p:nvPr/>
        </p:nvSpPr>
        <p:spPr>
          <a:xfrm>
            <a:off x="1445341" y="3720445"/>
            <a:ext cx="99587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latin typeface="Amasis MT Pro" panose="02040504050005020304" pitchFamily="18" charset="0"/>
              </a:rPr>
              <a:t>Testing:</a:t>
            </a:r>
            <a:r>
              <a:rPr lang="en-IN" dirty="0">
                <a:latin typeface="Amasis MT Pro" panose="02040504050005020304" pitchFamily="18" charset="0"/>
              </a:rPr>
              <a:t> Maven initially failed to download required dependencies. I later completed the build and tests successfully. </a:t>
            </a:r>
          </a:p>
          <a:p>
            <a:pPr lvl="0"/>
            <a:r>
              <a:rPr lang="en-IN" b="1" dirty="0">
                <a:latin typeface="Amasis MT Pro" panose="02040504050005020304" pitchFamily="18" charset="0"/>
              </a:rPr>
              <a:t>Git integration:</a:t>
            </a:r>
            <a:r>
              <a:rPr lang="en-IN" dirty="0">
                <a:latin typeface="Amasis MT Pro" panose="02040504050005020304" pitchFamily="18" charset="0"/>
              </a:rPr>
              <a:t> Our group's copy of Apache Tika was outdated, so the first pull request included unrelated changes. I created a new branch from the latest official code and resolved a changelog conflict.</a:t>
            </a:r>
          </a:p>
          <a:p>
            <a:endParaRPr lang="en-IN" dirty="0">
              <a:latin typeface="Amasis MT Pro" panose="020405040500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21D617-9730-1BFC-A9FA-616A7A652BB2}"/>
              </a:ext>
            </a:extLst>
          </p:cNvPr>
          <p:cNvSpPr txBox="1"/>
          <p:nvPr/>
        </p:nvSpPr>
        <p:spPr>
          <a:xfrm>
            <a:off x="1437165" y="5385606"/>
            <a:ext cx="28616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masis MT Pro" panose="02040504050005020304" pitchFamily="18" charset="0"/>
                <a:ea typeface="Manrope"/>
                <a:cs typeface="Manrope"/>
                <a:sym typeface="Manrope"/>
              </a:rPr>
              <a:t>Lesson &amp; outcome</a:t>
            </a:r>
          </a:p>
          <a:p>
            <a:endParaRPr lang="en-IN" sz="2400" dirty="0">
              <a:latin typeface="Amasis MT Pro" panose="020405040500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D4B2E3-A447-B934-2256-CB78E0567656}"/>
              </a:ext>
            </a:extLst>
          </p:cNvPr>
          <p:cNvSpPr txBox="1"/>
          <p:nvPr/>
        </p:nvSpPr>
        <p:spPr>
          <a:xfrm>
            <a:off x="1445341" y="5856724"/>
            <a:ext cx="8099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masis MT Pro" panose="02040504050005020304" pitchFamily="18" charset="0"/>
                <a:ea typeface="Manrope"/>
                <a:cs typeface="Manrope"/>
                <a:sym typeface="Manrope"/>
              </a:rPr>
              <a:t>Keep forks current; test the bug before and after. Upstream PR #3376 is merged.</a:t>
            </a:r>
          </a:p>
          <a:p>
            <a:endParaRPr lang="en-IN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9249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Archway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220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Amasis MT Pro</vt:lpstr>
      <vt:lpstr>Amasis MT Pro Medium</vt:lpstr>
      <vt:lpstr>Aptos</vt:lpstr>
      <vt:lpstr>Aptos Display</vt:lpstr>
      <vt:lpstr>Aptos Slab Black</vt:lpstr>
      <vt:lpstr>Arial</vt:lpstr>
      <vt:lpstr>Roboto Mono</vt:lpstr>
      <vt:lpstr>Archway</vt:lpstr>
      <vt:lpstr>Two missing counts, one small fix</vt:lpstr>
      <vt:lpstr>TIKA 4694 EVIDENCE/REFLECTION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Dinesh Suryawanshi</dc:creator>
  <cp:lastModifiedBy>Vivek Dinesh Suryawanshi</cp:lastModifiedBy>
  <cp:revision>1</cp:revision>
  <dcterms:created xsi:type="dcterms:W3CDTF">2026-10-24T05:08:37Z</dcterms:created>
  <dcterms:modified xsi:type="dcterms:W3CDTF">2026-10-24T06:01:58Z</dcterms:modified>
</cp:coreProperties>
</file>